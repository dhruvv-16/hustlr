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6" r:id="rId15"/>
    <p:sldId id="285" r:id="rId16"/>
    <p:sldId id="283" r:id="rId17"/>
    <p:sldId id="282" r:id="rId18"/>
    <p:sldId id="284" r:id="rId19"/>
    <p:sldId id="272" r:id="rId20"/>
    <p:sldId id="273" r:id="rId21"/>
    <p:sldId id="274" r:id="rId22"/>
    <p:sldId id="275" r:id="rId23"/>
  </p:sldIdLst>
  <p:sldSz cx="14630400" cy="8229600"/>
  <p:notesSz cx="8229600" cy="14630400"/>
  <p:embeddedFontLst>
    <p:embeddedFont>
      <p:font typeface="Fraunces Extra Bold" panose="020B0604020202020204" charset="0"/>
      <p:regular r:id="rId25"/>
    </p:embeddedFont>
    <p:embeddedFont>
      <p:font typeface="Nobile"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68"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313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2.svg"/><Relationship Id="rId5" Type="http://schemas.openxmlformats.org/officeDocument/2006/relationships/image" Target="../media/image7.svg"/><Relationship Id="rId4" Type="http://schemas.openxmlformats.org/officeDocument/2006/relationships/image" Target="../media/image41.sv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56.svg"/><Relationship Id="rId4" Type="http://schemas.openxmlformats.org/officeDocument/2006/relationships/image" Target="../media/image55.svg"/></Relationships>
</file>

<file path=ppt/slides/_rels/slide1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svg"/><Relationship Id="rId7"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 Id="rId9" Type="http://schemas.openxmlformats.org/officeDocument/2006/relationships/image" Target="../media/image6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5.sv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727716"/>
          </a:xfrm>
          <a:prstGeom prst="rect">
            <a:avLst/>
          </a:prstGeom>
        </p:spPr>
      </p:pic>
      <p:sp>
        <p:nvSpPr>
          <p:cNvPr id="3" name="Text 0"/>
          <p:cNvSpPr/>
          <p:nvPr/>
        </p:nvSpPr>
        <p:spPr>
          <a:xfrm>
            <a:off x="744260" y="2330172"/>
            <a:ext cx="3455551" cy="431840"/>
          </a:xfrm>
          <a:prstGeom prst="rect">
            <a:avLst/>
          </a:prstGeom>
          <a:noFill/>
          <a:ln/>
        </p:spPr>
        <p:txBody>
          <a:bodyPr wrap="none" lIns="0" tIns="0" rIns="0" bIns="0" rtlCol="0" anchor="t"/>
          <a:lstStyle/>
          <a:p>
            <a:pPr marL="0" indent="0" algn="l">
              <a:lnSpc>
                <a:spcPts val="3400"/>
              </a:lnSpc>
              <a:buNone/>
            </a:pPr>
            <a:r>
              <a:rPr lang="en-US" sz="2700" b="1" dirty="0">
                <a:solidFill>
                  <a:srgbClr val="3B4540"/>
                </a:solidFill>
                <a:latin typeface="Fraunces Extra Bold" pitchFamily="34" charset="0"/>
                <a:ea typeface="Fraunces Extra Bold" pitchFamily="34" charset="-122"/>
                <a:cs typeface="Fraunces Extra Bold" pitchFamily="34" charset="-120"/>
              </a:rPr>
              <a:t>Hustlr</a:t>
            </a:r>
            <a:endParaRPr lang="en-US" sz="2700" dirty="0"/>
          </a:p>
        </p:txBody>
      </p:sp>
      <p:sp>
        <p:nvSpPr>
          <p:cNvPr id="4" name="Text 1"/>
          <p:cNvSpPr/>
          <p:nvPr/>
        </p:nvSpPr>
        <p:spPr>
          <a:xfrm>
            <a:off x="744260" y="2888337"/>
            <a:ext cx="13141881" cy="1192054"/>
          </a:xfrm>
          <a:prstGeom prst="rect">
            <a:avLst/>
          </a:prstGeom>
          <a:noFill/>
          <a:ln/>
        </p:spPr>
        <p:txBody>
          <a:bodyPr wrap="square" lIns="0" tIns="0" rIns="0" bIns="0" rtlCol="0" anchor="t"/>
          <a:lstStyle/>
          <a:p>
            <a:pPr marL="0" indent="0" algn="l">
              <a:lnSpc>
                <a:spcPts val="4650"/>
              </a:lnSpc>
              <a:buNone/>
            </a:pPr>
            <a:r>
              <a:rPr lang="en-US" sz="3750" b="1" dirty="0">
                <a:solidFill>
                  <a:srgbClr val="3B4540"/>
                </a:solidFill>
                <a:latin typeface="Fraunces Extra Bold" pitchFamily="34" charset="0"/>
                <a:ea typeface="Fraunces Extra Bold" pitchFamily="34" charset="-122"/>
                <a:cs typeface="Fraunces Extra Bold" pitchFamily="34" charset="-120"/>
              </a:rPr>
              <a:t>Real-Time Income Protection Engine for Gig Delivery Workers</a:t>
            </a:r>
            <a:endParaRPr lang="en-US" sz="3750" dirty="0"/>
          </a:p>
        </p:txBody>
      </p:sp>
      <p:sp>
        <p:nvSpPr>
          <p:cNvPr id="5" name="Text 2"/>
          <p:cNvSpPr/>
          <p:nvPr/>
        </p:nvSpPr>
        <p:spPr>
          <a:xfrm>
            <a:off x="744260" y="4206716"/>
            <a:ext cx="13141881" cy="177879"/>
          </a:xfrm>
          <a:prstGeom prst="rect">
            <a:avLst/>
          </a:prstGeom>
          <a:noFill/>
          <a:ln/>
        </p:spPr>
        <p:txBody>
          <a:bodyPr wrap="none" lIns="0" tIns="0" rIns="0" bIns="0" rtlCol="0" anchor="t"/>
          <a:lstStyle/>
          <a:p>
            <a:pPr marL="0" indent="0" algn="l">
              <a:lnSpc>
                <a:spcPts val="1400"/>
              </a:lnSpc>
              <a:buNone/>
            </a:pPr>
            <a:r>
              <a:rPr lang="en-US" sz="1050" i="1" dirty="0">
                <a:solidFill>
                  <a:srgbClr val="405449"/>
                </a:solidFill>
                <a:latin typeface="Nobile" pitchFamily="34" charset="0"/>
                <a:ea typeface="Nobile" pitchFamily="34" charset="-122"/>
                <a:cs typeface="Nobile" pitchFamily="34" charset="-120"/>
              </a:rPr>
              <a:t>"Because every minute you can't deliver is a minute your income disappears"</a:t>
            </a:r>
            <a:endParaRPr lang="en-US" sz="1050" dirty="0"/>
          </a:p>
        </p:txBody>
      </p:sp>
      <p:sp>
        <p:nvSpPr>
          <p:cNvPr id="6" name="Text 3"/>
          <p:cNvSpPr/>
          <p:nvPr/>
        </p:nvSpPr>
        <p:spPr>
          <a:xfrm>
            <a:off x="744260" y="4479250"/>
            <a:ext cx="13141881" cy="355759"/>
          </a:xfrm>
          <a:prstGeom prst="rect">
            <a:avLst/>
          </a:prstGeom>
          <a:noFill/>
          <a:ln/>
        </p:spPr>
        <p:txBody>
          <a:bodyPr wrap="square" lIns="0" tIns="0" rIns="0" bIns="0" rtlCol="0" anchor="t"/>
          <a:lstStyle/>
          <a:p>
            <a:pPr marL="0" indent="0" algn="l">
              <a:lnSpc>
                <a:spcPts val="1400"/>
              </a:lnSpc>
              <a:buNone/>
            </a:pPr>
            <a:r>
              <a:rPr lang="en-US" sz="1050" dirty="0">
                <a:solidFill>
                  <a:srgbClr val="405449"/>
                </a:solidFill>
                <a:latin typeface="Nobile" pitchFamily="34" charset="0"/>
                <a:ea typeface="Nobile" pitchFamily="34" charset="-122"/>
                <a:cs typeface="Nobile" pitchFamily="34" charset="-120"/>
              </a:rPr>
              <a:t>Hustlr is designed to help gig delivery workers protect the earnings that depend on constant mobility, fast decisions, and uninterrupted availability. By focusing on real-time support, it aims to reduce the financial impact of delays, downtime, and unexpected interruptions that can quickly affect daily income.</a:t>
            </a:r>
            <a:endParaRPr lang="en-US" sz="1050" dirty="0"/>
          </a:p>
        </p:txBody>
      </p:sp>
      <p:sp>
        <p:nvSpPr>
          <p:cNvPr id="7" name="Text 4"/>
          <p:cNvSpPr/>
          <p:nvPr/>
        </p:nvSpPr>
        <p:spPr>
          <a:xfrm>
            <a:off x="744260" y="4929664"/>
            <a:ext cx="13141881" cy="355759"/>
          </a:xfrm>
          <a:prstGeom prst="rect">
            <a:avLst/>
          </a:prstGeom>
          <a:noFill/>
          <a:ln/>
        </p:spPr>
        <p:txBody>
          <a:bodyPr wrap="square" lIns="0" tIns="0" rIns="0" bIns="0" rtlCol="0" anchor="t"/>
          <a:lstStyle/>
          <a:p>
            <a:pPr marL="0" indent="0" algn="l">
              <a:lnSpc>
                <a:spcPts val="1400"/>
              </a:lnSpc>
              <a:buNone/>
            </a:pPr>
            <a:r>
              <a:rPr lang="en-US" sz="1050" dirty="0">
                <a:solidFill>
                  <a:srgbClr val="405449"/>
                </a:solidFill>
                <a:latin typeface="Nobile" pitchFamily="34" charset="0"/>
                <a:ea typeface="Nobile" pitchFamily="34" charset="-122"/>
                <a:cs typeface="Nobile" pitchFamily="34" charset="-120"/>
              </a:rPr>
              <a:t>The platform concept centers on helping workers stay informed, respond faster to problems, and preserve earning potential during the most vulnerable moments of a delivery shift. It combines income protection thinking with the realities of on-demand work, where every completed order matters.</a:t>
            </a:r>
            <a:endParaRPr lang="en-US" sz="1050" dirty="0"/>
          </a:p>
        </p:txBody>
      </p:sp>
      <p:sp>
        <p:nvSpPr>
          <p:cNvPr id="8" name="Shape 5"/>
          <p:cNvSpPr/>
          <p:nvPr/>
        </p:nvSpPr>
        <p:spPr>
          <a:xfrm>
            <a:off x="744260" y="5380077"/>
            <a:ext cx="13141881" cy="1974533"/>
          </a:xfrm>
          <a:prstGeom prst="roundRect">
            <a:avLst>
              <a:gd name="adj" fmla="val 6300"/>
            </a:avLst>
          </a:prstGeom>
          <a:solidFill>
            <a:srgbClr val="E8F3E8"/>
          </a:solidFill>
          <a:ln/>
        </p:spPr>
      </p:sp>
      <p:sp>
        <p:nvSpPr>
          <p:cNvPr id="9" name="Shape 6"/>
          <p:cNvSpPr/>
          <p:nvPr/>
        </p:nvSpPr>
        <p:spPr>
          <a:xfrm>
            <a:off x="744260" y="5380077"/>
            <a:ext cx="4380548" cy="1076206"/>
          </a:xfrm>
          <a:prstGeom prst="roundRect">
            <a:avLst>
              <a:gd name="adj" fmla="val 11559"/>
            </a:avLst>
          </a:prstGeom>
          <a:solidFill>
            <a:srgbClr val="E8F3E8"/>
          </a:solidFill>
          <a:ln/>
        </p:spPr>
        <p:txBody>
          <a:bodyPr/>
          <a:lstStyle/>
          <a:p>
            <a:endParaRPr lang="en-IN" dirty="0"/>
          </a:p>
        </p:txBody>
      </p:sp>
      <p:sp>
        <p:nvSpPr>
          <p:cNvPr id="10" name="Text 7"/>
          <p:cNvSpPr/>
          <p:nvPr/>
        </p:nvSpPr>
        <p:spPr>
          <a:xfrm>
            <a:off x="882372" y="5518190"/>
            <a:ext cx="1727716" cy="215860"/>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Inesh Agarwal (Team Leader)</a:t>
            </a:r>
            <a:endParaRPr lang="en-US" sz="1350" dirty="0"/>
          </a:p>
        </p:txBody>
      </p:sp>
      <p:sp>
        <p:nvSpPr>
          <p:cNvPr id="11" name="Text 8"/>
          <p:cNvSpPr/>
          <p:nvPr/>
        </p:nvSpPr>
        <p:spPr>
          <a:xfrm>
            <a:off x="882372" y="5784532"/>
            <a:ext cx="4104323" cy="533638"/>
          </a:xfrm>
          <a:prstGeom prst="rect">
            <a:avLst/>
          </a:prstGeom>
          <a:noFill/>
          <a:ln/>
        </p:spPr>
        <p:txBody>
          <a:bodyPr wrap="square" lIns="0" tIns="0" rIns="0" bIns="0" rtlCol="0" anchor="t"/>
          <a:lstStyle/>
          <a:p>
            <a:pPr marL="0" indent="0" algn="l">
              <a:lnSpc>
                <a:spcPts val="1400"/>
              </a:lnSpc>
              <a:buNone/>
            </a:pPr>
            <a:endParaRPr lang="en-US" sz="1050" dirty="0"/>
          </a:p>
        </p:txBody>
      </p:sp>
      <p:sp>
        <p:nvSpPr>
          <p:cNvPr id="12" name="Shape 9"/>
          <p:cNvSpPr/>
          <p:nvPr/>
        </p:nvSpPr>
        <p:spPr>
          <a:xfrm>
            <a:off x="5124807" y="5380077"/>
            <a:ext cx="4380667" cy="1076206"/>
          </a:xfrm>
          <a:prstGeom prst="rect">
            <a:avLst/>
          </a:prstGeom>
          <a:solidFill>
            <a:srgbClr val="E8F3E8"/>
          </a:solidFill>
          <a:ln/>
        </p:spPr>
      </p:sp>
      <p:sp>
        <p:nvSpPr>
          <p:cNvPr id="13" name="Shape 10"/>
          <p:cNvSpPr/>
          <p:nvPr/>
        </p:nvSpPr>
        <p:spPr>
          <a:xfrm>
            <a:off x="5124807" y="5380077"/>
            <a:ext cx="15240" cy="1076206"/>
          </a:xfrm>
          <a:prstGeom prst="roundRect">
            <a:avLst>
              <a:gd name="adj" fmla="val 816282"/>
            </a:avLst>
          </a:prstGeom>
          <a:solidFill>
            <a:srgbClr val="CED9CE"/>
          </a:solidFill>
          <a:ln/>
        </p:spPr>
      </p:sp>
      <p:sp>
        <p:nvSpPr>
          <p:cNvPr id="14" name="Text 11"/>
          <p:cNvSpPr/>
          <p:nvPr/>
        </p:nvSpPr>
        <p:spPr>
          <a:xfrm>
            <a:off x="5262920" y="5518190"/>
            <a:ext cx="1727716" cy="215860"/>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V Dhruv</a:t>
            </a:r>
            <a:endParaRPr lang="en-US" sz="1350" dirty="0"/>
          </a:p>
        </p:txBody>
      </p:sp>
      <p:sp>
        <p:nvSpPr>
          <p:cNvPr id="15" name="Text 12"/>
          <p:cNvSpPr/>
          <p:nvPr/>
        </p:nvSpPr>
        <p:spPr>
          <a:xfrm>
            <a:off x="5262920" y="5784532"/>
            <a:ext cx="4104442" cy="355759"/>
          </a:xfrm>
          <a:prstGeom prst="rect">
            <a:avLst/>
          </a:prstGeom>
          <a:noFill/>
          <a:ln/>
        </p:spPr>
        <p:txBody>
          <a:bodyPr wrap="square" lIns="0" tIns="0" rIns="0" bIns="0" rtlCol="0" anchor="t"/>
          <a:lstStyle/>
          <a:p>
            <a:pPr marL="0" indent="0" algn="l">
              <a:lnSpc>
                <a:spcPts val="1400"/>
              </a:lnSpc>
              <a:buNone/>
            </a:pPr>
            <a:endParaRPr lang="en-US" sz="1050" dirty="0"/>
          </a:p>
        </p:txBody>
      </p:sp>
      <p:sp>
        <p:nvSpPr>
          <p:cNvPr id="16" name="Shape 13"/>
          <p:cNvSpPr/>
          <p:nvPr/>
        </p:nvSpPr>
        <p:spPr>
          <a:xfrm>
            <a:off x="9505474" y="5380077"/>
            <a:ext cx="4380667" cy="1076206"/>
          </a:xfrm>
          <a:prstGeom prst="rect">
            <a:avLst/>
          </a:prstGeom>
          <a:solidFill>
            <a:srgbClr val="E8F3E8"/>
          </a:solidFill>
          <a:ln/>
        </p:spPr>
      </p:sp>
      <p:sp>
        <p:nvSpPr>
          <p:cNvPr id="17" name="Shape 14"/>
          <p:cNvSpPr/>
          <p:nvPr/>
        </p:nvSpPr>
        <p:spPr>
          <a:xfrm>
            <a:off x="9505474" y="5380077"/>
            <a:ext cx="15240" cy="1076206"/>
          </a:xfrm>
          <a:prstGeom prst="roundRect">
            <a:avLst>
              <a:gd name="adj" fmla="val 816282"/>
            </a:avLst>
          </a:prstGeom>
          <a:solidFill>
            <a:srgbClr val="CED9CE"/>
          </a:solidFill>
          <a:ln/>
        </p:spPr>
      </p:sp>
      <p:sp>
        <p:nvSpPr>
          <p:cNvPr id="18" name="Text 15"/>
          <p:cNvSpPr/>
          <p:nvPr/>
        </p:nvSpPr>
        <p:spPr>
          <a:xfrm>
            <a:off x="9643586" y="5518190"/>
            <a:ext cx="1727716" cy="215860"/>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Prisha Agarwal</a:t>
            </a:r>
            <a:endParaRPr lang="en-US" sz="1350" dirty="0"/>
          </a:p>
        </p:txBody>
      </p:sp>
      <p:sp>
        <p:nvSpPr>
          <p:cNvPr id="19" name="Text 16"/>
          <p:cNvSpPr/>
          <p:nvPr/>
        </p:nvSpPr>
        <p:spPr>
          <a:xfrm>
            <a:off x="9643586" y="5784532"/>
            <a:ext cx="4104442" cy="355759"/>
          </a:xfrm>
          <a:prstGeom prst="rect">
            <a:avLst/>
          </a:prstGeom>
          <a:noFill/>
          <a:ln/>
        </p:spPr>
        <p:txBody>
          <a:bodyPr wrap="square" lIns="0" tIns="0" rIns="0" bIns="0" rtlCol="0" anchor="t"/>
          <a:lstStyle/>
          <a:p>
            <a:pPr marL="0" indent="0" algn="l">
              <a:lnSpc>
                <a:spcPts val="1400"/>
              </a:lnSpc>
              <a:buNone/>
            </a:pPr>
            <a:endParaRPr lang="en-US" sz="1050" dirty="0"/>
          </a:p>
        </p:txBody>
      </p:sp>
      <p:sp>
        <p:nvSpPr>
          <p:cNvPr id="20" name="Shape 17"/>
          <p:cNvSpPr/>
          <p:nvPr/>
        </p:nvSpPr>
        <p:spPr>
          <a:xfrm>
            <a:off x="744260" y="6456283"/>
            <a:ext cx="6570940" cy="898327"/>
          </a:xfrm>
          <a:prstGeom prst="rect">
            <a:avLst/>
          </a:prstGeom>
          <a:solidFill>
            <a:srgbClr val="E8F3E8"/>
          </a:solidFill>
          <a:ln/>
        </p:spPr>
      </p:sp>
      <p:sp>
        <p:nvSpPr>
          <p:cNvPr id="21" name="Shape 18"/>
          <p:cNvSpPr/>
          <p:nvPr/>
        </p:nvSpPr>
        <p:spPr>
          <a:xfrm>
            <a:off x="744260" y="6456283"/>
            <a:ext cx="6570940" cy="15240"/>
          </a:xfrm>
          <a:prstGeom prst="roundRect">
            <a:avLst>
              <a:gd name="adj" fmla="val 816282"/>
            </a:avLst>
          </a:prstGeom>
          <a:solidFill>
            <a:srgbClr val="CED9CE"/>
          </a:solidFill>
          <a:ln/>
        </p:spPr>
      </p:sp>
      <p:sp>
        <p:nvSpPr>
          <p:cNvPr id="22" name="Text 19"/>
          <p:cNvSpPr/>
          <p:nvPr/>
        </p:nvSpPr>
        <p:spPr>
          <a:xfrm>
            <a:off x="882372" y="6594396"/>
            <a:ext cx="1727716" cy="215860"/>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Daksh Gupta</a:t>
            </a:r>
            <a:endParaRPr lang="en-US" sz="1350" dirty="0"/>
          </a:p>
        </p:txBody>
      </p:sp>
      <p:sp>
        <p:nvSpPr>
          <p:cNvPr id="23" name="Text 20"/>
          <p:cNvSpPr/>
          <p:nvPr/>
        </p:nvSpPr>
        <p:spPr>
          <a:xfrm>
            <a:off x="882372" y="6860738"/>
            <a:ext cx="6294715" cy="355759"/>
          </a:xfrm>
          <a:prstGeom prst="rect">
            <a:avLst/>
          </a:prstGeom>
          <a:noFill/>
          <a:ln/>
        </p:spPr>
        <p:txBody>
          <a:bodyPr wrap="square" lIns="0" tIns="0" rIns="0" bIns="0" rtlCol="0" anchor="t"/>
          <a:lstStyle/>
          <a:p>
            <a:pPr marL="0" indent="0" algn="l">
              <a:lnSpc>
                <a:spcPts val="1400"/>
              </a:lnSpc>
              <a:buNone/>
            </a:pPr>
            <a:endParaRPr lang="en-US" sz="1050" dirty="0"/>
          </a:p>
        </p:txBody>
      </p:sp>
      <p:sp>
        <p:nvSpPr>
          <p:cNvPr id="24" name="Shape 21"/>
          <p:cNvSpPr/>
          <p:nvPr/>
        </p:nvSpPr>
        <p:spPr>
          <a:xfrm>
            <a:off x="7315200" y="6456283"/>
            <a:ext cx="6570940" cy="898327"/>
          </a:xfrm>
          <a:prstGeom prst="rect">
            <a:avLst/>
          </a:prstGeom>
          <a:solidFill>
            <a:srgbClr val="E8F3E8"/>
          </a:solidFill>
          <a:ln/>
        </p:spPr>
      </p:sp>
      <p:sp>
        <p:nvSpPr>
          <p:cNvPr id="25" name="Shape 22"/>
          <p:cNvSpPr/>
          <p:nvPr/>
        </p:nvSpPr>
        <p:spPr>
          <a:xfrm>
            <a:off x="7315200" y="6456283"/>
            <a:ext cx="15240" cy="898327"/>
          </a:xfrm>
          <a:prstGeom prst="roundRect">
            <a:avLst>
              <a:gd name="adj" fmla="val 816282"/>
            </a:avLst>
          </a:prstGeom>
          <a:solidFill>
            <a:srgbClr val="CED9CE"/>
          </a:solidFill>
          <a:ln/>
        </p:spPr>
      </p:sp>
      <p:sp>
        <p:nvSpPr>
          <p:cNvPr id="26" name="Shape 23"/>
          <p:cNvSpPr/>
          <p:nvPr/>
        </p:nvSpPr>
        <p:spPr>
          <a:xfrm>
            <a:off x="7315200" y="6456283"/>
            <a:ext cx="6570940" cy="15240"/>
          </a:xfrm>
          <a:prstGeom prst="roundRect">
            <a:avLst>
              <a:gd name="adj" fmla="val 816282"/>
            </a:avLst>
          </a:prstGeom>
          <a:solidFill>
            <a:srgbClr val="CED9CE"/>
          </a:solidFill>
          <a:ln/>
        </p:spPr>
      </p:sp>
      <p:sp>
        <p:nvSpPr>
          <p:cNvPr id="27" name="Text 24"/>
          <p:cNvSpPr/>
          <p:nvPr/>
        </p:nvSpPr>
        <p:spPr>
          <a:xfrm>
            <a:off x="7453312" y="6594396"/>
            <a:ext cx="1727716" cy="215860"/>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T Anil Kumar</a:t>
            </a:r>
            <a:endParaRPr lang="en-US" sz="1350" dirty="0"/>
          </a:p>
        </p:txBody>
      </p:sp>
      <p:sp>
        <p:nvSpPr>
          <p:cNvPr id="28" name="Text 25"/>
          <p:cNvSpPr/>
          <p:nvPr/>
        </p:nvSpPr>
        <p:spPr>
          <a:xfrm>
            <a:off x="7453312" y="6860738"/>
            <a:ext cx="6294715" cy="355759"/>
          </a:xfrm>
          <a:prstGeom prst="rect">
            <a:avLst/>
          </a:prstGeom>
          <a:noFill/>
          <a:ln/>
        </p:spPr>
        <p:txBody>
          <a:bodyPr wrap="square" lIns="0" tIns="0" rIns="0" bIns="0" rtlCol="0" anchor="t"/>
          <a:lstStyle/>
          <a:p>
            <a:pPr marL="0" indent="0" algn="l">
              <a:lnSpc>
                <a:spcPts val="1400"/>
              </a:lnSpc>
              <a:buNone/>
            </a:pPr>
            <a:endParaRPr lang="en-US" sz="1050" dirty="0"/>
          </a:p>
        </p:txBody>
      </p:sp>
      <p:sp>
        <p:nvSpPr>
          <p:cNvPr id="29" name="Text 26"/>
          <p:cNvSpPr/>
          <p:nvPr/>
        </p:nvSpPr>
        <p:spPr>
          <a:xfrm>
            <a:off x="744260" y="7449264"/>
            <a:ext cx="13141881" cy="177879"/>
          </a:xfrm>
          <a:prstGeom prst="rect">
            <a:avLst/>
          </a:prstGeom>
          <a:noFill/>
          <a:ln/>
        </p:spPr>
        <p:txBody>
          <a:bodyPr wrap="none" lIns="0" tIns="0" rIns="0" bIns="0" rtlCol="0" anchor="t"/>
          <a:lstStyle/>
          <a:p>
            <a:pPr marL="0" indent="0" algn="ctr">
              <a:lnSpc>
                <a:spcPts val="1400"/>
              </a:lnSpc>
              <a:buNone/>
            </a:pPr>
            <a:endParaRPr lang="en-US" sz="1050" dirty="0"/>
          </a:p>
        </p:txBody>
      </p:sp>
      <p:sp>
        <p:nvSpPr>
          <p:cNvPr id="30" name="Rectangle 29">
            <a:extLst>
              <a:ext uri="{FF2B5EF4-FFF2-40B4-BE49-F238E27FC236}">
                <a16:creationId xmlns:a16="http://schemas.microsoft.com/office/drawing/2014/main" id="{DC8CF43B-C744-3492-3DB2-C15263766957}"/>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5425" y="209130"/>
            <a:ext cx="3248574" cy="67420"/>
          </a:xfrm>
          <a:prstGeom prst="rect">
            <a:avLst/>
          </a:prstGeom>
          <a:noFill/>
          <a:ln/>
        </p:spPr>
        <p:txBody>
          <a:bodyPr wrap="none" lIns="0" tIns="0" rIns="0" bIns="0" rtlCol="0" anchor="t"/>
          <a:lstStyle/>
          <a:p>
            <a:pPr marL="0" indent="0" algn="l">
              <a:lnSpc>
                <a:spcPts val="3750"/>
              </a:lnSpc>
              <a:buNone/>
            </a:pPr>
            <a:r>
              <a:rPr lang="en-US" sz="3000" b="1" dirty="0">
                <a:solidFill>
                  <a:srgbClr val="3B4540"/>
                </a:solidFill>
                <a:latin typeface="Fraunces Extra Bold" pitchFamily="34" charset="0"/>
                <a:ea typeface="Fraunces Extra Bold" pitchFamily="34" charset="-122"/>
                <a:cs typeface="Fraunces Extra Bold" pitchFamily="34" charset="-120"/>
              </a:rPr>
              <a:t>Meet Karthik:</a:t>
            </a:r>
            <a:endParaRPr lang="en-US" sz="3000" dirty="0"/>
          </a:p>
        </p:txBody>
      </p:sp>
      <p:sp>
        <p:nvSpPr>
          <p:cNvPr id="4" name="Text 1"/>
          <p:cNvSpPr/>
          <p:nvPr/>
        </p:nvSpPr>
        <p:spPr>
          <a:xfrm>
            <a:off x="6255425" y="767106"/>
            <a:ext cx="7605951" cy="253023"/>
          </a:xfrm>
          <a:prstGeom prst="rect">
            <a:avLst/>
          </a:prstGeom>
          <a:noFill/>
          <a:ln/>
        </p:spPr>
        <p:txBody>
          <a:bodyPr wrap="square" lIns="0" tIns="0" rIns="0" bIns="0" rtlCol="0" anchor="t"/>
          <a:lstStyle/>
          <a:p>
            <a:pPr marL="0" indent="0" algn="l">
              <a:lnSpc>
                <a:spcPts val="1600"/>
              </a:lnSpc>
              <a:buNone/>
            </a:pPr>
            <a:r>
              <a:rPr lang="en-US" sz="1200" dirty="0">
                <a:solidFill>
                  <a:srgbClr val="405449"/>
                </a:solidFill>
                <a:latin typeface="Nobile" pitchFamily="34" charset="0"/>
                <a:ea typeface="Nobile" pitchFamily="34" charset="-122"/>
                <a:cs typeface="Nobile" pitchFamily="34" charset="-120"/>
              </a:rPr>
              <a:t>Karthik,28  is a Swiggy delivery partner in </a:t>
            </a:r>
            <a:r>
              <a:rPr lang="en-US" sz="1200" dirty="0" err="1">
                <a:solidFill>
                  <a:srgbClr val="405449"/>
                </a:solidFill>
                <a:latin typeface="Nobile" pitchFamily="34" charset="0"/>
                <a:ea typeface="Nobile" pitchFamily="34" charset="-122"/>
                <a:cs typeface="Nobile" pitchFamily="34" charset="-120"/>
              </a:rPr>
              <a:t>Bengaluru,earning</a:t>
            </a:r>
            <a:r>
              <a:rPr lang="en-US" sz="1200" dirty="0">
                <a:solidFill>
                  <a:srgbClr val="405449"/>
                </a:solidFill>
                <a:latin typeface="Nobile" pitchFamily="34" charset="0"/>
                <a:ea typeface="Nobile" pitchFamily="34" charset="-122"/>
                <a:cs typeface="Nobile" pitchFamily="34" charset="-120"/>
              </a:rPr>
              <a:t> Rs 18000/month</a:t>
            </a:r>
            <a:endParaRPr lang="en-US" sz="1200" dirty="0"/>
          </a:p>
        </p:txBody>
      </p:sp>
      <p:sp>
        <p:nvSpPr>
          <p:cNvPr id="5" name="Shape 2"/>
          <p:cNvSpPr/>
          <p:nvPr/>
        </p:nvSpPr>
        <p:spPr>
          <a:xfrm>
            <a:off x="6299272" y="3244774"/>
            <a:ext cx="7605951" cy="11430"/>
          </a:xfrm>
          <a:prstGeom prst="rect">
            <a:avLst/>
          </a:prstGeom>
          <a:solidFill>
            <a:srgbClr val="405449">
              <a:alpha val="50000"/>
            </a:srgbClr>
          </a:solidFill>
          <a:ln/>
        </p:spPr>
      </p:sp>
      <p:grpSp>
        <p:nvGrpSpPr>
          <p:cNvPr id="20" name="Group 19">
            <a:extLst>
              <a:ext uri="{FF2B5EF4-FFF2-40B4-BE49-F238E27FC236}">
                <a16:creationId xmlns:a16="http://schemas.microsoft.com/office/drawing/2014/main" id="{219C150A-9B1C-6103-D94F-5E04930E989F}"/>
              </a:ext>
            </a:extLst>
          </p:cNvPr>
          <p:cNvGrpSpPr/>
          <p:nvPr/>
        </p:nvGrpSpPr>
        <p:grpSpPr>
          <a:xfrm>
            <a:off x="7315200" y="3528183"/>
            <a:ext cx="5120905" cy="2837692"/>
            <a:chOff x="6255425" y="2690932"/>
            <a:chExt cx="7605950" cy="3661290"/>
          </a:xfrm>
        </p:grpSpPr>
        <p:sp>
          <p:nvSpPr>
            <p:cNvPr id="6" name="Text 3"/>
            <p:cNvSpPr/>
            <p:nvPr/>
          </p:nvSpPr>
          <p:spPr>
            <a:xfrm>
              <a:off x="6816090" y="2690932"/>
              <a:ext cx="2616398" cy="507563"/>
            </a:xfrm>
            <a:prstGeom prst="rect">
              <a:avLst/>
            </a:prstGeom>
            <a:noFill/>
            <a:ln/>
          </p:spPr>
          <p:txBody>
            <a:bodyPr wrap="none" lIns="0" tIns="0" rIns="0" bIns="0" rtlCol="0" anchor="t"/>
            <a:lstStyle/>
            <a:p>
              <a:pPr marL="0" indent="0" algn="ctr">
                <a:lnSpc>
                  <a:spcPts val="3950"/>
                </a:lnSpc>
                <a:buNone/>
              </a:pPr>
              <a:r>
                <a:rPr lang="en-US" sz="3950" b="1" dirty="0">
                  <a:solidFill>
                    <a:srgbClr val="405449"/>
                  </a:solidFill>
                  <a:latin typeface="Fraunces Extra Bold" pitchFamily="34" charset="0"/>
                  <a:ea typeface="Fraunces Extra Bold" pitchFamily="34" charset="-122"/>
                  <a:cs typeface="Fraunces Extra Bold" pitchFamily="34" charset="-120"/>
                </a:rPr>
                <a:t>7.7M</a:t>
              </a:r>
              <a:endParaRPr lang="en-US" sz="3950" dirty="0"/>
            </a:p>
          </p:txBody>
        </p:sp>
        <p:sp>
          <p:nvSpPr>
            <p:cNvPr id="7" name="Text 4"/>
            <p:cNvSpPr/>
            <p:nvPr/>
          </p:nvSpPr>
          <p:spPr>
            <a:xfrm>
              <a:off x="7117794" y="3353514"/>
              <a:ext cx="2012990" cy="240268"/>
            </a:xfrm>
            <a:prstGeom prst="rect">
              <a:avLst/>
            </a:prstGeom>
            <a:noFill/>
            <a:ln/>
          </p:spPr>
          <p:txBody>
            <a:bodyPr wrap="none" lIns="0" tIns="0" rIns="0" bIns="0" rtlCol="0" anchor="t"/>
            <a:lstStyle/>
            <a:p>
              <a:pPr marL="0" indent="0" algn="ctr">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Gig Workers in India</a:t>
              </a:r>
              <a:endParaRPr lang="en-US" sz="1500" dirty="0"/>
            </a:p>
          </p:txBody>
        </p:sp>
        <p:sp>
          <p:nvSpPr>
            <p:cNvPr id="8" name="Text 5"/>
            <p:cNvSpPr/>
            <p:nvPr/>
          </p:nvSpPr>
          <p:spPr>
            <a:xfrm>
              <a:off x="6255425" y="3656290"/>
              <a:ext cx="3737729" cy="825817"/>
            </a:xfrm>
            <a:prstGeom prst="rect">
              <a:avLst/>
            </a:prstGeom>
            <a:noFill/>
            <a:ln/>
          </p:spPr>
          <p:txBody>
            <a:bodyPr wrap="square" lIns="0" tIns="0" rIns="0" bIns="0" rtlCol="0" anchor="t"/>
            <a:lstStyle/>
            <a:p>
              <a:pPr algn="ctr">
                <a:lnSpc>
                  <a:spcPts val="1600"/>
                </a:lnSpc>
              </a:pPr>
              <a:r>
                <a:rPr lang="en-US" sz="1200" dirty="0">
                  <a:solidFill>
                    <a:srgbClr val="405449"/>
                  </a:solidFill>
                  <a:latin typeface="Nobile" pitchFamily="34" charset="0"/>
                </a:rPr>
                <a:t>Millions of independent workers rely on daily earnings, often without paid leave or employer-backed benefits.</a:t>
              </a:r>
            </a:p>
            <a:p>
              <a:pPr algn="ctr">
                <a:lnSpc>
                  <a:spcPts val="1600"/>
                </a:lnSpc>
              </a:pPr>
              <a:endParaRPr lang="en-US" sz="1200" dirty="0">
                <a:solidFill>
                  <a:srgbClr val="405449"/>
                </a:solidFill>
                <a:latin typeface="Nobile" pitchFamily="34" charset="0"/>
              </a:endParaRPr>
            </a:p>
            <a:p>
              <a:pPr algn="ctr">
                <a:lnSpc>
                  <a:spcPts val="1600"/>
                </a:lnSpc>
              </a:pPr>
              <a:endParaRPr lang="en-US" sz="1200" dirty="0">
                <a:solidFill>
                  <a:srgbClr val="405449"/>
                </a:solidFill>
                <a:latin typeface="Nobile" pitchFamily="34" charset="0"/>
              </a:endParaRPr>
            </a:p>
          </p:txBody>
        </p:sp>
        <p:sp>
          <p:nvSpPr>
            <p:cNvPr id="9" name="Text 6"/>
            <p:cNvSpPr/>
            <p:nvPr/>
          </p:nvSpPr>
          <p:spPr>
            <a:xfrm>
              <a:off x="10684193" y="2690932"/>
              <a:ext cx="2616398" cy="507563"/>
            </a:xfrm>
            <a:prstGeom prst="rect">
              <a:avLst/>
            </a:prstGeom>
            <a:noFill/>
            <a:ln/>
          </p:spPr>
          <p:txBody>
            <a:bodyPr wrap="none" lIns="0" tIns="0" rIns="0" bIns="0" rtlCol="0" anchor="t"/>
            <a:lstStyle/>
            <a:p>
              <a:pPr marL="0" indent="0" algn="ctr">
                <a:lnSpc>
                  <a:spcPts val="3950"/>
                </a:lnSpc>
                <a:buNone/>
              </a:pPr>
              <a:r>
                <a:rPr lang="en-US" sz="3950" b="1" dirty="0">
                  <a:solidFill>
                    <a:srgbClr val="405449"/>
                  </a:solidFill>
                  <a:latin typeface="Fraunces Extra Bold" pitchFamily="34" charset="0"/>
                  <a:ea typeface="Fraunces Extra Bold" pitchFamily="34" charset="-122"/>
                  <a:cs typeface="Fraunces Extra Bold" pitchFamily="34" charset="-120"/>
                </a:rPr>
                <a:t>80+</a:t>
              </a:r>
              <a:endParaRPr lang="en-US" sz="3950" dirty="0"/>
            </a:p>
          </p:txBody>
        </p:sp>
        <p:sp>
          <p:nvSpPr>
            <p:cNvPr id="10" name="Text 7"/>
            <p:cNvSpPr/>
            <p:nvPr/>
          </p:nvSpPr>
          <p:spPr>
            <a:xfrm>
              <a:off x="10924223" y="3353514"/>
              <a:ext cx="2136338" cy="240268"/>
            </a:xfrm>
            <a:prstGeom prst="rect">
              <a:avLst/>
            </a:prstGeom>
            <a:noFill/>
            <a:ln/>
          </p:spPr>
          <p:txBody>
            <a:bodyPr wrap="none" lIns="0" tIns="0" rIns="0" bIns="0" rtlCol="0" anchor="t"/>
            <a:lstStyle/>
            <a:p>
              <a:pPr marL="0" indent="0" algn="ctr">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Disruption Days/Year</a:t>
              </a:r>
              <a:endParaRPr lang="en-US" sz="1500" dirty="0"/>
            </a:p>
          </p:txBody>
        </p:sp>
        <p:sp>
          <p:nvSpPr>
            <p:cNvPr id="11" name="Text 8"/>
            <p:cNvSpPr/>
            <p:nvPr/>
          </p:nvSpPr>
          <p:spPr>
            <a:xfrm>
              <a:off x="10123527" y="3656290"/>
              <a:ext cx="3737848" cy="619363"/>
            </a:xfrm>
            <a:prstGeom prst="rect">
              <a:avLst/>
            </a:prstGeom>
            <a:noFill/>
            <a:ln/>
          </p:spPr>
          <p:txBody>
            <a:bodyPr wrap="square" lIns="0" tIns="0" rIns="0" bIns="0" rtlCol="0" anchor="t"/>
            <a:lstStyle/>
            <a:p>
              <a:pPr algn="ctr">
                <a:lnSpc>
                  <a:spcPts val="1600"/>
                </a:lnSpc>
              </a:pPr>
              <a:r>
                <a:rPr lang="en-US" sz="1200" dirty="0">
                  <a:solidFill>
                    <a:srgbClr val="405449"/>
                  </a:solidFill>
                  <a:latin typeface="Nobile" pitchFamily="34" charset="0"/>
                </a:rPr>
                <a:t>Rain, outages, strikes, bandh, vehicle issues, and app interruptions repeatedly break earning opportunities.</a:t>
              </a:r>
            </a:p>
          </p:txBody>
        </p:sp>
        <p:sp>
          <p:nvSpPr>
            <p:cNvPr id="12" name="Text 9"/>
            <p:cNvSpPr/>
            <p:nvPr/>
          </p:nvSpPr>
          <p:spPr>
            <a:xfrm>
              <a:off x="8750141" y="4767501"/>
              <a:ext cx="2616398" cy="507563"/>
            </a:xfrm>
            <a:prstGeom prst="rect">
              <a:avLst/>
            </a:prstGeom>
            <a:noFill/>
            <a:ln/>
          </p:spPr>
          <p:txBody>
            <a:bodyPr wrap="none" lIns="0" tIns="0" rIns="0" bIns="0" rtlCol="0" anchor="t"/>
            <a:lstStyle/>
            <a:p>
              <a:pPr marL="0" indent="0" algn="ctr">
                <a:lnSpc>
                  <a:spcPts val="3950"/>
                </a:lnSpc>
                <a:buNone/>
              </a:pPr>
              <a:r>
                <a:rPr lang="en-US" sz="3950" b="1" dirty="0">
                  <a:solidFill>
                    <a:srgbClr val="405449"/>
                  </a:solidFill>
                  <a:latin typeface="Fraunces Extra Bold" pitchFamily="34" charset="0"/>
                  <a:ea typeface="Fraunces Extra Bold" pitchFamily="34" charset="-122"/>
                  <a:cs typeface="Fraunces Extra Bold" pitchFamily="34" charset="-120"/>
                </a:rPr>
                <a:t>₹0</a:t>
              </a:r>
              <a:endParaRPr lang="en-US" sz="3950" dirty="0"/>
            </a:p>
          </p:txBody>
        </p:sp>
        <p:sp>
          <p:nvSpPr>
            <p:cNvPr id="13" name="Text 10"/>
            <p:cNvSpPr/>
            <p:nvPr/>
          </p:nvSpPr>
          <p:spPr>
            <a:xfrm>
              <a:off x="9087445" y="5430083"/>
              <a:ext cx="1941671" cy="240268"/>
            </a:xfrm>
            <a:prstGeom prst="rect">
              <a:avLst/>
            </a:prstGeom>
            <a:noFill/>
            <a:ln/>
          </p:spPr>
          <p:txBody>
            <a:bodyPr wrap="none" lIns="0" tIns="0" rIns="0" bIns="0" rtlCol="0" anchor="t"/>
            <a:lstStyle/>
            <a:p>
              <a:pPr marL="0" indent="0" algn="ctr">
                <a:lnSpc>
                  <a:spcPts val="1850"/>
                </a:lnSpc>
                <a:buNone/>
              </a:pPr>
              <a:r>
                <a:rPr lang="en-US" sz="1500" b="1" dirty="0">
                  <a:solidFill>
                    <a:srgbClr val="405449"/>
                  </a:solidFill>
                  <a:latin typeface="Fraunces Extra Bold" pitchFamily="34" charset="0"/>
                  <a:ea typeface="Fraunces Extra Bold" pitchFamily="34" charset="-122"/>
                  <a:cs typeface="Fraunces Extra Bold" pitchFamily="34" charset="-120"/>
                </a:rPr>
                <a:t>Insurance Coverage</a:t>
              </a:r>
              <a:endParaRPr lang="en-US" sz="1500" dirty="0"/>
            </a:p>
          </p:txBody>
        </p:sp>
        <p:sp>
          <p:nvSpPr>
            <p:cNvPr id="14" name="Text 11"/>
            <p:cNvSpPr/>
            <p:nvPr/>
          </p:nvSpPr>
          <p:spPr>
            <a:xfrm>
              <a:off x="8189476" y="5732859"/>
              <a:ext cx="3737729" cy="619363"/>
            </a:xfrm>
            <a:prstGeom prst="rect">
              <a:avLst/>
            </a:prstGeom>
            <a:noFill/>
            <a:ln/>
          </p:spPr>
          <p:txBody>
            <a:bodyPr wrap="square" lIns="0" tIns="0" rIns="0" bIns="0" rtlCol="0" anchor="t"/>
            <a:lstStyle/>
            <a:p>
              <a:pPr algn="ctr">
                <a:lnSpc>
                  <a:spcPts val="1600"/>
                </a:lnSpc>
              </a:pPr>
              <a:r>
                <a:rPr lang="en-US" sz="1200" dirty="0">
                  <a:solidFill>
                    <a:srgbClr val="405449"/>
                  </a:solidFill>
                  <a:latin typeface="Nobile" pitchFamily="34" charset="0"/>
                </a:rPr>
                <a:t>The real risk is not injury alone, but loss of a day’s wage.</a:t>
              </a:r>
            </a:p>
          </p:txBody>
        </p:sp>
      </p:grpSp>
      <p:sp>
        <p:nvSpPr>
          <p:cNvPr id="15" name="Shape 12"/>
          <p:cNvSpPr/>
          <p:nvPr/>
        </p:nvSpPr>
        <p:spPr>
          <a:xfrm>
            <a:off x="6255425" y="6507837"/>
            <a:ext cx="7605951" cy="11430"/>
          </a:xfrm>
          <a:prstGeom prst="rect">
            <a:avLst/>
          </a:prstGeom>
          <a:solidFill>
            <a:srgbClr val="405449">
              <a:alpha val="50000"/>
            </a:srgbClr>
          </a:solidFill>
          <a:ln/>
        </p:spPr>
      </p:sp>
      <p:sp>
        <p:nvSpPr>
          <p:cNvPr id="16" name="Shape 13"/>
          <p:cNvSpPr/>
          <p:nvPr/>
        </p:nvSpPr>
        <p:spPr>
          <a:xfrm>
            <a:off x="6255425" y="6674882"/>
            <a:ext cx="7605951" cy="932617"/>
          </a:xfrm>
          <a:prstGeom prst="roundRect">
            <a:avLst>
              <a:gd name="adj" fmla="val 14844"/>
            </a:avLst>
          </a:prstGeom>
          <a:solidFill>
            <a:srgbClr val="FCF2B5"/>
          </a:solidFill>
          <a:ln/>
        </p:spPr>
      </p:sp>
      <p:pic>
        <p:nvPicPr>
          <p:cNvPr id="17" name="Image 1" descr="preencoded.png"/>
          <p:cNvPicPr>
            <a:picLocks noChangeAspect="1"/>
          </p:cNvPicPr>
          <p:nvPr/>
        </p:nvPicPr>
        <p:blipFill>
          <a:blip r:embed="rId4"/>
          <a:stretch>
            <a:fillRect/>
          </a:stretch>
        </p:blipFill>
        <p:spPr>
          <a:xfrm>
            <a:off x="6409134" y="6877169"/>
            <a:ext cx="192167" cy="153710"/>
          </a:xfrm>
          <a:prstGeom prst="rect">
            <a:avLst/>
          </a:prstGeom>
        </p:spPr>
      </p:pic>
      <p:sp>
        <p:nvSpPr>
          <p:cNvPr id="18" name="Text 14"/>
          <p:cNvSpPr/>
          <p:nvPr/>
        </p:nvSpPr>
        <p:spPr>
          <a:xfrm>
            <a:off x="6755011" y="6817519"/>
            <a:ext cx="6952655" cy="619363"/>
          </a:xfrm>
          <a:prstGeom prst="rect">
            <a:avLst/>
          </a:prstGeom>
          <a:noFill/>
          <a:ln/>
        </p:spPr>
        <p:txBody>
          <a:bodyPr wrap="square" lIns="0" tIns="0" rIns="0" bIns="0" rtlCol="0" anchor="t"/>
          <a:lstStyle/>
          <a:p>
            <a:pPr>
              <a:lnSpc>
                <a:spcPts val="1600"/>
              </a:lnSpc>
            </a:pPr>
            <a:r>
              <a:rPr lang="en-US" sz="1200" dirty="0">
                <a:solidFill>
                  <a:srgbClr val="405449"/>
                </a:solidFill>
                <a:latin typeface="Nobile" pitchFamily="34" charset="0"/>
              </a:rPr>
              <a:t>Expenses don’t pause when income does. Even a few hours of disruption can trigger unpaid bills, missed necessities, and long-term financial stress</a:t>
            </a:r>
            <a:r>
              <a:rPr lang="en-US" dirty="0"/>
              <a:t>.</a:t>
            </a:r>
            <a:endParaRPr lang="en-US" sz="1200" dirty="0"/>
          </a:p>
        </p:txBody>
      </p:sp>
      <p:sp>
        <p:nvSpPr>
          <p:cNvPr id="19" name="Rectangle 18">
            <a:extLst>
              <a:ext uri="{FF2B5EF4-FFF2-40B4-BE49-F238E27FC236}">
                <a16:creationId xmlns:a16="http://schemas.microsoft.com/office/drawing/2014/main" id="{692CF4BA-2381-F2BC-23C6-B9D34D7DFBBE}"/>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 0">
            <a:extLst>
              <a:ext uri="{FF2B5EF4-FFF2-40B4-BE49-F238E27FC236}">
                <a16:creationId xmlns:a16="http://schemas.microsoft.com/office/drawing/2014/main" id="{09AAA8EF-1375-1D50-2E55-77D355FCCF82}"/>
              </a:ext>
            </a:extLst>
          </p:cNvPr>
          <p:cNvSpPr/>
          <p:nvPr/>
        </p:nvSpPr>
        <p:spPr>
          <a:xfrm>
            <a:off x="6255425" y="1020129"/>
            <a:ext cx="3248574" cy="67420"/>
          </a:xfrm>
          <a:prstGeom prst="rect">
            <a:avLst/>
          </a:prstGeom>
          <a:noFill/>
          <a:ln/>
        </p:spPr>
        <p:txBody>
          <a:bodyPr wrap="none" lIns="0" tIns="0" rIns="0" bIns="0" rtlCol="0" anchor="t"/>
          <a:lstStyle/>
          <a:p>
            <a:pPr marL="0" indent="0" algn="l">
              <a:lnSpc>
                <a:spcPts val="3750"/>
              </a:lnSpc>
              <a:buNone/>
            </a:pPr>
            <a:r>
              <a:rPr lang="en-US" sz="3000" b="1" dirty="0">
                <a:solidFill>
                  <a:srgbClr val="3B4540"/>
                </a:solidFill>
                <a:latin typeface="Fraunces Extra Bold" pitchFamily="34" charset="0"/>
              </a:rPr>
              <a:t>Disruption:</a:t>
            </a:r>
            <a:endParaRPr lang="en-US" sz="3000" dirty="0"/>
          </a:p>
        </p:txBody>
      </p:sp>
      <p:sp>
        <p:nvSpPr>
          <p:cNvPr id="22" name="Text 0">
            <a:extLst>
              <a:ext uri="{FF2B5EF4-FFF2-40B4-BE49-F238E27FC236}">
                <a16:creationId xmlns:a16="http://schemas.microsoft.com/office/drawing/2014/main" id="{FE6CC2C9-7DE0-4293-57DE-4CEF19C99F74}"/>
              </a:ext>
            </a:extLst>
          </p:cNvPr>
          <p:cNvSpPr/>
          <p:nvPr/>
        </p:nvSpPr>
        <p:spPr>
          <a:xfrm>
            <a:off x="6255425" y="1764703"/>
            <a:ext cx="3248574" cy="67420"/>
          </a:xfrm>
          <a:prstGeom prst="rect">
            <a:avLst/>
          </a:prstGeom>
          <a:noFill/>
          <a:ln/>
        </p:spPr>
        <p:txBody>
          <a:bodyPr wrap="none" lIns="0" tIns="0" rIns="0" bIns="0" rtlCol="0" anchor="t"/>
          <a:lstStyle/>
          <a:p>
            <a:pPr marL="0" indent="0" algn="l">
              <a:lnSpc>
                <a:spcPts val="3750"/>
              </a:lnSpc>
              <a:buNone/>
            </a:pPr>
            <a:r>
              <a:rPr lang="en-US" sz="3000" b="1" dirty="0">
                <a:solidFill>
                  <a:srgbClr val="3B4540"/>
                </a:solidFill>
                <a:latin typeface="Fraunces Extra Bold" pitchFamily="34" charset="0"/>
              </a:rPr>
              <a:t>Loss:</a:t>
            </a:r>
            <a:endParaRPr lang="en-US" sz="3000" dirty="0"/>
          </a:p>
        </p:txBody>
      </p:sp>
      <p:sp>
        <p:nvSpPr>
          <p:cNvPr id="23" name="Text 1">
            <a:extLst>
              <a:ext uri="{FF2B5EF4-FFF2-40B4-BE49-F238E27FC236}">
                <a16:creationId xmlns:a16="http://schemas.microsoft.com/office/drawing/2014/main" id="{7F6ACD63-B71C-1C05-CE75-ACFEBCC952BA}"/>
              </a:ext>
            </a:extLst>
          </p:cNvPr>
          <p:cNvSpPr/>
          <p:nvPr/>
        </p:nvSpPr>
        <p:spPr>
          <a:xfrm>
            <a:off x="6280765" y="1530103"/>
            <a:ext cx="7605951" cy="253023"/>
          </a:xfrm>
          <a:prstGeom prst="rect">
            <a:avLst/>
          </a:prstGeom>
          <a:noFill/>
          <a:ln/>
        </p:spPr>
        <p:txBody>
          <a:bodyPr wrap="square" lIns="0" tIns="0" rIns="0" bIns="0" rtlCol="0" anchor="t"/>
          <a:lstStyle/>
          <a:p>
            <a:pPr>
              <a:lnSpc>
                <a:spcPts val="1600"/>
              </a:lnSpc>
            </a:pPr>
            <a:r>
              <a:rPr lang="en-US" sz="1200" dirty="0">
                <a:latin typeface="Nobile" panose="020B0604020202020204" charset="0"/>
              </a:rPr>
              <a:t>On a stormy Tuesday, heavy rain stopped deliveries for 4 hours.</a:t>
            </a:r>
          </a:p>
        </p:txBody>
      </p:sp>
      <p:sp>
        <p:nvSpPr>
          <p:cNvPr id="24" name="Text 1">
            <a:extLst>
              <a:ext uri="{FF2B5EF4-FFF2-40B4-BE49-F238E27FC236}">
                <a16:creationId xmlns:a16="http://schemas.microsoft.com/office/drawing/2014/main" id="{A8208785-4FB6-B8D0-6A4F-B8CC1F3FDEC9}"/>
              </a:ext>
            </a:extLst>
          </p:cNvPr>
          <p:cNvSpPr/>
          <p:nvPr/>
        </p:nvSpPr>
        <p:spPr>
          <a:xfrm>
            <a:off x="6299272" y="2263662"/>
            <a:ext cx="7605951" cy="253023"/>
          </a:xfrm>
          <a:prstGeom prst="rect">
            <a:avLst/>
          </a:prstGeom>
          <a:noFill/>
          <a:ln/>
        </p:spPr>
        <p:txBody>
          <a:bodyPr wrap="square" lIns="0" tIns="0" rIns="0" bIns="0" rtlCol="0" anchor="t"/>
          <a:lstStyle/>
          <a:p>
            <a:r>
              <a:rPr lang="en-US" sz="1600" b="1" dirty="0">
                <a:latin typeface="Nobile" panose="020B0604020202020204" charset="0"/>
              </a:rPr>
              <a:t>₹0 </a:t>
            </a:r>
            <a:r>
              <a:rPr lang="en-US" sz="1200" dirty="0">
                <a:latin typeface="Nobile" panose="020B0604020202020204" charset="0"/>
              </a:rPr>
              <a:t>earned that day</a:t>
            </a:r>
            <a:br>
              <a:rPr lang="en-US" sz="1200" dirty="0">
                <a:latin typeface="Nobile" panose="020B0604020202020204" charset="0"/>
              </a:rPr>
            </a:br>
            <a:r>
              <a:rPr lang="en-US" sz="1200" dirty="0">
                <a:latin typeface="Nobile" panose="020B0604020202020204" charset="0"/>
              </a:rPr>
              <a:t>₹800 EMI + ₹200 fuel + ₹150 lunch = </a:t>
            </a:r>
            <a:r>
              <a:rPr lang="en-US" sz="1600" b="1" dirty="0">
                <a:latin typeface="Nobile" panose="020B0604020202020204" charset="0"/>
              </a:rPr>
              <a:t>₹1,150 </a:t>
            </a:r>
            <a:r>
              <a:rPr lang="en-US" sz="1200" dirty="0">
                <a:latin typeface="Nobile" panose="020B0604020202020204" charset="0"/>
              </a:rPr>
              <a:t>unavoidable expense</a:t>
            </a:r>
          </a:p>
          <a:p>
            <a:endParaRPr lang="en-US" sz="1200" dirty="0">
              <a:latin typeface="Nobile" panose="020B0604020202020204" charset="0"/>
            </a:endParaRPr>
          </a:p>
          <a:p>
            <a:r>
              <a:rPr lang="en-US" sz="1200" dirty="0">
                <a:latin typeface="Nobile" panose="020B0604020202020204" charset="0"/>
              </a:rPr>
              <a:t>Even one disrupted shift creates immediate financial stress because income stops, but expenses don’t.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9025" y="801929"/>
            <a:ext cx="7037189" cy="446246"/>
          </a:xfrm>
          <a:prstGeom prst="rect">
            <a:avLst/>
          </a:prstGeom>
          <a:noFill/>
          <a:ln/>
        </p:spPr>
        <p:txBody>
          <a:bodyPr wrap="none" lIns="0" tIns="0" rIns="0" bIns="0" rtlCol="0" anchor="t"/>
          <a:lstStyle/>
          <a:p>
            <a:pPr marL="0" indent="0" algn="l">
              <a:lnSpc>
                <a:spcPts val="3500"/>
              </a:lnSpc>
              <a:buNone/>
            </a:pPr>
            <a:r>
              <a:rPr lang="en-US" sz="2800" b="1" dirty="0">
                <a:solidFill>
                  <a:srgbClr val="3B4540"/>
                </a:solidFill>
                <a:latin typeface="Fraunces Extra Bold" pitchFamily="34" charset="0"/>
                <a:ea typeface="Fraunces Extra Bold" pitchFamily="34" charset="-122"/>
                <a:cs typeface="Fraunces Extra Bold" pitchFamily="34" charset="-120"/>
              </a:rPr>
              <a:t>The Gap </a:t>
            </a:r>
            <a:r>
              <a:rPr lang="en-US" sz="2800" b="1" dirty="0" err="1">
                <a:solidFill>
                  <a:srgbClr val="3B4540"/>
                </a:solidFill>
                <a:latin typeface="Fraunces Extra Bold" pitchFamily="34" charset="0"/>
                <a:ea typeface="Fraunces Extra Bold" pitchFamily="34" charset="-122"/>
                <a:cs typeface="Fraunces Extra Bold" pitchFamily="34" charset="-120"/>
              </a:rPr>
              <a:t>Hustlr</a:t>
            </a:r>
            <a:r>
              <a:rPr lang="en-US" sz="2800" b="1" dirty="0">
                <a:solidFill>
                  <a:srgbClr val="3B4540"/>
                </a:solidFill>
                <a:latin typeface="Fraunces Extra Bold" pitchFamily="34" charset="0"/>
                <a:ea typeface="Fraunces Extra Bold" pitchFamily="34" charset="-122"/>
                <a:cs typeface="Fraunces Extra Bold" pitchFamily="34" charset="-120"/>
              </a:rPr>
              <a:t> Solves</a:t>
            </a:r>
            <a:endParaRPr lang="en-US" sz="2800" dirty="0"/>
          </a:p>
        </p:txBody>
      </p:sp>
      <p:sp>
        <p:nvSpPr>
          <p:cNvPr id="3" name="Shape 1"/>
          <p:cNvSpPr/>
          <p:nvPr/>
        </p:nvSpPr>
        <p:spPr>
          <a:xfrm>
            <a:off x="769025" y="1438989"/>
            <a:ext cx="1675924" cy="249674"/>
          </a:xfrm>
          <a:prstGeom prst="roundRect">
            <a:avLst>
              <a:gd name="adj" fmla="val 41189"/>
            </a:avLst>
          </a:prstGeom>
          <a:noFill/>
          <a:ln w="7620">
            <a:solidFill>
              <a:srgbClr val="438951"/>
            </a:solidFill>
            <a:prstDash val="solid"/>
          </a:ln>
        </p:spPr>
      </p:sp>
      <p:sp>
        <p:nvSpPr>
          <p:cNvPr id="4" name="Text 2"/>
          <p:cNvSpPr/>
          <p:nvPr/>
        </p:nvSpPr>
        <p:spPr>
          <a:xfrm>
            <a:off x="862251" y="1489353"/>
            <a:ext cx="1489472" cy="148947"/>
          </a:xfrm>
          <a:prstGeom prst="rect">
            <a:avLst/>
          </a:prstGeom>
          <a:noFill/>
          <a:ln/>
        </p:spPr>
        <p:txBody>
          <a:bodyPr wrap="none" lIns="0" tIns="0" rIns="0" bIns="0" rtlCol="0" anchor="t"/>
          <a:lstStyle/>
          <a:p>
            <a:pPr marL="0" indent="0" algn="l">
              <a:lnSpc>
                <a:spcPts val="1150"/>
              </a:lnSpc>
              <a:buNone/>
            </a:pPr>
            <a:r>
              <a:rPr lang="en-US" sz="850" dirty="0">
                <a:solidFill>
                  <a:srgbClr val="438951"/>
                </a:solidFill>
                <a:latin typeface="Nobile" pitchFamily="34" charset="0"/>
                <a:ea typeface="Nobile" pitchFamily="34" charset="-122"/>
                <a:cs typeface="Nobile" pitchFamily="34" charset="-120"/>
              </a:rPr>
              <a:t>TRADITIONAL INSURANCE</a:t>
            </a:r>
            <a:endParaRPr lang="en-US" sz="850" dirty="0"/>
          </a:p>
        </p:txBody>
      </p:sp>
      <p:sp>
        <p:nvSpPr>
          <p:cNvPr id="5" name="Text 3"/>
          <p:cNvSpPr/>
          <p:nvPr/>
        </p:nvSpPr>
        <p:spPr>
          <a:xfrm>
            <a:off x="769025" y="1724620"/>
            <a:ext cx="2452568" cy="223242"/>
          </a:xfrm>
          <a:prstGeom prst="rect">
            <a:avLst/>
          </a:prstGeom>
          <a:noFill/>
          <a:ln/>
        </p:spPr>
        <p:txBody>
          <a:bodyPr wrap="none" lIns="0" tIns="0" rIns="0" bIns="0" rtlCol="0" anchor="t"/>
          <a:lstStyle/>
          <a:p>
            <a:pPr marL="0" indent="0" algn="l">
              <a:lnSpc>
                <a:spcPts val="1750"/>
              </a:lnSpc>
              <a:buNone/>
            </a:pPr>
            <a:r>
              <a:rPr lang="en-US" sz="1400" b="1" dirty="0">
                <a:solidFill>
                  <a:srgbClr val="3B4540"/>
                </a:solidFill>
                <a:latin typeface="Fraunces Extra Bold" pitchFamily="34" charset="0"/>
                <a:ea typeface="Fraunces Extra Bold" pitchFamily="34" charset="-122"/>
                <a:cs typeface="Fraunces Extra Bold" pitchFamily="34" charset="-120"/>
              </a:rPr>
              <a:t>Why Traditional Insurance misses this market</a:t>
            </a:r>
            <a:endParaRPr lang="en-US" sz="1400" dirty="0"/>
          </a:p>
        </p:txBody>
      </p:sp>
      <p:sp>
        <p:nvSpPr>
          <p:cNvPr id="6" name="Text 4"/>
          <p:cNvSpPr/>
          <p:nvPr/>
        </p:nvSpPr>
        <p:spPr>
          <a:xfrm>
            <a:off x="769025" y="2037755"/>
            <a:ext cx="6371987" cy="931069"/>
          </a:xfrm>
          <a:prstGeom prst="rect">
            <a:avLst/>
          </a:prstGeom>
          <a:noFill/>
          <a:ln/>
        </p:spPr>
        <p:txBody>
          <a:bodyPr wrap="square" lIns="0" tIns="0" rIns="0" bIns="0" rtlCol="0" anchor="t"/>
          <a:lstStyle/>
          <a:p>
            <a:pPr>
              <a:lnSpc>
                <a:spcPts val="1450"/>
              </a:lnSpc>
            </a:pPr>
            <a:r>
              <a:rPr lang="en-US" sz="1100" dirty="0">
                <a:solidFill>
                  <a:srgbClr val="405449"/>
                </a:solidFill>
                <a:latin typeface="Nobile" pitchFamily="34" charset="0"/>
              </a:rPr>
              <a:t>Q-commerce and delivery work are hyper-local. A worker can lose a full day’s income because one small zone is flooded, blocked, or offline. Traditional claims are too slow, too manual, and too broad to protect a shift-level income loss.</a:t>
            </a:r>
          </a:p>
        </p:txBody>
      </p:sp>
      <p:sp>
        <p:nvSpPr>
          <p:cNvPr id="7" name="Shape 5"/>
          <p:cNvSpPr/>
          <p:nvPr/>
        </p:nvSpPr>
        <p:spPr>
          <a:xfrm>
            <a:off x="769025" y="3069908"/>
            <a:ext cx="6371987" cy="1373981"/>
          </a:xfrm>
          <a:prstGeom prst="roundRect">
            <a:avLst>
              <a:gd name="adj" fmla="val 5324"/>
            </a:avLst>
          </a:prstGeom>
          <a:solidFill>
            <a:srgbClr val="FAFFFA"/>
          </a:solidFill>
          <a:ln w="15240">
            <a:solidFill>
              <a:srgbClr val="CED9CE"/>
            </a:solidFill>
            <a:prstDash val="solid"/>
          </a:ln>
        </p:spPr>
      </p:sp>
      <p:sp>
        <p:nvSpPr>
          <p:cNvPr id="8" name="Shape 6"/>
          <p:cNvSpPr/>
          <p:nvPr/>
        </p:nvSpPr>
        <p:spPr>
          <a:xfrm>
            <a:off x="753785" y="3069908"/>
            <a:ext cx="60960" cy="1373981"/>
          </a:xfrm>
          <a:prstGeom prst="roundRect">
            <a:avLst>
              <a:gd name="adj" fmla="val 210872"/>
            </a:avLst>
          </a:prstGeom>
          <a:solidFill>
            <a:srgbClr val="438951"/>
          </a:solidFill>
          <a:ln/>
        </p:spPr>
      </p:sp>
      <p:sp>
        <p:nvSpPr>
          <p:cNvPr id="9" name="Text 7"/>
          <p:cNvSpPr/>
          <p:nvPr/>
        </p:nvSpPr>
        <p:spPr>
          <a:xfrm>
            <a:off x="972741" y="3227903"/>
            <a:ext cx="2877979" cy="223242"/>
          </a:xfrm>
          <a:prstGeom prst="rect">
            <a:avLst/>
          </a:prstGeom>
          <a:noFill/>
          <a:ln/>
        </p:spPr>
        <p:txBody>
          <a:bodyPr wrap="none" lIns="0" tIns="0" rIns="0" bIns="0" rtlCol="0" anchor="t"/>
          <a:lstStyle/>
          <a:p>
            <a:pPr marL="0" indent="0" algn="l">
              <a:lnSpc>
                <a:spcPts val="1750"/>
              </a:lnSpc>
              <a:buNone/>
            </a:pPr>
            <a:r>
              <a:rPr lang="en-US" sz="1400" b="1" dirty="0">
                <a:solidFill>
                  <a:srgbClr val="405449"/>
                </a:solidFill>
                <a:latin typeface="Fraunces Extra Bold" pitchFamily="34" charset="0"/>
                <a:ea typeface="Fraunces Extra Bold" pitchFamily="34" charset="-122"/>
                <a:cs typeface="Fraunces Extra Bold" pitchFamily="34" charset="-120"/>
              </a:rPr>
              <a:t>No Income Disruption Coverage</a:t>
            </a:r>
            <a:endParaRPr lang="en-US" sz="1400" dirty="0"/>
          </a:p>
        </p:txBody>
      </p:sp>
      <p:sp>
        <p:nvSpPr>
          <p:cNvPr id="10" name="Text 8"/>
          <p:cNvSpPr/>
          <p:nvPr/>
        </p:nvSpPr>
        <p:spPr>
          <a:xfrm>
            <a:off x="972741" y="3541038"/>
            <a:ext cx="6010275" cy="744855"/>
          </a:xfrm>
          <a:prstGeom prst="rect">
            <a:avLst/>
          </a:prstGeom>
          <a:noFill/>
          <a:ln/>
        </p:spPr>
        <p:txBody>
          <a:bodyPr wrap="square" lIns="0" tIns="0" rIns="0" bIns="0" rtlCol="0" anchor="t"/>
          <a:lstStyle/>
          <a:p>
            <a:pPr>
              <a:lnSpc>
                <a:spcPts val="1450"/>
              </a:lnSpc>
            </a:pPr>
            <a:r>
              <a:rPr lang="en-US" sz="1100" dirty="0">
                <a:solidFill>
                  <a:srgbClr val="405449"/>
                </a:solidFill>
                <a:latin typeface="Nobile" pitchFamily="34" charset="0"/>
              </a:rPr>
              <a:t>Health and accident plans pay for medical events, not the earnings lost when rain, outages, or shutdowns stop work.</a:t>
            </a:r>
          </a:p>
        </p:txBody>
      </p:sp>
      <p:sp>
        <p:nvSpPr>
          <p:cNvPr id="11" name="Shape 9"/>
          <p:cNvSpPr/>
          <p:nvPr/>
        </p:nvSpPr>
        <p:spPr>
          <a:xfrm>
            <a:off x="769025" y="4533781"/>
            <a:ext cx="6371987" cy="1373981"/>
          </a:xfrm>
          <a:prstGeom prst="roundRect">
            <a:avLst>
              <a:gd name="adj" fmla="val 5324"/>
            </a:avLst>
          </a:prstGeom>
          <a:solidFill>
            <a:srgbClr val="FAFFFA"/>
          </a:solidFill>
          <a:ln w="15240">
            <a:solidFill>
              <a:srgbClr val="CED9CE"/>
            </a:solidFill>
            <a:prstDash val="solid"/>
          </a:ln>
        </p:spPr>
      </p:sp>
      <p:sp>
        <p:nvSpPr>
          <p:cNvPr id="12" name="Shape 10"/>
          <p:cNvSpPr/>
          <p:nvPr/>
        </p:nvSpPr>
        <p:spPr>
          <a:xfrm>
            <a:off x="753785" y="4533781"/>
            <a:ext cx="60960" cy="1373981"/>
          </a:xfrm>
          <a:prstGeom prst="roundRect">
            <a:avLst>
              <a:gd name="adj" fmla="val 210872"/>
            </a:avLst>
          </a:prstGeom>
          <a:solidFill>
            <a:srgbClr val="438951"/>
          </a:solidFill>
          <a:ln/>
        </p:spPr>
      </p:sp>
      <p:sp>
        <p:nvSpPr>
          <p:cNvPr id="13" name="Text 11"/>
          <p:cNvSpPr/>
          <p:nvPr/>
        </p:nvSpPr>
        <p:spPr>
          <a:xfrm>
            <a:off x="972741" y="4691777"/>
            <a:ext cx="2098596" cy="223242"/>
          </a:xfrm>
          <a:prstGeom prst="rect">
            <a:avLst/>
          </a:prstGeom>
          <a:noFill/>
          <a:ln/>
        </p:spPr>
        <p:txBody>
          <a:bodyPr wrap="none" lIns="0" tIns="0" rIns="0" bIns="0" rtlCol="0" anchor="t"/>
          <a:lstStyle/>
          <a:p>
            <a:pPr>
              <a:lnSpc>
                <a:spcPts val="1750"/>
              </a:lnSpc>
            </a:pPr>
            <a:r>
              <a:rPr lang="en-US" sz="1400" b="1" dirty="0">
                <a:solidFill>
                  <a:srgbClr val="405449"/>
                </a:solidFill>
                <a:latin typeface="Fraunces Extra Bold" pitchFamily="34" charset="0"/>
              </a:rPr>
              <a:t>Claims are slow and paperwork-heavy</a:t>
            </a:r>
          </a:p>
        </p:txBody>
      </p:sp>
      <p:sp>
        <p:nvSpPr>
          <p:cNvPr id="14" name="Text 12"/>
          <p:cNvSpPr/>
          <p:nvPr/>
        </p:nvSpPr>
        <p:spPr>
          <a:xfrm>
            <a:off x="972741" y="5004911"/>
            <a:ext cx="6010275" cy="744855"/>
          </a:xfrm>
          <a:prstGeom prst="rect">
            <a:avLst/>
          </a:prstGeom>
          <a:solidFill>
            <a:srgbClr val="FAFFFA"/>
          </a:solidFill>
          <a:ln w="15240">
            <a:solidFill>
              <a:srgbClr val="CED9CE"/>
            </a:solidFill>
            <a:prstDash val="solid"/>
          </a:ln>
        </p:spPr>
        <p:txBody>
          <a:bodyPr wrap="square" lIns="0" tIns="0" rIns="0" bIns="0" rtlCol="0" anchor="t"/>
          <a:lstStyle/>
          <a:p>
            <a:pPr>
              <a:lnSpc>
                <a:spcPts val="1450"/>
              </a:lnSpc>
            </a:pPr>
            <a:r>
              <a:rPr lang="en-US" sz="1100" dirty="0">
                <a:solidFill>
                  <a:srgbClr val="405449"/>
                </a:solidFill>
                <a:latin typeface="Nobile" pitchFamily="34" charset="0"/>
              </a:rPr>
              <a:t>Traditional claims are manual and delayed, which defeats the purpose for paycheck-to-paycheck workers.</a:t>
            </a:r>
          </a:p>
        </p:txBody>
      </p:sp>
      <p:sp>
        <p:nvSpPr>
          <p:cNvPr id="15" name="Shape 13"/>
          <p:cNvSpPr/>
          <p:nvPr/>
        </p:nvSpPr>
        <p:spPr>
          <a:xfrm>
            <a:off x="769025" y="5997654"/>
            <a:ext cx="6371987" cy="1373981"/>
          </a:xfrm>
          <a:prstGeom prst="roundRect">
            <a:avLst>
              <a:gd name="adj" fmla="val 5324"/>
            </a:avLst>
          </a:prstGeom>
          <a:solidFill>
            <a:srgbClr val="FAFFFA"/>
          </a:solidFill>
          <a:ln w="15240">
            <a:solidFill>
              <a:srgbClr val="CED9CE"/>
            </a:solidFill>
            <a:prstDash val="solid"/>
          </a:ln>
        </p:spPr>
      </p:sp>
      <p:sp>
        <p:nvSpPr>
          <p:cNvPr id="16" name="Shape 14"/>
          <p:cNvSpPr/>
          <p:nvPr/>
        </p:nvSpPr>
        <p:spPr>
          <a:xfrm>
            <a:off x="753785" y="5997654"/>
            <a:ext cx="60960" cy="1373981"/>
          </a:xfrm>
          <a:prstGeom prst="roundRect">
            <a:avLst>
              <a:gd name="adj" fmla="val 210872"/>
            </a:avLst>
          </a:prstGeom>
          <a:solidFill>
            <a:srgbClr val="438951"/>
          </a:solidFill>
          <a:ln/>
        </p:spPr>
      </p:sp>
      <p:sp>
        <p:nvSpPr>
          <p:cNvPr id="17" name="Text 15"/>
          <p:cNvSpPr/>
          <p:nvPr/>
        </p:nvSpPr>
        <p:spPr>
          <a:xfrm>
            <a:off x="972741" y="6155650"/>
            <a:ext cx="1785342" cy="223242"/>
          </a:xfrm>
          <a:prstGeom prst="rect">
            <a:avLst/>
          </a:prstGeom>
          <a:noFill/>
          <a:ln/>
        </p:spPr>
        <p:txBody>
          <a:bodyPr wrap="none" lIns="0" tIns="0" rIns="0" bIns="0" rtlCol="0" anchor="t"/>
          <a:lstStyle/>
          <a:p>
            <a:pPr marL="0" indent="0" algn="l">
              <a:lnSpc>
                <a:spcPts val="1750"/>
              </a:lnSpc>
              <a:buNone/>
            </a:pPr>
            <a:r>
              <a:rPr lang="en-US" sz="1400" b="1" dirty="0">
                <a:solidFill>
                  <a:srgbClr val="405449"/>
                </a:solidFill>
                <a:latin typeface="Fraunces Extra Bold" pitchFamily="34" charset="0"/>
                <a:ea typeface="Fraunces Extra Bold" pitchFamily="34" charset="-122"/>
                <a:cs typeface="Fraunces Extra Bold" pitchFamily="34" charset="-120"/>
              </a:rPr>
              <a:t>Zone-Blind </a:t>
            </a:r>
            <a:r>
              <a:rPr lang="en-US" sz="1400" b="1" dirty="0" err="1">
                <a:solidFill>
                  <a:srgbClr val="405449"/>
                </a:solidFill>
                <a:latin typeface="Fraunces Extra Bold" pitchFamily="34" charset="0"/>
                <a:ea typeface="Fraunces Extra Bold" pitchFamily="34" charset="-122"/>
                <a:cs typeface="Fraunces Extra Bold" pitchFamily="34" charset="-120"/>
              </a:rPr>
              <a:t>Poricing</a:t>
            </a:r>
            <a:r>
              <a:rPr lang="en-US" sz="1400" b="1" dirty="0">
                <a:solidFill>
                  <a:srgbClr val="405449"/>
                </a:solidFill>
                <a:latin typeface="Fraunces Extra Bold" pitchFamily="34" charset="0"/>
                <a:ea typeface="Fraunces Extra Bold" pitchFamily="34" charset="-122"/>
                <a:cs typeface="Fraunces Extra Bold" pitchFamily="34" charset="-120"/>
              </a:rPr>
              <a:t> misses local risk</a:t>
            </a:r>
            <a:endParaRPr lang="en-US" sz="1400" dirty="0"/>
          </a:p>
        </p:txBody>
      </p:sp>
      <p:sp>
        <p:nvSpPr>
          <p:cNvPr id="18" name="Text 16"/>
          <p:cNvSpPr/>
          <p:nvPr/>
        </p:nvSpPr>
        <p:spPr>
          <a:xfrm>
            <a:off x="972741" y="6468785"/>
            <a:ext cx="6010275" cy="744855"/>
          </a:xfrm>
          <a:prstGeom prst="rect">
            <a:avLst/>
          </a:prstGeom>
          <a:noFill/>
          <a:ln/>
        </p:spPr>
        <p:txBody>
          <a:bodyPr wrap="square" lIns="0" tIns="0" rIns="0" bIns="0" rtlCol="0" anchor="t"/>
          <a:lstStyle/>
          <a:p>
            <a:pPr>
              <a:lnSpc>
                <a:spcPts val="1450"/>
              </a:lnSpc>
            </a:pPr>
            <a:r>
              <a:rPr lang="en-US" sz="1100" dirty="0">
                <a:solidFill>
                  <a:srgbClr val="405449"/>
                </a:solidFill>
                <a:latin typeface="Nobile" pitchFamily="34" charset="0"/>
              </a:rPr>
              <a:t>National policies do not recognize micro-market disruptions like one flooded neighborhood or one offline restaurant cluster.</a:t>
            </a:r>
          </a:p>
        </p:txBody>
      </p:sp>
      <p:sp>
        <p:nvSpPr>
          <p:cNvPr id="19" name="Shape 17"/>
          <p:cNvSpPr/>
          <p:nvPr/>
        </p:nvSpPr>
        <p:spPr>
          <a:xfrm>
            <a:off x="7394138" y="1337905"/>
            <a:ext cx="6577727" cy="6134814"/>
          </a:xfrm>
          <a:prstGeom prst="roundRect">
            <a:avLst>
              <a:gd name="adj" fmla="val 3353"/>
            </a:avLst>
          </a:prstGeom>
          <a:solidFill>
            <a:srgbClr val="F5F7FB"/>
          </a:solidFill>
          <a:ln/>
        </p:spPr>
      </p:sp>
      <p:sp>
        <p:nvSpPr>
          <p:cNvPr id="20" name="Shape 18"/>
          <p:cNvSpPr/>
          <p:nvPr/>
        </p:nvSpPr>
        <p:spPr>
          <a:xfrm>
            <a:off x="7536894" y="1438989"/>
            <a:ext cx="1351717" cy="234434"/>
          </a:xfrm>
          <a:prstGeom prst="roundRect">
            <a:avLst>
              <a:gd name="adj" fmla="val 43867"/>
            </a:avLst>
          </a:prstGeom>
          <a:solidFill>
            <a:srgbClr val="DDEEE0"/>
          </a:solidFill>
          <a:ln/>
        </p:spPr>
      </p:sp>
      <p:sp>
        <p:nvSpPr>
          <p:cNvPr id="21" name="Text 19"/>
          <p:cNvSpPr/>
          <p:nvPr/>
        </p:nvSpPr>
        <p:spPr>
          <a:xfrm>
            <a:off x="7622500" y="1481733"/>
            <a:ext cx="1180505" cy="148947"/>
          </a:xfrm>
          <a:prstGeom prst="rect">
            <a:avLst/>
          </a:prstGeom>
          <a:noFill/>
          <a:ln/>
        </p:spPr>
        <p:txBody>
          <a:bodyPr wrap="none" lIns="0" tIns="0" rIns="0" bIns="0" rtlCol="0" anchor="t"/>
          <a:lstStyle/>
          <a:p>
            <a:pPr marL="0" indent="0" algn="l">
              <a:lnSpc>
                <a:spcPts val="1150"/>
              </a:lnSpc>
              <a:buNone/>
            </a:pPr>
            <a:r>
              <a:rPr lang="en-US" sz="850" dirty="0">
                <a:solidFill>
                  <a:srgbClr val="405449"/>
                </a:solidFill>
                <a:latin typeface="Nobile" pitchFamily="34" charset="0"/>
                <a:ea typeface="Nobile" pitchFamily="34" charset="-122"/>
                <a:cs typeface="Nobile" pitchFamily="34" charset="-120"/>
              </a:rPr>
              <a:t>HUSTLR'S SOLUTION</a:t>
            </a:r>
            <a:endParaRPr lang="en-US" sz="850" dirty="0"/>
          </a:p>
        </p:txBody>
      </p:sp>
      <p:sp>
        <p:nvSpPr>
          <p:cNvPr id="22" name="Text 20"/>
          <p:cNvSpPr/>
          <p:nvPr/>
        </p:nvSpPr>
        <p:spPr>
          <a:xfrm>
            <a:off x="7536894" y="1709380"/>
            <a:ext cx="3111460" cy="223242"/>
          </a:xfrm>
          <a:prstGeom prst="rect">
            <a:avLst/>
          </a:prstGeom>
          <a:noFill/>
          <a:ln/>
        </p:spPr>
        <p:txBody>
          <a:bodyPr wrap="none" lIns="0" tIns="0" rIns="0" bIns="0" rtlCol="0" anchor="t"/>
          <a:lstStyle/>
          <a:p>
            <a:pPr marL="0" indent="0" algn="l">
              <a:lnSpc>
                <a:spcPts val="1750"/>
              </a:lnSpc>
              <a:buNone/>
            </a:pPr>
            <a:r>
              <a:rPr lang="en-US" sz="1400" b="1" dirty="0">
                <a:solidFill>
                  <a:srgbClr val="3B4540"/>
                </a:solidFill>
                <a:latin typeface="Fraunces Extra Bold" pitchFamily="34" charset="0"/>
                <a:ea typeface="Fraunces Extra Bold" pitchFamily="34" charset="-122"/>
                <a:cs typeface="Fraunces Extra Bold" pitchFamily="34" charset="-120"/>
              </a:rPr>
              <a:t>Built for Hyper-Local Income Risk</a:t>
            </a:r>
            <a:endParaRPr lang="en-US" sz="1400" dirty="0"/>
          </a:p>
        </p:txBody>
      </p:sp>
      <p:sp>
        <p:nvSpPr>
          <p:cNvPr id="23" name="Text 21"/>
          <p:cNvSpPr/>
          <p:nvPr/>
        </p:nvSpPr>
        <p:spPr>
          <a:xfrm>
            <a:off x="7536894" y="2022515"/>
            <a:ext cx="6292215" cy="558641"/>
          </a:xfrm>
          <a:prstGeom prst="rect">
            <a:avLst/>
          </a:prstGeom>
          <a:noFill/>
          <a:ln/>
        </p:spPr>
        <p:txBody>
          <a:bodyPr wrap="square" lIns="0" tIns="0" rIns="0" bIns="0" rtlCol="0" anchor="t"/>
          <a:lstStyle/>
          <a:p>
            <a:pPr marL="0" indent="0" algn="l">
              <a:lnSpc>
                <a:spcPts val="1450"/>
              </a:lnSpc>
              <a:buNone/>
            </a:pPr>
            <a:r>
              <a:rPr lang="en-US" sz="1100" dirty="0">
                <a:solidFill>
                  <a:srgbClr val="405449"/>
                </a:solidFill>
                <a:latin typeface="Nobile" pitchFamily="34" charset="0"/>
                <a:ea typeface="Nobile" pitchFamily="34" charset="-122"/>
                <a:cs typeface="Nobile" pitchFamily="34" charset="-120"/>
              </a:rPr>
              <a:t>Hustlr is designed around the reality of gig work: small zones, sudden disruptions, and immediate income impact. Instead of waiting for a medical claim, it focuses on </a:t>
            </a:r>
            <a:r>
              <a:rPr lang="en-US" sz="1100" b="1" dirty="0">
                <a:solidFill>
                  <a:srgbClr val="405449"/>
                </a:solidFill>
                <a:latin typeface="Nobile" pitchFamily="34" charset="0"/>
                <a:ea typeface="Nobile" pitchFamily="34" charset="-122"/>
                <a:cs typeface="Nobile" pitchFamily="34" charset="-120"/>
              </a:rPr>
              <a:t>lost earning days</a:t>
            </a:r>
            <a:r>
              <a:rPr lang="en-US" sz="1100" dirty="0">
                <a:solidFill>
                  <a:srgbClr val="405449"/>
                </a:solidFill>
                <a:latin typeface="Nobile" pitchFamily="34" charset="0"/>
                <a:ea typeface="Nobile" pitchFamily="34" charset="-122"/>
                <a:cs typeface="Nobile" pitchFamily="34" charset="-120"/>
              </a:rPr>
              <a:t> and the specific local events that stop work in the first place.</a:t>
            </a:r>
            <a:endParaRPr lang="en-US" sz="1100" dirty="0"/>
          </a:p>
        </p:txBody>
      </p:sp>
      <p:sp>
        <p:nvSpPr>
          <p:cNvPr id="24" name="Shape 22"/>
          <p:cNvSpPr/>
          <p:nvPr/>
        </p:nvSpPr>
        <p:spPr>
          <a:xfrm>
            <a:off x="7536894" y="2682240"/>
            <a:ext cx="3101102" cy="1861780"/>
          </a:xfrm>
          <a:prstGeom prst="roundRect">
            <a:avLst>
              <a:gd name="adj" fmla="val 6905"/>
            </a:avLst>
          </a:prstGeom>
          <a:solidFill>
            <a:srgbClr val="E8F3E8"/>
          </a:solidFill>
          <a:ln/>
        </p:spPr>
      </p:sp>
      <p:sp>
        <p:nvSpPr>
          <p:cNvPr id="25" name="Shape 23"/>
          <p:cNvSpPr/>
          <p:nvPr/>
        </p:nvSpPr>
        <p:spPr>
          <a:xfrm>
            <a:off x="7679650" y="2824996"/>
            <a:ext cx="428387" cy="428387"/>
          </a:xfrm>
          <a:prstGeom prst="roundRect">
            <a:avLst>
              <a:gd name="adj" fmla="val 21343051"/>
            </a:avLst>
          </a:prstGeom>
          <a:solidFill>
            <a:srgbClr val="438951"/>
          </a:solidFill>
          <a:ln/>
        </p:spPr>
      </p:sp>
      <p:pic>
        <p:nvPicPr>
          <p:cNvPr id="2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97403" y="2942749"/>
            <a:ext cx="192762" cy="192762"/>
          </a:xfrm>
          <a:prstGeom prst="rect">
            <a:avLst/>
          </a:prstGeom>
        </p:spPr>
      </p:pic>
      <p:sp>
        <p:nvSpPr>
          <p:cNvPr id="27" name="Text 24"/>
          <p:cNvSpPr/>
          <p:nvPr/>
        </p:nvSpPr>
        <p:spPr>
          <a:xfrm>
            <a:off x="7679650" y="3343275"/>
            <a:ext cx="2109907" cy="223242"/>
          </a:xfrm>
          <a:prstGeom prst="rect">
            <a:avLst/>
          </a:prstGeom>
          <a:noFill/>
          <a:ln/>
        </p:spPr>
        <p:txBody>
          <a:bodyPr wrap="none" lIns="0" tIns="0" rIns="0" bIns="0" rtlCol="0" anchor="t"/>
          <a:lstStyle/>
          <a:p>
            <a:pPr marL="0" indent="0" algn="l">
              <a:lnSpc>
                <a:spcPts val="1750"/>
              </a:lnSpc>
              <a:buNone/>
            </a:pPr>
            <a:r>
              <a:rPr lang="en-US" sz="1400" b="1" dirty="0">
                <a:solidFill>
                  <a:srgbClr val="405449"/>
                </a:solidFill>
                <a:latin typeface="Fraunces Extra Bold" pitchFamily="34" charset="0"/>
                <a:ea typeface="Fraunces Extra Bold" pitchFamily="34" charset="-122"/>
                <a:cs typeface="Fraunces Extra Bold" pitchFamily="34" charset="-120"/>
              </a:rPr>
              <a:t>Zone-Aware Protection</a:t>
            </a:r>
            <a:endParaRPr lang="en-US" sz="1400" dirty="0"/>
          </a:p>
        </p:txBody>
      </p:sp>
      <p:sp>
        <p:nvSpPr>
          <p:cNvPr id="28" name="Text 25"/>
          <p:cNvSpPr/>
          <p:nvPr/>
        </p:nvSpPr>
        <p:spPr>
          <a:xfrm>
            <a:off x="7679650" y="3656409"/>
            <a:ext cx="2815590" cy="744855"/>
          </a:xfrm>
          <a:prstGeom prst="rect">
            <a:avLst/>
          </a:prstGeom>
          <a:noFill/>
          <a:ln/>
        </p:spPr>
        <p:txBody>
          <a:bodyPr wrap="square" lIns="0" tIns="0" rIns="0" bIns="0" rtlCol="0" anchor="t"/>
          <a:lstStyle/>
          <a:p>
            <a:pPr marL="0" indent="0" algn="l">
              <a:lnSpc>
                <a:spcPts val="1450"/>
              </a:lnSpc>
              <a:buNone/>
            </a:pPr>
            <a:r>
              <a:rPr lang="en-US" sz="1100" dirty="0">
                <a:solidFill>
                  <a:srgbClr val="405449"/>
                </a:solidFill>
                <a:latin typeface="Nobile" pitchFamily="34" charset="0"/>
                <a:ea typeface="Nobile" pitchFamily="34" charset="-122"/>
                <a:cs typeface="Nobile" pitchFamily="34" charset="-120"/>
              </a:rPr>
              <a:t>Coverage is tied to the exact delivery area, so a disruption in one micro-market can be recognized as real income risk.</a:t>
            </a:r>
            <a:endParaRPr lang="en-US" sz="1100" dirty="0"/>
          </a:p>
        </p:txBody>
      </p:sp>
      <p:sp>
        <p:nvSpPr>
          <p:cNvPr id="29" name="Shape 26"/>
          <p:cNvSpPr/>
          <p:nvPr/>
        </p:nvSpPr>
        <p:spPr>
          <a:xfrm>
            <a:off x="10727888" y="2682240"/>
            <a:ext cx="3101221" cy="1861780"/>
          </a:xfrm>
          <a:prstGeom prst="roundRect">
            <a:avLst>
              <a:gd name="adj" fmla="val 6905"/>
            </a:avLst>
          </a:prstGeom>
          <a:solidFill>
            <a:srgbClr val="E8F3E8"/>
          </a:solidFill>
          <a:ln/>
        </p:spPr>
      </p:sp>
      <p:sp>
        <p:nvSpPr>
          <p:cNvPr id="30" name="Shape 27"/>
          <p:cNvSpPr/>
          <p:nvPr/>
        </p:nvSpPr>
        <p:spPr>
          <a:xfrm>
            <a:off x="10870644" y="2824996"/>
            <a:ext cx="428387" cy="428387"/>
          </a:xfrm>
          <a:prstGeom prst="roundRect">
            <a:avLst>
              <a:gd name="adj" fmla="val 21343051"/>
            </a:avLst>
          </a:prstGeom>
          <a:solidFill>
            <a:srgbClr val="438951"/>
          </a:solidFill>
          <a:ln/>
        </p:spPr>
      </p:sp>
      <p:pic>
        <p:nvPicPr>
          <p:cNvPr id="3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88397" y="2942749"/>
            <a:ext cx="192762" cy="192762"/>
          </a:xfrm>
          <a:prstGeom prst="rect">
            <a:avLst/>
          </a:prstGeom>
        </p:spPr>
      </p:pic>
      <p:sp>
        <p:nvSpPr>
          <p:cNvPr id="32" name="Text 28"/>
          <p:cNvSpPr/>
          <p:nvPr/>
        </p:nvSpPr>
        <p:spPr>
          <a:xfrm>
            <a:off x="10870644" y="3343275"/>
            <a:ext cx="2042636" cy="223242"/>
          </a:xfrm>
          <a:prstGeom prst="rect">
            <a:avLst/>
          </a:prstGeom>
          <a:noFill/>
          <a:ln/>
        </p:spPr>
        <p:txBody>
          <a:bodyPr wrap="none" lIns="0" tIns="0" rIns="0" bIns="0" rtlCol="0" anchor="t"/>
          <a:lstStyle/>
          <a:p>
            <a:pPr marL="0" indent="0" algn="l">
              <a:lnSpc>
                <a:spcPts val="1750"/>
              </a:lnSpc>
              <a:buNone/>
            </a:pPr>
            <a:r>
              <a:rPr lang="en-US" sz="1400" b="1" dirty="0">
                <a:solidFill>
                  <a:srgbClr val="405449"/>
                </a:solidFill>
                <a:latin typeface="Fraunces Extra Bold" pitchFamily="34" charset="0"/>
                <a:ea typeface="Fraunces Extra Bold" pitchFamily="34" charset="-122"/>
                <a:cs typeface="Fraunces Extra Bold" pitchFamily="34" charset="-120"/>
              </a:rPr>
              <a:t>Instant Trigger Events</a:t>
            </a:r>
            <a:endParaRPr lang="en-US" sz="1400" dirty="0"/>
          </a:p>
        </p:txBody>
      </p:sp>
      <p:sp>
        <p:nvSpPr>
          <p:cNvPr id="33" name="Text 29"/>
          <p:cNvSpPr/>
          <p:nvPr/>
        </p:nvSpPr>
        <p:spPr>
          <a:xfrm>
            <a:off x="10870644" y="3656409"/>
            <a:ext cx="2815709" cy="744855"/>
          </a:xfrm>
          <a:prstGeom prst="rect">
            <a:avLst/>
          </a:prstGeom>
          <a:noFill/>
          <a:ln/>
        </p:spPr>
        <p:txBody>
          <a:bodyPr wrap="square" lIns="0" tIns="0" rIns="0" bIns="0" rtlCol="0" anchor="t"/>
          <a:lstStyle/>
          <a:p>
            <a:pPr marL="0" indent="0" algn="l">
              <a:lnSpc>
                <a:spcPts val="1450"/>
              </a:lnSpc>
              <a:buNone/>
            </a:pPr>
            <a:r>
              <a:rPr lang="en-US" sz="1100" dirty="0">
                <a:solidFill>
                  <a:srgbClr val="405449"/>
                </a:solidFill>
                <a:latin typeface="Nobile" pitchFamily="34" charset="0"/>
                <a:ea typeface="Nobile" pitchFamily="34" charset="-122"/>
                <a:cs typeface="Nobile" pitchFamily="34" charset="-120"/>
              </a:rPr>
              <a:t>Rain, outages, curfews, or platform shutdowns can activate support when work stops — not days later after paperwork.</a:t>
            </a:r>
            <a:endParaRPr lang="en-US" sz="1100" dirty="0"/>
          </a:p>
        </p:txBody>
      </p:sp>
      <p:sp>
        <p:nvSpPr>
          <p:cNvPr id="34" name="Shape 30"/>
          <p:cNvSpPr/>
          <p:nvPr/>
        </p:nvSpPr>
        <p:spPr>
          <a:xfrm>
            <a:off x="7536894" y="4633913"/>
            <a:ext cx="6292215" cy="1489353"/>
          </a:xfrm>
          <a:prstGeom prst="roundRect">
            <a:avLst>
              <a:gd name="adj" fmla="val 8631"/>
            </a:avLst>
          </a:prstGeom>
          <a:solidFill>
            <a:srgbClr val="E8F3E8"/>
          </a:solidFill>
          <a:ln/>
        </p:spPr>
      </p:sp>
      <p:sp>
        <p:nvSpPr>
          <p:cNvPr id="35" name="Shape 31"/>
          <p:cNvSpPr/>
          <p:nvPr/>
        </p:nvSpPr>
        <p:spPr>
          <a:xfrm>
            <a:off x="7679650" y="4776668"/>
            <a:ext cx="428387" cy="428387"/>
          </a:xfrm>
          <a:prstGeom prst="roundRect">
            <a:avLst>
              <a:gd name="adj" fmla="val 21343051"/>
            </a:avLst>
          </a:prstGeom>
          <a:solidFill>
            <a:srgbClr val="438951"/>
          </a:solidFill>
          <a:ln/>
        </p:spPr>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97403" y="4894421"/>
            <a:ext cx="192762" cy="192762"/>
          </a:xfrm>
          <a:prstGeom prst="rect">
            <a:avLst/>
          </a:prstGeom>
        </p:spPr>
      </p:pic>
      <p:sp>
        <p:nvSpPr>
          <p:cNvPr id="37" name="Text 32"/>
          <p:cNvSpPr/>
          <p:nvPr/>
        </p:nvSpPr>
        <p:spPr>
          <a:xfrm>
            <a:off x="7679650" y="5294948"/>
            <a:ext cx="1967984" cy="223242"/>
          </a:xfrm>
          <a:prstGeom prst="rect">
            <a:avLst/>
          </a:prstGeom>
          <a:noFill/>
          <a:ln/>
        </p:spPr>
        <p:txBody>
          <a:bodyPr wrap="none" lIns="0" tIns="0" rIns="0" bIns="0" rtlCol="0" anchor="t"/>
          <a:lstStyle/>
          <a:p>
            <a:pPr marL="0" indent="0" algn="l">
              <a:lnSpc>
                <a:spcPts val="1750"/>
              </a:lnSpc>
              <a:buNone/>
            </a:pPr>
            <a:r>
              <a:rPr lang="en-US" sz="1400" b="1" dirty="0">
                <a:solidFill>
                  <a:srgbClr val="405449"/>
                </a:solidFill>
                <a:latin typeface="Fraunces Extra Bold" pitchFamily="34" charset="0"/>
                <a:ea typeface="Fraunces Extra Bold" pitchFamily="34" charset="-122"/>
                <a:cs typeface="Fraunces Extra Bold" pitchFamily="34" charset="-120"/>
              </a:rPr>
              <a:t>Income-First Payouts</a:t>
            </a:r>
            <a:endParaRPr lang="en-US" sz="1400" dirty="0"/>
          </a:p>
        </p:txBody>
      </p:sp>
      <p:sp>
        <p:nvSpPr>
          <p:cNvPr id="38" name="Text 33"/>
          <p:cNvSpPr/>
          <p:nvPr/>
        </p:nvSpPr>
        <p:spPr>
          <a:xfrm>
            <a:off x="7679650" y="5608082"/>
            <a:ext cx="6006703" cy="372428"/>
          </a:xfrm>
          <a:prstGeom prst="rect">
            <a:avLst/>
          </a:prstGeom>
          <a:noFill/>
          <a:ln/>
        </p:spPr>
        <p:txBody>
          <a:bodyPr wrap="square" lIns="0" tIns="0" rIns="0" bIns="0" rtlCol="0" anchor="t"/>
          <a:lstStyle/>
          <a:p>
            <a:pPr marL="0" indent="0" algn="l">
              <a:lnSpc>
                <a:spcPts val="1450"/>
              </a:lnSpc>
              <a:buNone/>
            </a:pPr>
            <a:r>
              <a:rPr lang="en-US" sz="1100" dirty="0">
                <a:solidFill>
                  <a:srgbClr val="405449"/>
                </a:solidFill>
                <a:latin typeface="Nobile" pitchFamily="34" charset="0"/>
                <a:ea typeface="Nobile" pitchFamily="34" charset="-122"/>
                <a:cs typeface="Nobile" pitchFamily="34" charset="-120"/>
              </a:rPr>
              <a:t>The product is built to protect today’s paycheck, helping workers stay afloat when fixed expenses keep coming.</a:t>
            </a:r>
            <a:endParaRPr lang="en-US" sz="1100" dirty="0"/>
          </a:p>
        </p:txBody>
      </p:sp>
      <p:sp>
        <p:nvSpPr>
          <p:cNvPr id="39" name="Shape 34"/>
          <p:cNvSpPr/>
          <p:nvPr/>
        </p:nvSpPr>
        <p:spPr>
          <a:xfrm>
            <a:off x="7536894" y="6224349"/>
            <a:ext cx="6292215" cy="650081"/>
          </a:xfrm>
          <a:prstGeom prst="roundRect">
            <a:avLst>
              <a:gd name="adj" fmla="val 19774"/>
            </a:avLst>
          </a:prstGeom>
          <a:solidFill>
            <a:srgbClr val="B6FCB8"/>
          </a:solidFill>
          <a:ln/>
        </p:spPr>
      </p:sp>
      <p:pic>
        <p:nvPicPr>
          <p:cNvPr id="40" name="Image 3" descr="preencoded.png"/>
          <p:cNvPicPr>
            <a:picLocks noChangeAspect="1"/>
          </p:cNvPicPr>
          <p:nvPr/>
        </p:nvPicPr>
        <p:blipFill>
          <a:blip r:embed="rId6"/>
          <a:stretch>
            <a:fillRect/>
          </a:stretch>
        </p:blipFill>
        <p:spPr>
          <a:xfrm>
            <a:off x="7679650" y="6407229"/>
            <a:ext cx="178475" cy="142756"/>
          </a:xfrm>
          <a:prstGeom prst="rect">
            <a:avLst/>
          </a:prstGeom>
        </p:spPr>
      </p:pic>
      <p:sp>
        <p:nvSpPr>
          <p:cNvPr id="41" name="Text 35"/>
          <p:cNvSpPr/>
          <p:nvPr/>
        </p:nvSpPr>
        <p:spPr>
          <a:xfrm>
            <a:off x="8000881" y="6349841"/>
            <a:ext cx="5685473" cy="372428"/>
          </a:xfrm>
          <a:prstGeom prst="rect">
            <a:avLst/>
          </a:prstGeom>
          <a:noFill/>
          <a:ln/>
        </p:spPr>
        <p:txBody>
          <a:bodyPr wrap="square" lIns="0" tIns="0" rIns="0" bIns="0" rtlCol="0" anchor="t"/>
          <a:lstStyle/>
          <a:p>
            <a:pPr marL="0" indent="0" algn="l">
              <a:lnSpc>
                <a:spcPts val="1450"/>
              </a:lnSpc>
              <a:buNone/>
            </a:pPr>
            <a:r>
              <a:rPr lang="en-US" sz="1100" dirty="0" err="1">
                <a:solidFill>
                  <a:srgbClr val="000000"/>
                </a:solidFill>
                <a:latin typeface="Nobile" pitchFamily="34" charset="0"/>
                <a:ea typeface="Nobile" pitchFamily="34" charset="-122"/>
                <a:cs typeface="Nobile" pitchFamily="34" charset="-120"/>
              </a:rPr>
              <a:t>Hustlr</a:t>
            </a:r>
            <a:r>
              <a:rPr lang="en-US" sz="1100" dirty="0">
                <a:solidFill>
                  <a:srgbClr val="000000"/>
                </a:solidFill>
                <a:latin typeface="Nobile" pitchFamily="34" charset="0"/>
                <a:ea typeface="Nobile" pitchFamily="34" charset="-122"/>
                <a:cs typeface="Nobile" pitchFamily="34" charset="-120"/>
              </a:rPr>
              <a:t> matches the way gig income actually breaks — locally, suddenly, and repeatedly.</a:t>
            </a:r>
            <a:endParaRPr lang="en-US" sz="1100" dirty="0"/>
          </a:p>
        </p:txBody>
      </p:sp>
      <p:sp>
        <p:nvSpPr>
          <p:cNvPr id="42" name="Rectangle 41">
            <a:extLst>
              <a:ext uri="{FF2B5EF4-FFF2-40B4-BE49-F238E27FC236}">
                <a16:creationId xmlns:a16="http://schemas.microsoft.com/office/drawing/2014/main" id="{9E9017B2-24C9-DD62-F451-7590D74356E9}"/>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24E6F609-D222-F173-873B-966D7430E4A4}"/>
              </a:ext>
            </a:extLst>
          </p:cNvPr>
          <p:cNvSpPr txBox="1"/>
          <p:nvPr/>
        </p:nvSpPr>
        <p:spPr>
          <a:xfrm>
            <a:off x="638038" y="429220"/>
            <a:ext cx="5874215" cy="276999"/>
          </a:xfrm>
          <a:prstGeom prst="rect">
            <a:avLst/>
          </a:prstGeom>
          <a:noFill/>
        </p:spPr>
        <p:txBody>
          <a:bodyPr wrap="square" rtlCol="0">
            <a:spAutoFit/>
          </a:bodyPr>
          <a:lstStyle/>
          <a:p>
            <a:r>
              <a:rPr lang="en-US" sz="1200" dirty="0">
                <a:latin typeface="Nobile" panose="020B0604020202020204" charset="0"/>
              </a:rPr>
              <a:t>What happened to Karthik is not rare — it happens millions of times every day.</a:t>
            </a:r>
            <a:endParaRPr lang="en-IN" sz="1200" dirty="0">
              <a:latin typeface="Nobile"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769025" y="667345"/>
            <a:ext cx="4120039" cy="514945"/>
          </a:xfrm>
          <a:prstGeom prst="rect">
            <a:avLst/>
          </a:prstGeom>
          <a:noFill/>
          <a:ln/>
        </p:spPr>
        <p:txBody>
          <a:bodyPr wrap="none" lIns="0" tIns="0" rIns="0" bIns="0" rtlCol="0" anchor="t"/>
          <a:lstStyle/>
          <a:p>
            <a:pPr marL="0" indent="0" algn="l">
              <a:lnSpc>
                <a:spcPts val="4050"/>
              </a:lnSpc>
              <a:buNone/>
            </a:pPr>
            <a:r>
              <a:rPr lang="en-US" sz="3200" b="1" dirty="0">
                <a:solidFill>
                  <a:srgbClr val="3B4540"/>
                </a:solidFill>
                <a:latin typeface="Fraunces Extra Bold" pitchFamily="34" charset="0"/>
                <a:ea typeface="Fraunces Extra Bold" pitchFamily="34" charset="-122"/>
                <a:cs typeface="Fraunces Extra Bold" pitchFamily="34" charset="-120"/>
              </a:rPr>
              <a:t>Introducing Hustlr</a:t>
            </a:r>
            <a:endParaRPr lang="en-US" sz="3200" dirty="0"/>
          </a:p>
        </p:txBody>
      </p:sp>
      <p:sp>
        <p:nvSpPr>
          <p:cNvPr id="4" name="Text 1"/>
          <p:cNvSpPr/>
          <p:nvPr/>
        </p:nvSpPr>
        <p:spPr>
          <a:xfrm>
            <a:off x="769025" y="1361837"/>
            <a:ext cx="7605951" cy="682585"/>
          </a:xfrm>
          <a:prstGeom prst="rect">
            <a:avLst/>
          </a:prstGeom>
          <a:noFill/>
          <a:ln/>
        </p:spPr>
        <p:txBody>
          <a:bodyPr wrap="square" lIns="0" tIns="0" rIns="0" bIns="0" rtlCol="0" anchor="t"/>
          <a:lstStyle/>
          <a:p>
            <a:pPr marL="0" indent="0" algn="ctr">
              <a:lnSpc>
                <a:spcPts val="1750"/>
              </a:lnSpc>
              <a:buNone/>
            </a:pPr>
            <a:r>
              <a:rPr lang="en-US" sz="1250" b="1" dirty="0">
                <a:solidFill>
                  <a:srgbClr val="405449"/>
                </a:solidFill>
                <a:latin typeface="Nobile" pitchFamily="34" charset="0"/>
                <a:ea typeface="Nobile" pitchFamily="34" charset="-122"/>
                <a:cs typeface="Nobile" pitchFamily="34" charset="-120"/>
              </a:rPr>
              <a:t>Parametric Income Protection Engine for Gig Delivery Workers</a:t>
            </a:r>
            <a:r>
              <a:rPr lang="en-US" sz="1250" dirty="0">
                <a:solidFill>
                  <a:srgbClr val="405449"/>
                </a:solidFill>
                <a:latin typeface="Nobile" pitchFamily="34" charset="0"/>
                <a:ea typeface="Nobile" pitchFamily="34" charset="-122"/>
                <a:cs typeface="Nobile" pitchFamily="34" charset="-120"/>
              </a:rPr>
              <a:t>— built from the ground up for India's gig delivery workforce, with automated protection designed to respond instantly when a shift in conditions threatens a worker's earnings.</a:t>
            </a:r>
            <a:endParaRPr lang="en-US" sz="1250" dirty="0"/>
          </a:p>
        </p:txBody>
      </p:sp>
      <p:sp>
        <p:nvSpPr>
          <p:cNvPr id="5" name="Text 2"/>
          <p:cNvSpPr/>
          <p:nvPr/>
        </p:nvSpPr>
        <p:spPr>
          <a:xfrm>
            <a:off x="1235035" y="2261473"/>
            <a:ext cx="2796064" cy="543758"/>
          </a:xfrm>
          <a:prstGeom prst="rect">
            <a:avLst/>
          </a:prstGeom>
          <a:noFill/>
          <a:ln/>
        </p:spPr>
        <p:txBody>
          <a:bodyPr wrap="none" lIns="0" tIns="0" rIns="0" bIns="0" rtlCol="0" anchor="t"/>
          <a:lstStyle/>
          <a:p>
            <a:pPr marL="0" indent="0" algn="ctr">
              <a:lnSpc>
                <a:spcPts val="4250"/>
              </a:lnSpc>
              <a:buNone/>
            </a:pPr>
            <a:r>
              <a:rPr lang="en-US" sz="4250" b="1" dirty="0">
                <a:solidFill>
                  <a:srgbClr val="405449"/>
                </a:solidFill>
                <a:latin typeface="Fraunces Extra Bold" pitchFamily="34" charset="0"/>
                <a:ea typeface="Fraunces Extra Bold" pitchFamily="34" charset="-122"/>
                <a:cs typeface="Fraunces Extra Bold" pitchFamily="34" charset="-120"/>
              </a:rPr>
              <a:t>Real-Time</a:t>
            </a:r>
            <a:endParaRPr lang="en-US" sz="4250" dirty="0"/>
          </a:p>
        </p:txBody>
      </p:sp>
      <p:sp>
        <p:nvSpPr>
          <p:cNvPr id="6" name="Text 3"/>
          <p:cNvSpPr/>
          <p:nvPr/>
        </p:nvSpPr>
        <p:spPr>
          <a:xfrm>
            <a:off x="1603058" y="2977396"/>
            <a:ext cx="2060019" cy="257413"/>
          </a:xfrm>
          <a:prstGeom prst="rect">
            <a:avLst/>
          </a:prstGeom>
          <a:noFill/>
          <a:ln/>
        </p:spPr>
        <p:txBody>
          <a:bodyPr wrap="none" lIns="0" tIns="0" rIns="0" bIns="0" rtlCol="0" anchor="t"/>
          <a:lstStyle/>
          <a:p>
            <a:pPr marL="0" indent="0" algn="ctr">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Disruption Monitoring</a:t>
            </a:r>
            <a:endParaRPr lang="en-US" sz="1600" dirty="0"/>
          </a:p>
        </p:txBody>
      </p:sp>
      <p:sp>
        <p:nvSpPr>
          <p:cNvPr id="7" name="Text 4"/>
          <p:cNvSpPr/>
          <p:nvPr/>
        </p:nvSpPr>
        <p:spPr>
          <a:xfrm>
            <a:off x="769025" y="3306604"/>
            <a:ext cx="3728085" cy="455057"/>
          </a:xfrm>
          <a:prstGeom prst="rect">
            <a:avLst/>
          </a:prstGeom>
          <a:noFill/>
          <a:ln/>
        </p:spPr>
        <p:txBody>
          <a:bodyPr wrap="square" lIns="0" tIns="0" rIns="0" bIns="0" rtlCol="0" anchor="t"/>
          <a:lstStyle/>
          <a:p>
            <a:pPr marL="0" indent="0" algn="ctr">
              <a:lnSpc>
                <a:spcPts val="1750"/>
              </a:lnSpc>
              <a:buNone/>
            </a:pPr>
            <a:r>
              <a:rPr lang="en-US" sz="1250" dirty="0">
                <a:solidFill>
                  <a:srgbClr val="405449"/>
                </a:solidFill>
                <a:latin typeface="Nobile" pitchFamily="34" charset="0"/>
                <a:ea typeface="Nobile" pitchFamily="34" charset="-122"/>
                <a:cs typeface="Nobile" pitchFamily="34" charset="-120"/>
              </a:rPr>
              <a:t>Continuous detection of disruption triggers across weather, traffic, and platform signals.</a:t>
            </a:r>
            <a:endParaRPr lang="en-US" sz="1250" dirty="0"/>
          </a:p>
        </p:txBody>
      </p:sp>
      <p:sp>
        <p:nvSpPr>
          <p:cNvPr id="8" name="Text 5"/>
          <p:cNvSpPr/>
          <p:nvPr/>
        </p:nvSpPr>
        <p:spPr>
          <a:xfrm>
            <a:off x="5112782" y="2261473"/>
            <a:ext cx="2796064" cy="543758"/>
          </a:xfrm>
          <a:prstGeom prst="rect">
            <a:avLst/>
          </a:prstGeom>
          <a:noFill/>
          <a:ln/>
        </p:spPr>
        <p:txBody>
          <a:bodyPr wrap="none" lIns="0" tIns="0" rIns="0" bIns="0" rtlCol="0" anchor="t"/>
          <a:lstStyle/>
          <a:p>
            <a:pPr marL="0" indent="0" algn="ctr">
              <a:lnSpc>
                <a:spcPts val="4250"/>
              </a:lnSpc>
              <a:buNone/>
            </a:pPr>
            <a:r>
              <a:rPr lang="en-US" sz="4250" b="1" dirty="0">
                <a:solidFill>
                  <a:srgbClr val="405449"/>
                </a:solidFill>
                <a:latin typeface="Fraunces Extra Bold" pitchFamily="34" charset="0"/>
              </a:rPr>
              <a:t>Automatic</a:t>
            </a:r>
            <a:endParaRPr lang="en-US" sz="4250" dirty="0"/>
          </a:p>
        </p:txBody>
      </p:sp>
      <p:sp>
        <p:nvSpPr>
          <p:cNvPr id="9" name="Text 6"/>
          <p:cNvSpPr/>
          <p:nvPr/>
        </p:nvSpPr>
        <p:spPr>
          <a:xfrm>
            <a:off x="5480804" y="2977396"/>
            <a:ext cx="2060019" cy="257413"/>
          </a:xfrm>
          <a:prstGeom prst="rect">
            <a:avLst/>
          </a:prstGeom>
          <a:noFill/>
          <a:ln/>
        </p:spPr>
        <p:txBody>
          <a:bodyPr wrap="none" lIns="0" tIns="0" rIns="0" bIns="0" rtlCol="0" anchor="t"/>
          <a:lstStyle/>
          <a:p>
            <a:pPr marL="0" indent="0" algn="ctr">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Trigger Validation</a:t>
            </a:r>
            <a:endParaRPr lang="en-US" sz="1600" dirty="0"/>
          </a:p>
        </p:txBody>
      </p:sp>
      <p:sp>
        <p:nvSpPr>
          <p:cNvPr id="10" name="Text 7"/>
          <p:cNvSpPr/>
          <p:nvPr/>
        </p:nvSpPr>
        <p:spPr>
          <a:xfrm>
            <a:off x="4646771" y="3306604"/>
            <a:ext cx="3728204" cy="455057"/>
          </a:xfrm>
          <a:prstGeom prst="rect">
            <a:avLst/>
          </a:prstGeom>
          <a:noFill/>
          <a:ln/>
        </p:spPr>
        <p:txBody>
          <a:bodyPr wrap="square" lIns="0" tIns="0" rIns="0" bIns="0" rtlCol="0" anchor="t"/>
          <a:lstStyle/>
          <a:p>
            <a:pPr marL="0" indent="0" algn="ctr">
              <a:lnSpc>
                <a:spcPts val="1750"/>
              </a:lnSpc>
              <a:buNone/>
            </a:pPr>
            <a:r>
              <a:rPr lang="en-US" sz="1250" dirty="0">
                <a:solidFill>
                  <a:srgbClr val="405449"/>
                </a:solidFill>
                <a:latin typeface="Nobile" pitchFamily="34" charset="0"/>
                <a:ea typeface="Nobile" pitchFamily="34" charset="-122"/>
                <a:cs typeface="Nobile" pitchFamily="34" charset="-120"/>
              </a:rPr>
              <a:t>Payouts are triggered automatically — no forms, no paperwork, no waiting.</a:t>
            </a:r>
            <a:endParaRPr lang="en-US" sz="1250" dirty="0"/>
          </a:p>
        </p:txBody>
      </p:sp>
      <p:sp>
        <p:nvSpPr>
          <p:cNvPr id="11" name="Text 8"/>
          <p:cNvSpPr/>
          <p:nvPr/>
        </p:nvSpPr>
        <p:spPr>
          <a:xfrm>
            <a:off x="3173849" y="4083487"/>
            <a:ext cx="2796064" cy="543758"/>
          </a:xfrm>
          <a:prstGeom prst="rect">
            <a:avLst/>
          </a:prstGeom>
          <a:noFill/>
          <a:ln/>
        </p:spPr>
        <p:txBody>
          <a:bodyPr wrap="none" lIns="0" tIns="0" rIns="0" bIns="0" rtlCol="0" anchor="t"/>
          <a:lstStyle/>
          <a:p>
            <a:pPr marL="0" indent="0" algn="ctr">
              <a:lnSpc>
                <a:spcPts val="4250"/>
              </a:lnSpc>
              <a:buNone/>
            </a:pPr>
            <a:r>
              <a:rPr lang="en-US" sz="4250" b="1" dirty="0">
                <a:solidFill>
                  <a:srgbClr val="405449"/>
                </a:solidFill>
                <a:latin typeface="Fraunces Extra Bold" pitchFamily="34" charset="0"/>
                <a:ea typeface="Fraunces Extra Bold" pitchFamily="34" charset="-122"/>
                <a:cs typeface="Fraunces Extra Bold" pitchFamily="34" charset="-120"/>
              </a:rPr>
              <a:t>UPI payout</a:t>
            </a:r>
            <a:endParaRPr lang="en-US" sz="4250" dirty="0"/>
          </a:p>
        </p:txBody>
      </p:sp>
      <p:sp>
        <p:nvSpPr>
          <p:cNvPr id="12" name="Text 9"/>
          <p:cNvSpPr/>
          <p:nvPr/>
        </p:nvSpPr>
        <p:spPr>
          <a:xfrm>
            <a:off x="3541871" y="4799409"/>
            <a:ext cx="2060019" cy="257413"/>
          </a:xfrm>
          <a:prstGeom prst="rect">
            <a:avLst/>
          </a:prstGeom>
          <a:noFill/>
          <a:ln/>
        </p:spPr>
        <p:txBody>
          <a:bodyPr wrap="none" lIns="0" tIns="0" rIns="0" bIns="0" rtlCol="0" anchor="t"/>
          <a:lstStyle/>
          <a:p>
            <a:pPr marL="0" indent="0" algn="ctr">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In Minutes</a:t>
            </a:r>
            <a:endParaRPr lang="en-US" sz="1600" dirty="0"/>
          </a:p>
        </p:txBody>
      </p:sp>
      <p:sp>
        <p:nvSpPr>
          <p:cNvPr id="13" name="Text 10"/>
          <p:cNvSpPr/>
          <p:nvPr/>
        </p:nvSpPr>
        <p:spPr>
          <a:xfrm>
            <a:off x="2707838" y="5128617"/>
            <a:ext cx="3728204" cy="455057"/>
          </a:xfrm>
          <a:prstGeom prst="rect">
            <a:avLst/>
          </a:prstGeom>
          <a:noFill/>
          <a:ln/>
        </p:spPr>
        <p:txBody>
          <a:bodyPr wrap="square" lIns="0" tIns="0" rIns="0" bIns="0" rtlCol="0" anchor="t"/>
          <a:lstStyle/>
          <a:p>
            <a:pPr marL="0" indent="0" algn="ctr">
              <a:lnSpc>
                <a:spcPts val="1750"/>
              </a:lnSpc>
              <a:buNone/>
            </a:pPr>
            <a:r>
              <a:rPr lang="en-US" sz="1250" dirty="0">
                <a:solidFill>
                  <a:srgbClr val="405449"/>
                </a:solidFill>
                <a:latin typeface="Nobile" pitchFamily="34" charset="0"/>
                <a:ea typeface="Nobile" pitchFamily="34" charset="-122"/>
                <a:cs typeface="Nobile" pitchFamily="34" charset="-120"/>
              </a:rPr>
              <a:t>Verified payouts deposited directly to the worker's UPI wallet within 3 minutes.</a:t>
            </a:r>
            <a:endParaRPr lang="en-US" sz="1250" dirty="0"/>
          </a:p>
        </p:txBody>
      </p:sp>
      <p:sp>
        <p:nvSpPr>
          <p:cNvPr id="14" name="Shape 11"/>
          <p:cNvSpPr/>
          <p:nvPr/>
        </p:nvSpPr>
        <p:spPr>
          <a:xfrm>
            <a:off x="769025" y="5759529"/>
            <a:ext cx="7605951" cy="12263"/>
          </a:xfrm>
          <a:prstGeom prst="rect">
            <a:avLst/>
          </a:prstGeom>
          <a:solidFill>
            <a:srgbClr val="405449">
              <a:alpha val="50000"/>
            </a:srgbClr>
          </a:solidFill>
          <a:ln/>
        </p:spPr>
      </p:sp>
      <p:sp>
        <p:nvSpPr>
          <p:cNvPr id="15" name="Shape 12"/>
          <p:cNvSpPr/>
          <p:nvPr/>
        </p:nvSpPr>
        <p:spPr>
          <a:xfrm>
            <a:off x="769025" y="5947648"/>
            <a:ext cx="3743087" cy="1614607"/>
          </a:xfrm>
          <a:prstGeom prst="roundRect">
            <a:avLst>
              <a:gd name="adj" fmla="val 6796"/>
            </a:avLst>
          </a:prstGeom>
          <a:solidFill>
            <a:srgbClr val="FAFFFA"/>
          </a:solidFill>
          <a:ln w="22860">
            <a:solidFill>
              <a:srgbClr val="CED9CE"/>
            </a:solidFill>
            <a:prstDash val="solid"/>
          </a:ln>
        </p:spPr>
      </p:sp>
      <p:sp>
        <p:nvSpPr>
          <p:cNvPr id="16" name="Shape 13"/>
          <p:cNvSpPr/>
          <p:nvPr/>
        </p:nvSpPr>
        <p:spPr>
          <a:xfrm>
            <a:off x="746165" y="5947648"/>
            <a:ext cx="91440" cy="1614607"/>
          </a:xfrm>
          <a:prstGeom prst="roundRect">
            <a:avLst>
              <a:gd name="adj" fmla="val 162209"/>
            </a:avLst>
          </a:prstGeom>
          <a:solidFill>
            <a:srgbClr val="438951"/>
          </a:solidFill>
          <a:ln/>
        </p:spPr>
      </p:sp>
      <p:sp>
        <p:nvSpPr>
          <p:cNvPr id="17" name="Text 14"/>
          <p:cNvSpPr/>
          <p:nvPr/>
        </p:nvSpPr>
        <p:spPr>
          <a:xfrm>
            <a:off x="1025247" y="6135291"/>
            <a:ext cx="2060019"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rPr>
              <a:t>Protection:</a:t>
            </a:r>
            <a:endParaRPr lang="en-US" sz="1600" dirty="0"/>
          </a:p>
        </p:txBody>
      </p:sp>
      <p:sp>
        <p:nvSpPr>
          <p:cNvPr id="18" name="Text 15"/>
          <p:cNvSpPr/>
          <p:nvPr/>
        </p:nvSpPr>
        <p:spPr>
          <a:xfrm>
            <a:off x="1025247" y="6464498"/>
            <a:ext cx="3299222" cy="910114"/>
          </a:xfrm>
          <a:prstGeom prst="rect">
            <a:avLst/>
          </a:prstGeom>
          <a:noFill/>
          <a:ln/>
        </p:spPr>
        <p:txBody>
          <a:bodyPr wrap="square" lIns="0" tIns="0" rIns="0" bIns="0" rtlCol="0" anchor="t"/>
          <a:lstStyle/>
          <a:p>
            <a:r>
              <a:rPr lang="en-US" sz="1250" dirty="0">
                <a:solidFill>
                  <a:srgbClr val="405449"/>
                </a:solidFill>
                <a:latin typeface="Nobile" pitchFamily="34" charset="0"/>
              </a:rPr>
              <a:t>Rain is detected automatically.</a:t>
            </a:r>
            <a:br>
              <a:rPr lang="en-US" sz="1250" dirty="0">
                <a:solidFill>
                  <a:srgbClr val="405449"/>
                </a:solidFill>
                <a:latin typeface="Nobile" pitchFamily="34" charset="0"/>
              </a:rPr>
            </a:br>
            <a:r>
              <a:rPr lang="en-US" sz="1250" dirty="0">
                <a:solidFill>
                  <a:srgbClr val="405449"/>
                </a:solidFill>
                <a:latin typeface="Nobile" pitchFamily="34" charset="0"/>
              </a:rPr>
              <a:t>₹500 is credited instantly to Karthik’s UPI — no claim, no paperwork.</a:t>
            </a:r>
          </a:p>
        </p:txBody>
      </p:sp>
      <p:sp>
        <p:nvSpPr>
          <p:cNvPr id="19" name="Shape 16"/>
          <p:cNvSpPr/>
          <p:nvPr/>
        </p:nvSpPr>
        <p:spPr>
          <a:xfrm>
            <a:off x="4631769" y="5947648"/>
            <a:ext cx="3743206" cy="1614607"/>
          </a:xfrm>
          <a:prstGeom prst="roundRect">
            <a:avLst>
              <a:gd name="adj" fmla="val 6796"/>
            </a:avLst>
          </a:prstGeom>
          <a:solidFill>
            <a:srgbClr val="FAFFFA"/>
          </a:solidFill>
          <a:ln w="22860">
            <a:solidFill>
              <a:srgbClr val="CED9CE"/>
            </a:solidFill>
            <a:prstDash val="solid"/>
          </a:ln>
        </p:spPr>
      </p:sp>
      <p:sp>
        <p:nvSpPr>
          <p:cNvPr id="20" name="Shape 17"/>
          <p:cNvSpPr/>
          <p:nvPr/>
        </p:nvSpPr>
        <p:spPr>
          <a:xfrm>
            <a:off x="4608909" y="5947648"/>
            <a:ext cx="91440" cy="1614607"/>
          </a:xfrm>
          <a:prstGeom prst="roundRect">
            <a:avLst>
              <a:gd name="adj" fmla="val 162209"/>
            </a:avLst>
          </a:prstGeom>
          <a:solidFill>
            <a:srgbClr val="438951"/>
          </a:solidFill>
          <a:ln/>
        </p:spPr>
      </p:sp>
      <p:sp>
        <p:nvSpPr>
          <p:cNvPr id="21" name="Text 18"/>
          <p:cNvSpPr/>
          <p:nvPr/>
        </p:nvSpPr>
        <p:spPr>
          <a:xfrm>
            <a:off x="4887992" y="6135291"/>
            <a:ext cx="2288500"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rPr>
              <a:t>Relief:</a:t>
            </a:r>
          </a:p>
        </p:txBody>
      </p:sp>
      <p:sp>
        <p:nvSpPr>
          <p:cNvPr id="22" name="Text 19"/>
          <p:cNvSpPr/>
          <p:nvPr/>
        </p:nvSpPr>
        <p:spPr>
          <a:xfrm>
            <a:off x="4887992" y="6464498"/>
            <a:ext cx="3299341" cy="910114"/>
          </a:xfrm>
          <a:prstGeom prst="rect">
            <a:avLst/>
          </a:prstGeom>
          <a:noFill/>
          <a:ln/>
        </p:spPr>
        <p:txBody>
          <a:bodyPr wrap="square" lIns="0" tIns="0" rIns="0" bIns="0" rtlCol="0" anchor="t"/>
          <a:lstStyle/>
          <a:p>
            <a:r>
              <a:rPr lang="en-US" sz="1250" dirty="0">
                <a:solidFill>
                  <a:srgbClr val="405449"/>
                </a:solidFill>
                <a:latin typeface="Nobile" pitchFamily="34" charset="0"/>
              </a:rPr>
              <a:t>Karthik checks his phone. Payment received.</a:t>
            </a:r>
            <a:br>
              <a:rPr lang="en-US" sz="1250" dirty="0">
                <a:solidFill>
                  <a:srgbClr val="405449"/>
                </a:solidFill>
                <a:latin typeface="Nobile" pitchFamily="34" charset="0"/>
              </a:rPr>
            </a:br>
            <a:r>
              <a:rPr lang="en-US" sz="1250" dirty="0">
                <a:solidFill>
                  <a:srgbClr val="405449"/>
                </a:solidFill>
                <a:latin typeface="Nobile" pitchFamily="34" charset="0"/>
              </a:rPr>
              <a:t>He continues working the next day — his family stays financially stable.</a:t>
            </a:r>
          </a:p>
        </p:txBody>
      </p:sp>
      <p:pic>
        <p:nvPicPr>
          <p:cNvPr id="25" name="Picture 24">
            <a:extLst>
              <a:ext uri="{FF2B5EF4-FFF2-40B4-BE49-F238E27FC236}">
                <a16:creationId xmlns:a16="http://schemas.microsoft.com/office/drawing/2014/main" id="{CF7D2DAE-7804-E93E-B99C-8643AE276004}"/>
              </a:ext>
            </a:extLst>
          </p:cNvPr>
          <p:cNvPicPr>
            <a:picLocks noChangeAspect="1"/>
          </p:cNvPicPr>
          <p:nvPr/>
        </p:nvPicPr>
        <p:blipFill>
          <a:blip r:embed="rId3"/>
          <a:srcRect t="4749" b="5790"/>
          <a:stretch>
            <a:fillRect/>
          </a:stretch>
        </p:blipFill>
        <p:spPr>
          <a:xfrm>
            <a:off x="10491769" y="-12262"/>
            <a:ext cx="4157223" cy="82418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6478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How It Works</a:t>
            </a:r>
            <a:endParaRPr lang="en-US" sz="4450" dirty="0"/>
          </a:p>
        </p:txBody>
      </p:sp>
      <p:pic>
        <p:nvPicPr>
          <p:cNvPr id="3" name="Image 0" descr="preencoded.png"/>
          <p:cNvPicPr>
            <a:picLocks noChangeAspect="1"/>
          </p:cNvPicPr>
          <p:nvPr/>
        </p:nvPicPr>
        <p:blipFill>
          <a:blip r:embed="rId3"/>
          <a:stretch>
            <a:fillRect/>
          </a:stretch>
        </p:blipFill>
        <p:spPr>
          <a:xfrm>
            <a:off x="1002625" y="2327196"/>
            <a:ext cx="12625030" cy="4737497"/>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84546" y="3533921"/>
            <a:ext cx="652135" cy="652135"/>
          </a:xfrm>
          <a:prstGeom prst="rect">
            <a:avLst/>
          </a:prstGeom>
        </p:spPr>
      </p:pic>
      <p:sp>
        <p:nvSpPr>
          <p:cNvPr id="5" name="Text 1"/>
          <p:cNvSpPr/>
          <p:nvPr/>
        </p:nvSpPr>
        <p:spPr>
          <a:xfrm>
            <a:off x="11203535" y="5914621"/>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5449"/>
                </a:solidFill>
                <a:latin typeface="Fraunces Extra Bold" pitchFamily="34" charset="0"/>
                <a:ea typeface="Fraunces Extra Bold" pitchFamily="34" charset="-122"/>
                <a:cs typeface="Fraunces Extra Bold" pitchFamily="34" charset="-120"/>
              </a:rPr>
              <a:t>UPI Payout</a:t>
            </a:r>
            <a:endParaRPr lang="en-US" sz="230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97120" y="3535144"/>
            <a:ext cx="652135" cy="652135"/>
          </a:xfrm>
          <a:prstGeom prst="rect">
            <a:avLst/>
          </a:prstGeom>
        </p:spPr>
      </p:pic>
      <p:sp>
        <p:nvSpPr>
          <p:cNvPr id="7" name="Text 2"/>
          <p:cNvSpPr/>
          <p:nvPr/>
        </p:nvSpPr>
        <p:spPr>
          <a:xfrm>
            <a:off x="8803678" y="5914621"/>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5449"/>
                </a:solidFill>
                <a:latin typeface="Fraunces Extra Bold" pitchFamily="34" charset="0"/>
                <a:ea typeface="Fraunces Extra Bold" pitchFamily="34" charset="-122"/>
                <a:cs typeface="Fraunces Extra Bold" pitchFamily="34" charset="-120"/>
              </a:rPr>
              <a:t>Fraud Check</a:t>
            </a:r>
            <a:endParaRPr lang="en-US" sz="2300" dirty="0"/>
          </a:p>
        </p:txBody>
      </p:sp>
      <p:pic>
        <p:nvPicPr>
          <p:cNvPr id="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10307" y="3535144"/>
            <a:ext cx="652135" cy="652135"/>
          </a:xfrm>
          <a:prstGeom prst="rect">
            <a:avLst/>
          </a:prstGeom>
        </p:spPr>
      </p:pic>
      <p:sp>
        <p:nvSpPr>
          <p:cNvPr id="9" name="Text 3"/>
          <p:cNvSpPr/>
          <p:nvPr/>
        </p:nvSpPr>
        <p:spPr>
          <a:xfrm>
            <a:off x="6416864" y="5914621"/>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5449"/>
                </a:solidFill>
                <a:latin typeface="Fraunces Extra Bold" pitchFamily="34" charset="0"/>
                <a:ea typeface="Fraunces Extra Bold" pitchFamily="34" charset="-122"/>
                <a:cs typeface="Fraunces Extra Bold" pitchFamily="34" charset="-120"/>
              </a:rPr>
              <a:t>Shift Check</a:t>
            </a:r>
            <a:endParaRPr lang="en-US" sz="2300" dirty="0"/>
          </a:p>
        </p:txBody>
      </p:sp>
      <p:pic>
        <p:nvPicPr>
          <p:cNvPr id="1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3493" y="3535144"/>
            <a:ext cx="652135" cy="652135"/>
          </a:xfrm>
          <a:prstGeom prst="rect">
            <a:avLst/>
          </a:prstGeom>
        </p:spPr>
      </p:pic>
      <p:sp>
        <p:nvSpPr>
          <p:cNvPr id="11" name="Text 4"/>
          <p:cNvSpPr/>
          <p:nvPr/>
        </p:nvSpPr>
        <p:spPr>
          <a:xfrm>
            <a:off x="4030050" y="5914621"/>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5449"/>
                </a:solidFill>
                <a:latin typeface="Fraunces Extra Bold" pitchFamily="34" charset="0"/>
                <a:ea typeface="Fraunces Extra Bold" pitchFamily="34" charset="-122"/>
                <a:cs typeface="Fraunces Extra Bold" pitchFamily="34" charset="-120"/>
              </a:rPr>
              <a:t>Validate</a:t>
            </a:r>
            <a:endParaRPr lang="en-US" sz="2300" dirty="0"/>
          </a:p>
        </p:txBody>
      </p:sp>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23636" y="3535144"/>
            <a:ext cx="652135" cy="652135"/>
          </a:xfrm>
          <a:prstGeom prst="rect">
            <a:avLst/>
          </a:prstGeom>
        </p:spPr>
      </p:pic>
      <p:sp>
        <p:nvSpPr>
          <p:cNvPr id="13" name="Text 5"/>
          <p:cNvSpPr/>
          <p:nvPr/>
        </p:nvSpPr>
        <p:spPr>
          <a:xfrm>
            <a:off x="1591065" y="5914621"/>
            <a:ext cx="1904234" cy="366826"/>
          </a:xfrm>
          <a:prstGeom prst="rect">
            <a:avLst/>
          </a:prstGeom>
          <a:noFill/>
          <a:ln/>
        </p:spPr>
        <p:txBody>
          <a:bodyPr wrap="none" lIns="0" tIns="0" rIns="0" bIns="0" rtlCol="0" anchor="t"/>
          <a:lstStyle/>
          <a:p>
            <a:pPr marL="0" indent="0" algn="ctr">
              <a:lnSpc>
                <a:spcPts val="2850"/>
              </a:lnSpc>
              <a:buNone/>
            </a:pPr>
            <a:r>
              <a:rPr lang="en-US" sz="2300" b="1" dirty="0">
                <a:solidFill>
                  <a:srgbClr val="405449"/>
                </a:solidFill>
                <a:latin typeface="Fraunces Extra Bold" pitchFamily="34" charset="0"/>
                <a:ea typeface="Fraunces Extra Bold" pitchFamily="34" charset="-122"/>
                <a:cs typeface="Fraunces Extra Bold" pitchFamily="34" charset="-120"/>
              </a:rPr>
              <a:t>Detect</a:t>
            </a:r>
            <a:endParaRPr lang="en-US" sz="2300" dirty="0"/>
          </a:p>
        </p:txBody>
      </p:sp>
      <p:sp>
        <p:nvSpPr>
          <p:cNvPr id="14" name="Rectangle 13">
            <a:extLst>
              <a:ext uri="{FF2B5EF4-FFF2-40B4-BE49-F238E27FC236}">
                <a16:creationId xmlns:a16="http://schemas.microsoft.com/office/drawing/2014/main" id="{7AABDF80-4C74-24A5-83FF-279D4B9D6B89}"/>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1406" y="616506"/>
            <a:ext cx="10365013" cy="523280"/>
          </a:xfrm>
          <a:prstGeom prst="rect">
            <a:avLst/>
          </a:prstGeom>
          <a:noFill/>
          <a:ln/>
        </p:spPr>
        <p:txBody>
          <a:bodyPr wrap="none" lIns="0" tIns="0" rIns="0" bIns="0" rtlCol="0" anchor="t"/>
          <a:lstStyle/>
          <a:p>
            <a:pPr>
              <a:lnSpc>
                <a:spcPts val="4100"/>
              </a:lnSpc>
            </a:pPr>
            <a:r>
              <a:rPr lang="en-US" sz="3250" b="1" dirty="0">
                <a:solidFill>
                  <a:srgbClr val="3B4540"/>
                </a:solidFill>
                <a:latin typeface="Fraunces Extra Bold" pitchFamily="34" charset="0"/>
                <a:ea typeface="Fraunces Extra Bold" pitchFamily="34" charset="-122"/>
                <a:cs typeface="Fraunces Extra Bold" pitchFamily="34" charset="-120"/>
              </a:rPr>
              <a:t>Core </a:t>
            </a:r>
            <a:r>
              <a:rPr lang="en-US" sz="3250" b="1" dirty="0">
                <a:solidFill>
                  <a:srgbClr val="3B4540"/>
                </a:solidFill>
                <a:latin typeface="Fraunces Extra Bold" pitchFamily="34" charset="0"/>
              </a:rPr>
              <a:t>Innovation - </a:t>
            </a:r>
            <a:r>
              <a:rPr lang="en-US" sz="1600" b="1" dirty="0" err="1">
                <a:solidFill>
                  <a:srgbClr val="405449"/>
                </a:solidFill>
                <a:latin typeface="Nobile" pitchFamily="34" charset="0"/>
              </a:rPr>
              <a:t>Hustlr</a:t>
            </a:r>
            <a:r>
              <a:rPr lang="en-US" sz="1600" b="1" dirty="0">
                <a:solidFill>
                  <a:srgbClr val="405449"/>
                </a:solidFill>
                <a:latin typeface="Nobile" pitchFamily="34" charset="0"/>
              </a:rPr>
              <a:t> is designed so situations like Karthik’s are automatically handled in real-time.</a:t>
            </a:r>
          </a:p>
        </p:txBody>
      </p:sp>
      <p:sp>
        <p:nvSpPr>
          <p:cNvPr id="3" name="Text 1"/>
          <p:cNvSpPr/>
          <p:nvPr/>
        </p:nvSpPr>
        <p:spPr>
          <a:xfrm>
            <a:off x="781407" y="1386959"/>
            <a:ext cx="13067586" cy="232886"/>
          </a:xfrm>
          <a:prstGeom prst="rect">
            <a:avLst/>
          </a:prstGeom>
          <a:noFill/>
          <a:ln/>
        </p:spPr>
        <p:txBody>
          <a:bodyPr wrap="non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What Makes Hustlr Different</a:t>
            </a:r>
            <a:endParaRPr lang="en-US" sz="1300" dirty="0"/>
          </a:p>
        </p:txBody>
      </p:sp>
      <p:sp>
        <p:nvSpPr>
          <p:cNvPr id="4" name="Text 2"/>
          <p:cNvSpPr/>
          <p:nvPr/>
        </p:nvSpPr>
        <p:spPr>
          <a:xfrm>
            <a:off x="781407" y="1758910"/>
            <a:ext cx="13067586" cy="465773"/>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Every layer of Hustlr is intentionally built to address the core weaknesses of traditional insurance models in the gig economy, where speed, accuracy, and trust matter as much as protection itself.</a:t>
            </a:r>
            <a:endParaRPr lang="en-US" sz="13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407" y="2363748"/>
            <a:ext cx="418624" cy="418624"/>
          </a:xfrm>
          <a:prstGeom prst="rect">
            <a:avLst/>
          </a:prstGeom>
        </p:spPr>
      </p:pic>
      <p:sp>
        <p:nvSpPr>
          <p:cNvPr id="6" name="Text 3"/>
          <p:cNvSpPr/>
          <p:nvPr/>
        </p:nvSpPr>
        <p:spPr>
          <a:xfrm>
            <a:off x="781407" y="2936915"/>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Parametric First</a:t>
            </a:r>
            <a:endParaRPr lang="en-US" sz="1600" dirty="0"/>
          </a:p>
        </p:txBody>
      </p:sp>
      <p:sp>
        <p:nvSpPr>
          <p:cNvPr id="7" name="Text 4"/>
          <p:cNvSpPr/>
          <p:nvPr/>
        </p:nvSpPr>
        <p:spPr>
          <a:xfrm>
            <a:off x="781407" y="3272671"/>
            <a:ext cx="4252793" cy="931545"/>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Coverage is designed around real-world events that trigger payouts automatically, eliminating lengthy forms, claim disputes, and unnecessary delays for workers who need support quickly.</a:t>
            </a:r>
            <a:endParaRPr lang="en-US" sz="13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88744" y="2363748"/>
            <a:ext cx="418624" cy="418624"/>
          </a:xfrm>
          <a:prstGeom prst="rect">
            <a:avLst/>
          </a:prstGeom>
        </p:spPr>
      </p:pic>
      <p:sp>
        <p:nvSpPr>
          <p:cNvPr id="9" name="Text 5"/>
          <p:cNvSpPr/>
          <p:nvPr/>
        </p:nvSpPr>
        <p:spPr>
          <a:xfrm>
            <a:off x="5188744" y="2936915"/>
            <a:ext cx="2271355"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70/30 Payout System</a:t>
            </a:r>
            <a:endParaRPr lang="en-US" sz="1600" dirty="0"/>
          </a:p>
        </p:txBody>
      </p:sp>
      <p:sp>
        <p:nvSpPr>
          <p:cNvPr id="10" name="Text 6"/>
          <p:cNvSpPr/>
          <p:nvPr/>
        </p:nvSpPr>
        <p:spPr>
          <a:xfrm>
            <a:off x="5188744" y="3272671"/>
            <a:ext cx="4252793" cy="698659"/>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70% of the payout is delivered instantly, while the remaining 30% is released after verification to balance speed with accountability.</a:t>
            </a:r>
            <a:endParaRPr lang="en-US" sz="13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96080" y="2363748"/>
            <a:ext cx="418624" cy="418624"/>
          </a:xfrm>
          <a:prstGeom prst="rect">
            <a:avLst/>
          </a:prstGeom>
        </p:spPr>
      </p:pic>
      <p:sp>
        <p:nvSpPr>
          <p:cNvPr id="12" name="Text 7"/>
          <p:cNvSpPr/>
          <p:nvPr/>
        </p:nvSpPr>
        <p:spPr>
          <a:xfrm>
            <a:off x="9596080" y="2936915"/>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Zone Depth Scoring</a:t>
            </a:r>
            <a:endParaRPr lang="en-US" sz="1600" dirty="0"/>
          </a:p>
        </p:txBody>
      </p:sp>
      <p:sp>
        <p:nvSpPr>
          <p:cNvPr id="13" name="Text 8"/>
          <p:cNvSpPr/>
          <p:nvPr/>
        </p:nvSpPr>
        <p:spPr>
          <a:xfrm>
            <a:off x="9596080" y="3272671"/>
            <a:ext cx="4252913" cy="931545"/>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Risk is scored at street-level granularity, allowing the system to account for local conditions, delivery patterns, and neighborhood-specific volatility rather than relying on broad averages.</a:t>
            </a:r>
            <a:endParaRPr lang="en-US" sz="13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1407" y="4451390"/>
            <a:ext cx="418624" cy="418624"/>
          </a:xfrm>
          <a:prstGeom prst="rect">
            <a:avLst/>
          </a:prstGeom>
        </p:spPr>
      </p:pic>
      <p:sp>
        <p:nvSpPr>
          <p:cNvPr id="15" name="Text 9"/>
          <p:cNvSpPr/>
          <p:nvPr/>
        </p:nvSpPr>
        <p:spPr>
          <a:xfrm>
            <a:off x="781407" y="5024557"/>
            <a:ext cx="335565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7-Layer Fraud Detection Engine</a:t>
            </a:r>
            <a:endParaRPr lang="en-US" sz="1600" dirty="0"/>
          </a:p>
        </p:txBody>
      </p:sp>
      <p:sp>
        <p:nvSpPr>
          <p:cNvPr id="16" name="Text 10"/>
          <p:cNvSpPr/>
          <p:nvPr/>
        </p:nvSpPr>
        <p:spPr>
          <a:xfrm>
            <a:off x="781407" y="5360313"/>
            <a:ext cx="4252793" cy="931545"/>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A seven-layer validation system combines behavioral, geographic, temporal, velocity, and consistency checks to identify suspicious activity early and keep the payout process reliable.</a:t>
            </a:r>
            <a:endParaRPr lang="en-US" sz="13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88744" y="4451390"/>
            <a:ext cx="418624" cy="418624"/>
          </a:xfrm>
          <a:prstGeom prst="rect">
            <a:avLst/>
          </a:prstGeom>
        </p:spPr>
      </p:pic>
      <p:sp>
        <p:nvSpPr>
          <p:cNvPr id="18" name="Text 11"/>
          <p:cNvSpPr/>
          <p:nvPr/>
        </p:nvSpPr>
        <p:spPr>
          <a:xfrm>
            <a:off x="5188744" y="5024557"/>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Data Trust Engine</a:t>
            </a:r>
            <a:endParaRPr lang="en-US" sz="1600" dirty="0"/>
          </a:p>
        </p:txBody>
      </p:sp>
      <p:sp>
        <p:nvSpPr>
          <p:cNvPr id="19" name="Text 12"/>
          <p:cNvSpPr/>
          <p:nvPr/>
        </p:nvSpPr>
        <p:spPr>
          <a:xfrm>
            <a:off x="5188744" y="5360313"/>
            <a:ext cx="4252793" cy="698659"/>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An immutable audit trail captures every transaction, strengthening transparency, traceability, and confidence across the entire system.</a:t>
            </a:r>
            <a:endParaRPr lang="en-US" sz="1300" dirty="0"/>
          </a:p>
        </p:txBody>
      </p:sp>
      <p:sp>
        <p:nvSpPr>
          <p:cNvPr id="20" name="Shape 13"/>
          <p:cNvSpPr/>
          <p:nvPr/>
        </p:nvSpPr>
        <p:spPr>
          <a:xfrm>
            <a:off x="781407" y="6430923"/>
            <a:ext cx="4273391" cy="1182053"/>
          </a:xfrm>
          <a:prstGeom prst="roundRect">
            <a:avLst>
              <a:gd name="adj" fmla="val 9283"/>
            </a:avLst>
          </a:prstGeom>
          <a:solidFill>
            <a:srgbClr val="FAFFFA"/>
          </a:solidFill>
          <a:ln w="22860">
            <a:solidFill>
              <a:srgbClr val="CED9CE"/>
            </a:solidFill>
            <a:prstDash val="solid"/>
          </a:ln>
        </p:spPr>
      </p:sp>
      <p:sp>
        <p:nvSpPr>
          <p:cNvPr id="21" name="Shape 14"/>
          <p:cNvSpPr/>
          <p:nvPr/>
        </p:nvSpPr>
        <p:spPr>
          <a:xfrm>
            <a:off x="758547" y="6430923"/>
            <a:ext cx="91440" cy="1182053"/>
          </a:xfrm>
          <a:prstGeom prst="roundRect">
            <a:avLst>
              <a:gd name="adj" fmla="val 164826"/>
            </a:avLst>
          </a:prstGeom>
          <a:solidFill>
            <a:srgbClr val="438951"/>
          </a:solidFill>
          <a:ln/>
        </p:spPr>
      </p:sp>
      <p:sp>
        <p:nvSpPr>
          <p:cNvPr id="22" name="Text 15"/>
          <p:cNvSpPr/>
          <p:nvPr/>
        </p:nvSpPr>
        <p:spPr>
          <a:xfrm>
            <a:off x="1040249" y="6621185"/>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Designed for speed</a:t>
            </a:r>
            <a:endParaRPr lang="en-US" sz="1600" dirty="0"/>
          </a:p>
        </p:txBody>
      </p:sp>
      <p:sp>
        <p:nvSpPr>
          <p:cNvPr id="23" name="Text 16"/>
          <p:cNvSpPr/>
          <p:nvPr/>
        </p:nvSpPr>
        <p:spPr>
          <a:xfrm>
            <a:off x="1040249" y="6956941"/>
            <a:ext cx="3824288" cy="465773"/>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Automated payouts remove friction from the claims experience.</a:t>
            </a:r>
            <a:endParaRPr lang="en-US" sz="1300" dirty="0"/>
          </a:p>
        </p:txBody>
      </p:sp>
      <p:sp>
        <p:nvSpPr>
          <p:cNvPr id="24" name="Shape 17"/>
          <p:cNvSpPr/>
          <p:nvPr/>
        </p:nvSpPr>
        <p:spPr>
          <a:xfrm>
            <a:off x="5178385" y="6430923"/>
            <a:ext cx="4273510" cy="1182053"/>
          </a:xfrm>
          <a:prstGeom prst="roundRect">
            <a:avLst>
              <a:gd name="adj" fmla="val 9283"/>
            </a:avLst>
          </a:prstGeom>
          <a:solidFill>
            <a:srgbClr val="FAFFFA"/>
          </a:solidFill>
          <a:ln w="22860">
            <a:solidFill>
              <a:srgbClr val="CED9CE"/>
            </a:solidFill>
            <a:prstDash val="solid"/>
          </a:ln>
        </p:spPr>
      </p:sp>
      <p:sp>
        <p:nvSpPr>
          <p:cNvPr id="25" name="Shape 18"/>
          <p:cNvSpPr/>
          <p:nvPr/>
        </p:nvSpPr>
        <p:spPr>
          <a:xfrm>
            <a:off x="5155525" y="6430923"/>
            <a:ext cx="91440" cy="1182053"/>
          </a:xfrm>
          <a:prstGeom prst="roundRect">
            <a:avLst>
              <a:gd name="adj" fmla="val 164826"/>
            </a:avLst>
          </a:prstGeom>
          <a:solidFill>
            <a:srgbClr val="438951"/>
          </a:solidFill>
          <a:ln/>
        </p:spPr>
      </p:sp>
      <p:sp>
        <p:nvSpPr>
          <p:cNvPr id="26" name="Text 19"/>
          <p:cNvSpPr/>
          <p:nvPr/>
        </p:nvSpPr>
        <p:spPr>
          <a:xfrm>
            <a:off x="5437227" y="6621185"/>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Built for precision</a:t>
            </a:r>
            <a:endParaRPr lang="en-US" sz="1600" dirty="0"/>
          </a:p>
        </p:txBody>
      </p:sp>
      <p:sp>
        <p:nvSpPr>
          <p:cNvPr id="27" name="Text 20"/>
          <p:cNvSpPr/>
          <p:nvPr/>
        </p:nvSpPr>
        <p:spPr>
          <a:xfrm>
            <a:off x="5437227" y="6956941"/>
            <a:ext cx="3824407" cy="465773"/>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Hyper-local scoring makes risk evaluation more accurate and responsive.</a:t>
            </a:r>
            <a:endParaRPr lang="en-US" sz="1300" dirty="0"/>
          </a:p>
        </p:txBody>
      </p:sp>
      <p:sp>
        <p:nvSpPr>
          <p:cNvPr id="28" name="Shape 21"/>
          <p:cNvSpPr/>
          <p:nvPr/>
        </p:nvSpPr>
        <p:spPr>
          <a:xfrm>
            <a:off x="9575483" y="6430923"/>
            <a:ext cx="4273510" cy="1182053"/>
          </a:xfrm>
          <a:prstGeom prst="roundRect">
            <a:avLst>
              <a:gd name="adj" fmla="val 9283"/>
            </a:avLst>
          </a:prstGeom>
          <a:solidFill>
            <a:srgbClr val="FAFFFA"/>
          </a:solidFill>
          <a:ln w="22860">
            <a:solidFill>
              <a:srgbClr val="CED9CE"/>
            </a:solidFill>
            <a:prstDash val="solid"/>
          </a:ln>
        </p:spPr>
      </p:sp>
      <p:sp>
        <p:nvSpPr>
          <p:cNvPr id="29" name="Shape 22"/>
          <p:cNvSpPr/>
          <p:nvPr/>
        </p:nvSpPr>
        <p:spPr>
          <a:xfrm>
            <a:off x="9552623" y="6430923"/>
            <a:ext cx="91440" cy="1182053"/>
          </a:xfrm>
          <a:prstGeom prst="roundRect">
            <a:avLst>
              <a:gd name="adj" fmla="val 164826"/>
            </a:avLst>
          </a:prstGeom>
          <a:solidFill>
            <a:srgbClr val="438951"/>
          </a:solidFill>
          <a:ln/>
        </p:spPr>
      </p:sp>
      <p:sp>
        <p:nvSpPr>
          <p:cNvPr id="30" name="Text 23"/>
          <p:cNvSpPr/>
          <p:nvPr/>
        </p:nvSpPr>
        <p:spPr>
          <a:xfrm>
            <a:off x="9834324" y="6621185"/>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Built for trust</a:t>
            </a:r>
            <a:endParaRPr lang="en-US" sz="1600" dirty="0"/>
          </a:p>
        </p:txBody>
      </p:sp>
      <p:sp>
        <p:nvSpPr>
          <p:cNvPr id="31" name="Text 24"/>
          <p:cNvSpPr/>
          <p:nvPr/>
        </p:nvSpPr>
        <p:spPr>
          <a:xfrm>
            <a:off x="9834324" y="6956941"/>
            <a:ext cx="3824407" cy="465773"/>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Fraud detection and audit trails keep every payout verifiable.</a:t>
            </a:r>
            <a:endParaRPr lang="en-US" sz="1300" dirty="0"/>
          </a:p>
        </p:txBody>
      </p:sp>
      <p:sp>
        <p:nvSpPr>
          <p:cNvPr id="32" name="Rectangle 31">
            <a:extLst>
              <a:ext uri="{FF2B5EF4-FFF2-40B4-BE49-F238E27FC236}">
                <a16:creationId xmlns:a16="http://schemas.microsoft.com/office/drawing/2014/main" id="{3FCD60A4-9D84-132F-CC50-9A84DB1144B3}"/>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9025" y="640556"/>
            <a:ext cx="4120039" cy="514945"/>
          </a:xfrm>
          <a:prstGeom prst="rect">
            <a:avLst/>
          </a:prstGeom>
          <a:noFill/>
          <a:ln/>
        </p:spPr>
        <p:txBody>
          <a:bodyPr wrap="none" lIns="0" tIns="0" rIns="0" bIns="0" rtlCol="0" anchor="t"/>
          <a:lstStyle/>
          <a:p>
            <a:pPr marL="0" indent="0" algn="l">
              <a:lnSpc>
                <a:spcPts val="4050"/>
              </a:lnSpc>
              <a:buNone/>
            </a:pPr>
            <a:r>
              <a:rPr lang="en-US" sz="3200" b="1" dirty="0">
                <a:solidFill>
                  <a:srgbClr val="3B4540"/>
                </a:solidFill>
                <a:latin typeface="Fraunces Extra Bold" pitchFamily="34" charset="0"/>
                <a:ea typeface="Fraunces Extra Bold" pitchFamily="34" charset="-122"/>
                <a:cs typeface="Fraunces Extra Bold" pitchFamily="34" charset="-120"/>
              </a:rPr>
              <a:t>Key Features</a:t>
            </a:r>
            <a:endParaRPr lang="en-US" sz="3200" dirty="0"/>
          </a:p>
        </p:txBody>
      </p:sp>
      <p:sp>
        <p:nvSpPr>
          <p:cNvPr id="3" name="Text 1"/>
          <p:cNvSpPr/>
          <p:nvPr/>
        </p:nvSpPr>
        <p:spPr>
          <a:xfrm>
            <a:off x="769025" y="1394936"/>
            <a:ext cx="13092351" cy="227528"/>
          </a:xfrm>
          <a:prstGeom prst="rect">
            <a:avLst/>
          </a:prstGeom>
          <a:noFill/>
          <a:ln/>
        </p:spPr>
        <p:txBody>
          <a:bodyPr wrap="non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Built to help delivery workers respond faster, get paid sooner, and stay protected with less manual effort.</a:t>
            </a:r>
            <a:endParaRPr lang="en-US" sz="1250" dirty="0"/>
          </a:p>
        </p:txBody>
      </p:sp>
      <p:pic>
        <p:nvPicPr>
          <p:cNvPr id="4" name="Image 0" descr="preencoded.png"/>
          <p:cNvPicPr>
            <a:picLocks noChangeAspect="1"/>
          </p:cNvPicPr>
          <p:nvPr/>
        </p:nvPicPr>
        <p:blipFill>
          <a:blip r:embed="rId3"/>
          <a:stretch>
            <a:fillRect/>
          </a:stretch>
        </p:blipFill>
        <p:spPr>
          <a:xfrm>
            <a:off x="769025" y="1757124"/>
            <a:ext cx="1407200" cy="1407200"/>
          </a:xfrm>
          <a:prstGeom prst="rect">
            <a:avLst/>
          </a:prstGeom>
        </p:spPr>
      </p:pic>
      <p:sp>
        <p:nvSpPr>
          <p:cNvPr id="5" name="Text 2"/>
          <p:cNvSpPr/>
          <p:nvPr/>
        </p:nvSpPr>
        <p:spPr>
          <a:xfrm>
            <a:off x="769025" y="3313986"/>
            <a:ext cx="2151102"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Real-Time Detection</a:t>
            </a:r>
            <a:endParaRPr lang="en-US" sz="1600" dirty="0"/>
          </a:p>
        </p:txBody>
      </p:sp>
      <p:sp>
        <p:nvSpPr>
          <p:cNvPr id="6" name="Text 3"/>
          <p:cNvSpPr/>
          <p:nvPr/>
        </p:nvSpPr>
        <p:spPr>
          <a:xfrm>
            <a:off x="769025" y="3643193"/>
            <a:ext cx="4264343" cy="910114"/>
          </a:xfrm>
          <a:prstGeom prst="rect">
            <a:avLst/>
          </a:prstGeom>
          <a:noFill/>
          <a:ln/>
        </p:spPr>
        <p:txBody>
          <a:bodyPr wrap="squar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Continuously monitors live disruption signals across weather, traffic, platform uptime, and other operational indicators so risk is identified as early as possible.</a:t>
            </a:r>
            <a:endParaRPr lang="en-US" sz="1250" dirty="0"/>
          </a:p>
        </p:txBody>
      </p:sp>
      <p:pic>
        <p:nvPicPr>
          <p:cNvPr id="7" name="Image 1" descr="preencoded.png"/>
          <p:cNvPicPr>
            <a:picLocks noChangeAspect="1"/>
          </p:cNvPicPr>
          <p:nvPr/>
        </p:nvPicPr>
        <p:blipFill>
          <a:blip r:embed="rId4"/>
          <a:stretch>
            <a:fillRect/>
          </a:stretch>
        </p:blipFill>
        <p:spPr>
          <a:xfrm>
            <a:off x="5183029" y="1757124"/>
            <a:ext cx="1407200" cy="1407200"/>
          </a:xfrm>
          <a:prstGeom prst="rect">
            <a:avLst/>
          </a:prstGeom>
        </p:spPr>
      </p:pic>
      <p:sp>
        <p:nvSpPr>
          <p:cNvPr id="8" name="Text 4"/>
          <p:cNvSpPr/>
          <p:nvPr/>
        </p:nvSpPr>
        <p:spPr>
          <a:xfrm>
            <a:off x="5183029" y="3313986"/>
            <a:ext cx="2060019"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Automated Claims</a:t>
            </a:r>
            <a:endParaRPr lang="en-US" sz="1600" dirty="0"/>
          </a:p>
        </p:txBody>
      </p:sp>
      <p:sp>
        <p:nvSpPr>
          <p:cNvPr id="9" name="Text 5"/>
          <p:cNvSpPr/>
          <p:nvPr/>
        </p:nvSpPr>
        <p:spPr>
          <a:xfrm>
            <a:off x="5183029" y="3643193"/>
            <a:ext cx="4264343" cy="682585"/>
          </a:xfrm>
          <a:prstGeom prst="rect">
            <a:avLst/>
          </a:prstGeom>
          <a:noFill/>
          <a:ln/>
        </p:spPr>
        <p:txBody>
          <a:bodyPr wrap="squar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Enables zero-touch claim processing by automatically verifying eligible events, calculating payout amounts, and routing approvals without manual review.</a:t>
            </a:r>
            <a:endParaRPr lang="en-US" sz="1250" dirty="0"/>
          </a:p>
        </p:txBody>
      </p:sp>
      <p:pic>
        <p:nvPicPr>
          <p:cNvPr id="10" name="Image 2" descr="preencoded.png"/>
          <p:cNvPicPr>
            <a:picLocks noChangeAspect="1"/>
          </p:cNvPicPr>
          <p:nvPr/>
        </p:nvPicPr>
        <p:blipFill>
          <a:blip r:embed="rId5"/>
          <a:stretch>
            <a:fillRect/>
          </a:stretch>
        </p:blipFill>
        <p:spPr>
          <a:xfrm>
            <a:off x="9597033" y="1757124"/>
            <a:ext cx="1407200" cy="1407200"/>
          </a:xfrm>
          <a:prstGeom prst="rect">
            <a:avLst/>
          </a:prstGeom>
        </p:spPr>
      </p:pic>
      <p:sp>
        <p:nvSpPr>
          <p:cNvPr id="11" name="Text 6"/>
          <p:cNvSpPr/>
          <p:nvPr/>
        </p:nvSpPr>
        <p:spPr>
          <a:xfrm>
            <a:off x="9597033" y="3313986"/>
            <a:ext cx="2133124"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AI Fraud Prevention</a:t>
            </a:r>
            <a:endParaRPr lang="en-US" sz="1600" dirty="0"/>
          </a:p>
        </p:txBody>
      </p:sp>
      <p:sp>
        <p:nvSpPr>
          <p:cNvPr id="12" name="Text 7"/>
          <p:cNvSpPr/>
          <p:nvPr/>
        </p:nvSpPr>
        <p:spPr>
          <a:xfrm>
            <a:off x="9597033" y="3643193"/>
            <a:ext cx="4264343" cy="682585"/>
          </a:xfrm>
          <a:prstGeom prst="rect">
            <a:avLst/>
          </a:prstGeom>
          <a:noFill/>
          <a:ln/>
        </p:spPr>
        <p:txBody>
          <a:bodyPr wrap="squar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Uses a multi-layer machine learning engine to analyze patterns, behavior, and transaction signals in order to detect suspicious activity before payouts are released.</a:t>
            </a:r>
            <a:endParaRPr lang="en-US" sz="1250" dirty="0"/>
          </a:p>
        </p:txBody>
      </p:sp>
      <p:pic>
        <p:nvPicPr>
          <p:cNvPr id="13" name="Image 3" descr="preencoded.png"/>
          <p:cNvPicPr>
            <a:picLocks noChangeAspect="1"/>
          </p:cNvPicPr>
          <p:nvPr/>
        </p:nvPicPr>
        <p:blipFill>
          <a:blip r:embed="rId6"/>
          <a:stretch>
            <a:fillRect/>
          </a:stretch>
        </p:blipFill>
        <p:spPr>
          <a:xfrm>
            <a:off x="769025" y="4792742"/>
            <a:ext cx="1407200" cy="1407200"/>
          </a:xfrm>
          <a:prstGeom prst="rect">
            <a:avLst/>
          </a:prstGeom>
        </p:spPr>
      </p:pic>
      <p:sp>
        <p:nvSpPr>
          <p:cNvPr id="14" name="Text 8"/>
          <p:cNvSpPr/>
          <p:nvPr/>
        </p:nvSpPr>
        <p:spPr>
          <a:xfrm>
            <a:off x="769025" y="6349603"/>
            <a:ext cx="2060019"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UPI Withdrawals</a:t>
            </a:r>
            <a:endParaRPr lang="en-US" sz="1600" dirty="0"/>
          </a:p>
        </p:txBody>
      </p:sp>
      <p:sp>
        <p:nvSpPr>
          <p:cNvPr id="15" name="Text 9"/>
          <p:cNvSpPr/>
          <p:nvPr/>
        </p:nvSpPr>
        <p:spPr>
          <a:xfrm>
            <a:off x="769025" y="6678811"/>
            <a:ext cx="4264343" cy="682585"/>
          </a:xfrm>
          <a:prstGeom prst="rect">
            <a:avLst/>
          </a:prstGeom>
          <a:noFill/>
          <a:ln/>
        </p:spPr>
        <p:txBody>
          <a:bodyPr wrap="squar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Delivers instant transfers directly to each worker's preferred UPI ID, making funds easy to access any time of day without banking delays.</a:t>
            </a:r>
            <a:endParaRPr lang="en-US" sz="1250" dirty="0"/>
          </a:p>
        </p:txBody>
      </p:sp>
      <p:pic>
        <p:nvPicPr>
          <p:cNvPr id="16" name="Image 4" descr="preencoded.png"/>
          <p:cNvPicPr>
            <a:picLocks noChangeAspect="1"/>
          </p:cNvPicPr>
          <p:nvPr/>
        </p:nvPicPr>
        <p:blipFill>
          <a:blip r:embed="rId7"/>
          <a:stretch>
            <a:fillRect/>
          </a:stretch>
        </p:blipFill>
        <p:spPr>
          <a:xfrm>
            <a:off x="5183029" y="4792742"/>
            <a:ext cx="1407200" cy="1407200"/>
          </a:xfrm>
          <a:prstGeom prst="rect">
            <a:avLst/>
          </a:prstGeom>
        </p:spPr>
      </p:pic>
      <p:sp>
        <p:nvSpPr>
          <p:cNvPr id="17" name="Text 10"/>
          <p:cNvSpPr/>
          <p:nvPr/>
        </p:nvSpPr>
        <p:spPr>
          <a:xfrm>
            <a:off x="5183029" y="6349603"/>
            <a:ext cx="2060019" cy="257413"/>
          </a:xfrm>
          <a:prstGeom prst="rect">
            <a:avLst/>
          </a:prstGeom>
          <a:noFill/>
          <a:ln/>
        </p:spPr>
        <p:txBody>
          <a:bodyPr wrap="none" lIns="0" tIns="0" rIns="0" bIns="0" rtlCol="0" anchor="t"/>
          <a:lstStyle/>
          <a:p>
            <a:pPr marL="0" indent="0" algn="l">
              <a:lnSpc>
                <a:spcPts val="2000"/>
              </a:lnSpc>
              <a:buNone/>
            </a:pPr>
            <a:r>
              <a:rPr lang="en-US" sz="1600" b="1" dirty="0">
                <a:solidFill>
                  <a:srgbClr val="405449"/>
                </a:solidFill>
                <a:latin typeface="Fraunces Extra Bold" pitchFamily="34" charset="0"/>
                <a:ea typeface="Fraunces Extra Bold" pitchFamily="34" charset="-122"/>
                <a:cs typeface="Fraunces Extra Bold" pitchFamily="34" charset="-120"/>
              </a:rPr>
              <a:t>Predictive Alerts</a:t>
            </a:r>
            <a:endParaRPr lang="en-US" sz="1600" dirty="0"/>
          </a:p>
        </p:txBody>
      </p:sp>
      <p:sp>
        <p:nvSpPr>
          <p:cNvPr id="18" name="Text 11"/>
          <p:cNvSpPr/>
          <p:nvPr/>
        </p:nvSpPr>
        <p:spPr>
          <a:xfrm>
            <a:off x="5183029" y="6678811"/>
            <a:ext cx="4264343" cy="910114"/>
          </a:xfrm>
          <a:prstGeom prst="rect">
            <a:avLst/>
          </a:prstGeom>
          <a:noFill/>
          <a:ln/>
        </p:spPr>
        <p:txBody>
          <a:bodyPr wrap="square" lIns="0" tIns="0" rIns="0" bIns="0" rtlCol="0" anchor="t"/>
          <a:lstStyle/>
          <a:p>
            <a:pPr marL="0" indent="0" algn="l">
              <a:lnSpc>
                <a:spcPts val="1750"/>
              </a:lnSpc>
              <a:buNone/>
            </a:pPr>
            <a:r>
              <a:rPr lang="en-US" sz="1250" dirty="0">
                <a:solidFill>
                  <a:srgbClr val="405449"/>
                </a:solidFill>
                <a:latin typeface="Nobile" pitchFamily="34" charset="0"/>
                <a:ea typeface="Nobile" pitchFamily="34" charset="-122"/>
                <a:cs typeface="Nobile" pitchFamily="34" charset="-120"/>
              </a:rPr>
              <a:t>Provides proactive forecasting that warns workers ahead of likely disruption windows, helping them prepare routes, schedules, and expectations in advance.</a:t>
            </a:r>
            <a:endParaRPr lang="en-US" sz="1250" dirty="0"/>
          </a:p>
        </p:txBody>
      </p:sp>
      <p:sp>
        <p:nvSpPr>
          <p:cNvPr id="19" name="Rectangle 18">
            <a:extLst>
              <a:ext uri="{FF2B5EF4-FFF2-40B4-BE49-F238E27FC236}">
                <a16:creationId xmlns:a16="http://schemas.microsoft.com/office/drawing/2014/main" id="{AE66B229-FB71-1F9E-210D-24455FD65BED}"/>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6642" y="596860"/>
            <a:ext cx="3513058" cy="439102"/>
          </a:xfrm>
          <a:prstGeom prst="rect">
            <a:avLst/>
          </a:prstGeom>
          <a:noFill/>
          <a:ln/>
        </p:spPr>
        <p:txBody>
          <a:bodyPr wrap="none" lIns="0" tIns="0" rIns="0" bIns="0" rtlCol="0" anchor="t"/>
          <a:lstStyle/>
          <a:p>
            <a:pPr marL="0" indent="0" algn="l">
              <a:lnSpc>
                <a:spcPts val="3450"/>
              </a:lnSpc>
              <a:buNone/>
            </a:pPr>
            <a:r>
              <a:rPr lang="en-US" sz="2750" b="1" dirty="0">
                <a:solidFill>
                  <a:srgbClr val="3B4540"/>
                </a:solidFill>
                <a:latin typeface="Fraunces Extra Bold" pitchFamily="34" charset="0"/>
                <a:ea typeface="Fraunces Extra Bold" pitchFamily="34" charset="-122"/>
                <a:cs typeface="Fraunces Extra Bold" pitchFamily="34" charset="-120"/>
              </a:rPr>
              <a:t>Triggers We Cover</a:t>
            </a:r>
            <a:endParaRPr lang="en-US" sz="2750" dirty="0"/>
          </a:p>
        </p:txBody>
      </p:sp>
      <p:sp>
        <p:nvSpPr>
          <p:cNvPr id="3" name="Text 1"/>
          <p:cNvSpPr/>
          <p:nvPr/>
        </p:nvSpPr>
        <p:spPr>
          <a:xfrm>
            <a:off x="756642" y="1210032"/>
            <a:ext cx="13117116" cy="363855"/>
          </a:xfrm>
          <a:prstGeom prst="rect">
            <a:avLst/>
          </a:prstGeom>
          <a:noFill/>
          <a:ln/>
        </p:spPr>
        <p:txBody>
          <a:bodyPr wrap="square" lIns="0" tIns="0" rIns="0" bIns="0" rtlCol="0" anchor="t"/>
          <a:lstStyle/>
          <a:p>
            <a:pPr>
              <a:lnSpc>
                <a:spcPts val="1400"/>
              </a:lnSpc>
            </a:pPr>
            <a:r>
              <a:rPr lang="en-US" sz="1200" dirty="0">
                <a:latin typeface="Nobile" panose="020B0604020202020204" charset="0"/>
              </a:rPr>
              <a:t>These are the exact events that stopped Karthik from earning — and now trigger protection.</a:t>
            </a:r>
          </a:p>
        </p:txBody>
      </p:sp>
      <p:sp>
        <p:nvSpPr>
          <p:cNvPr id="4" name="Shape 2"/>
          <p:cNvSpPr/>
          <p:nvPr/>
        </p:nvSpPr>
        <p:spPr>
          <a:xfrm>
            <a:off x="756642" y="1671757"/>
            <a:ext cx="6514981" cy="1424940"/>
          </a:xfrm>
          <a:prstGeom prst="roundRect">
            <a:avLst>
              <a:gd name="adj" fmla="val 8876"/>
            </a:avLst>
          </a:prstGeom>
          <a:solidFill>
            <a:srgbClr val="E8F3E8"/>
          </a:solidFill>
          <a:ln/>
        </p:spPr>
      </p:sp>
      <p:sp>
        <p:nvSpPr>
          <p:cNvPr id="5" name="Shape 3"/>
          <p:cNvSpPr/>
          <p:nvPr/>
        </p:nvSpPr>
        <p:spPr>
          <a:xfrm>
            <a:off x="897136" y="1812250"/>
            <a:ext cx="421481" cy="421481"/>
          </a:xfrm>
          <a:prstGeom prst="roundRect">
            <a:avLst>
              <a:gd name="adj" fmla="val 21692759"/>
            </a:avLst>
          </a:prstGeom>
          <a:solidFill>
            <a:srgbClr val="438951"/>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984" y="1928098"/>
            <a:ext cx="189667" cy="189667"/>
          </a:xfrm>
          <a:prstGeom prst="rect">
            <a:avLst/>
          </a:prstGeom>
        </p:spPr>
      </p:pic>
      <p:sp>
        <p:nvSpPr>
          <p:cNvPr id="7" name="Text 4"/>
          <p:cNvSpPr/>
          <p:nvPr/>
        </p:nvSpPr>
        <p:spPr>
          <a:xfrm>
            <a:off x="897136" y="2320766"/>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Heavy Rain</a:t>
            </a:r>
            <a:endParaRPr lang="en-US" sz="1350" dirty="0"/>
          </a:p>
        </p:txBody>
      </p:sp>
      <p:sp>
        <p:nvSpPr>
          <p:cNvPr id="8" name="Text 5"/>
          <p:cNvSpPr/>
          <p:nvPr/>
        </p:nvSpPr>
        <p:spPr>
          <a:xfrm>
            <a:off x="897136" y="2592348"/>
            <a:ext cx="623399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IMD-verified rainfall threshold triggers that identify conditions where visibility, road safety, and delivery efficiency drop sharply enough to pause work and protect earnings.</a:t>
            </a:r>
            <a:endParaRPr lang="en-US" sz="1100" dirty="0"/>
          </a:p>
        </p:txBody>
      </p:sp>
      <p:sp>
        <p:nvSpPr>
          <p:cNvPr id="9" name="Shape 6"/>
          <p:cNvSpPr/>
          <p:nvPr/>
        </p:nvSpPr>
        <p:spPr>
          <a:xfrm>
            <a:off x="7358658" y="1671757"/>
            <a:ext cx="6515100" cy="1424940"/>
          </a:xfrm>
          <a:prstGeom prst="roundRect">
            <a:avLst>
              <a:gd name="adj" fmla="val 8876"/>
            </a:avLst>
          </a:prstGeom>
          <a:solidFill>
            <a:srgbClr val="E8F3E8"/>
          </a:solidFill>
          <a:ln/>
        </p:spPr>
      </p:sp>
      <p:sp>
        <p:nvSpPr>
          <p:cNvPr id="10" name="Shape 7"/>
          <p:cNvSpPr/>
          <p:nvPr/>
        </p:nvSpPr>
        <p:spPr>
          <a:xfrm>
            <a:off x="7499152" y="1812250"/>
            <a:ext cx="421481" cy="421481"/>
          </a:xfrm>
          <a:prstGeom prst="roundRect">
            <a:avLst>
              <a:gd name="adj" fmla="val 21692759"/>
            </a:avLst>
          </a:prstGeom>
          <a:solidFill>
            <a:srgbClr val="438951"/>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4999" y="1928098"/>
            <a:ext cx="189667" cy="189667"/>
          </a:xfrm>
          <a:prstGeom prst="rect">
            <a:avLst/>
          </a:prstGeom>
        </p:spPr>
      </p:pic>
      <p:sp>
        <p:nvSpPr>
          <p:cNvPr id="12" name="Text 8"/>
          <p:cNvSpPr/>
          <p:nvPr/>
        </p:nvSpPr>
        <p:spPr>
          <a:xfrm>
            <a:off x="7499152" y="2320766"/>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Extreme Heat</a:t>
            </a:r>
            <a:endParaRPr lang="en-US" sz="1350" dirty="0"/>
          </a:p>
        </p:txBody>
      </p:sp>
      <p:sp>
        <p:nvSpPr>
          <p:cNvPr id="13" name="Text 9"/>
          <p:cNvSpPr/>
          <p:nvPr/>
        </p:nvSpPr>
        <p:spPr>
          <a:xfrm>
            <a:off x="7499152" y="2592348"/>
            <a:ext cx="623411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Heat index alerts above safe delivery thresholds, helping workers avoid dangerous outdoor conditions that can increase fatigue, dehydration, and missed order capacity.</a:t>
            </a:r>
            <a:endParaRPr lang="en-US" sz="1100" dirty="0"/>
          </a:p>
        </p:txBody>
      </p:sp>
      <p:sp>
        <p:nvSpPr>
          <p:cNvPr id="14" name="Shape 10"/>
          <p:cNvSpPr/>
          <p:nvPr/>
        </p:nvSpPr>
        <p:spPr>
          <a:xfrm>
            <a:off x="756642" y="3183731"/>
            <a:ext cx="6514981" cy="1424940"/>
          </a:xfrm>
          <a:prstGeom prst="roundRect">
            <a:avLst>
              <a:gd name="adj" fmla="val 8876"/>
            </a:avLst>
          </a:prstGeom>
          <a:solidFill>
            <a:srgbClr val="E8F3E8"/>
          </a:solidFill>
          <a:ln/>
        </p:spPr>
      </p:sp>
      <p:sp>
        <p:nvSpPr>
          <p:cNvPr id="15" name="Shape 11"/>
          <p:cNvSpPr/>
          <p:nvPr/>
        </p:nvSpPr>
        <p:spPr>
          <a:xfrm>
            <a:off x="897136" y="3324225"/>
            <a:ext cx="421481" cy="421481"/>
          </a:xfrm>
          <a:prstGeom prst="roundRect">
            <a:avLst>
              <a:gd name="adj" fmla="val 21692759"/>
            </a:avLst>
          </a:prstGeom>
          <a:solidFill>
            <a:srgbClr val="438951"/>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2984" y="3440073"/>
            <a:ext cx="189667" cy="189667"/>
          </a:xfrm>
          <a:prstGeom prst="rect">
            <a:avLst/>
          </a:prstGeom>
        </p:spPr>
      </p:pic>
      <p:sp>
        <p:nvSpPr>
          <p:cNvPr id="17" name="Text 12"/>
          <p:cNvSpPr/>
          <p:nvPr/>
        </p:nvSpPr>
        <p:spPr>
          <a:xfrm>
            <a:off x="897136" y="3832741"/>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Poor AQI</a:t>
            </a:r>
            <a:endParaRPr lang="en-US" sz="1350" dirty="0"/>
          </a:p>
        </p:txBody>
      </p:sp>
      <p:sp>
        <p:nvSpPr>
          <p:cNvPr id="18" name="Text 13"/>
          <p:cNvSpPr/>
          <p:nvPr/>
        </p:nvSpPr>
        <p:spPr>
          <a:xfrm>
            <a:off x="897136" y="4104323"/>
            <a:ext cx="623399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Air quality index spikes that make outdoor operations unsafe, especially during extended exposure windows when breathing conditions and worker health are at higher risk.</a:t>
            </a:r>
            <a:endParaRPr lang="en-US" sz="1100" dirty="0"/>
          </a:p>
        </p:txBody>
      </p:sp>
      <p:sp>
        <p:nvSpPr>
          <p:cNvPr id="19" name="Shape 14"/>
          <p:cNvSpPr/>
          <p:nvPr/>
        </p:nvSpPr>
        <p:spPr>
          <a:xfrm>
            <a:off x="7358658" y="3183731"/>
            <a:ext cx="6515100" cy="1424940"/>
          </a:xfrm>
          <a:prstGeom prst="roundRect">
            <a:avLst>
              <a:gd name="adj" fmla="val 8876"/>
            </a:avLst>
          </a:prstGeom>
          <a:solidFill>
            <a:srgbClr val="E8F3E8"/>
          </a:solidFill>
          <a:ln/>
        </p:spPr>
      </p:sp>
      <p:sp>
        <p:nvSpPr>
          <p:cNvPr id="20" name="Shape 15"/>
          <p:cNvSpPr/>
          <p:nvPr/>
        </p:nvSpPr>
        <p:spPr>
          <a:xfrm>
            <a:off x="7499152" y="3324225"/>
            <a:ext cx="421481" cy="421481"/>
          </a:xfrm>
          <a:prstGeom prst="roundRect">
            <a:avLst>
              <a:gd name="adj" fmla="val 21692759"/>
            </a:avLst>
          </a:prstGeom>
          <a:solidFill>
            <a:srgbClr val="438951"/>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4999" y="3440073"/>
            <a:ext cx="189667" cy="189667"/>
          </a:xfrm>
          <a:prstGeom prst="rect">
            <a:avLst/>
          </a:prstGeom>
        </p:spPr>
      </p:pic>
      <p:sp>
        <p:nvSpPr>
          <p:cNvPr id="22" name="Text 16"/>
          <p:cNvSpPr/>
          <p:nvPr/>
        </p:nvSpPr>
        <p:spPr>
          <a:xfrm>
            <a:off x="7499152" y="3832741"/>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Platform Outage</a:t>
            </a:r>
            <a:endParaRPr lang="en-US" sz="1350" dirty="0"/>
          </a:p>
        </p:txBody>
      </p:sp>
      <p:sp>
        <p:nvSpPr>
          <p:cNvPr id="23" name="Text 17"/>
          <p:cNvSpPr/>
          <p:nvPr/>
        </p:nvSpPr>
        <p:spPr>
          <a:xfrm>
            <a:off x="7499152" y="4104323"/>
            <a:ext cx="623411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Verified app downtime on Swiggy, Zomato, Blinkit, and similar platforms when system failures stop workers from receiving orders or completing paid tasks.</a:t>
            </a:r>
            <a:endParaRPr lang="en-US" sz="1100" dirty="0"/>
          </a:p>
        </p:txBody>
      </p:sp>
      <p:sp>
        <p:nvSpPr>
          <p:cNvPr id="24" name="Shape 18"/>
          <p:cNvSpPr/>
          <p:nvPr/>
        </p:nvSpPr>
        <p:spPr>
          <a:xfrm>
            <a:off x="756642" y="4695706"/>
            <a:ext cx="6514981" cy="1424940"/>
          </a:xfrm>
          <a:prstGeom prst="roundRect">
            <a:avLst>
              <a:gd name="adj" fmla="val 8876"/>
            </a:avLst>
          </a:prstGeom>
          <a:solidFill>
            <a:srgbClr val="E8F3E8"/>
          </a:solidFill>
          <a:ln/>
        </p:spPr>
      </p:sp>
      <p:sp>
        <p:nvSpPr>
          <p:cNvPr id="25" name="Shape 19"/>
          <p:cNvSpPr/>
          <p:nvPr/>
        </p:nvSpPr>
        <p:spPr>
          <a:xfrm>
            <a:off x="897136" y="4836200"/>
            <a:ext cx="421481" cy="421481"/>
          </a:xfrm>
          <a:prstGeom prst="roundRect">
            <a:avLst>
              <a:gd name="adj" fmla="val 21692759"/>
            </a:avLst>
          </a:prstGeom>
          <a:solidFill>
            <a:srgbClr val="438951"/>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2984" y="4952048"/>
            <a:ext cx="189667" cy="189667"/>
          </a:xfrm>
          <a:prstGeom prst="rect">
            <a:avLst/>
          </a:prstGeom>
        </p:spPr>
      </p:pic>
      <p:sp>
        <p:nvSpPr>
          <p:cNvPr id="27" name="Text 20"/>
          <p:cNvSpPr/>
          <p:nvPr/>
        </p:nvSpPr>
        <p:spPr>
          <a:xfrm>
            <a:off x="897136" y="5344716"/>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Bandh / Strike</a:t>
            </a:r>
            <a:endParaRPr lang="en-US" sz="1350" dirty="0"/>
          </a:p>
        </p:txBody>
      </p:sp>
      <p:sp>
        <p:nvSpPr>
          <p:cNvPr id="28" name="Text 21"/>
          <p:cNvSpPr/>
          <p:nvPr/>
        </p:nvSpPr>
        <p:spPr>
          <a:xfrm>
            <a:off x="897136" y="5616297"/>
            <a:ext cx="623399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Civil disruptions confirmed via geo-tagged reports, covering road closures, local shutdowns, and protest-related interruptions that can make service routes inaccessible.</a:t>
            </a:r>
            <a:endParaRPr lang="en-US" sz="1100" dirty="0"/>
          </a:p>
        </p:txBody>
      </p:sp>
      <p:sp>
        <p:nvSpPr>
          <p:cNvPr id="29" name="Shape 22"/>
          <p:cNvSpPr/>
          <p:nvPr/>
        </p:nvSpPr>
        <p:spPr>
          <a:xfrm>
            <a:off x="7358658" y="4695706"/>
            <a:ext cx="6515100" cy="1424940"/>
          </a:xfrm>
          <a:prstGeom prst="roundRect">
            <a:avLst>
              <a:gd name="adj" fmla="val 8876"/>
            </a:avLst>
          </a:prstGeom>
          <a:solidFill>
            <a:srgbClr val="E8F3E8"/>
          </a:solidFill>
          <a:ln/>
        </p:spPr>
      </p:sp>
      <p:sp>
        <p:nvSpPr>
          <p:cNvPr id="30" name="Shape 23"/>
          <p:cNvSpPr/>
          <p:nvPr/>
        </p:nvSpPr>
        <p:spPr>
          <a:xfrm>
            <a:off x="7499152" y="4836200"/>
            <a:ext cx="421481" cy="421481"/>
          </a:xfrm>
          <a:prstGeom prst="roundRect">
            <a:avLst>
              <a:gd name="adj" fmla="val 21692759"/>
            </a:avLst>
          </a:prstGeom>
          <a:solidFill>
            <a:srgbClr val="438951"/>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14999" y="4952048"/>
            <a:ext cx="189667" cy="189667"/>
          </a:xfrm>
          <a:prstGeom prst="rect">
            <a:avLst/>
          </a:prstGeom>
        </p:spPr>
      </p:pic>
      <p:sp>
        <p:nvSpPr>
          <p:cNvPr id="32" name="Text 24"/>
          <p:cNvSpPr/>
          <p:nvPr/>
        </p:nvSpPr>
        <p:spPr>
          <a:xfrm>
            <a:off x="7499152" y="5344716"/>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Internet Blackout</a:t>
            </a:r>
            <a:endParaRPr lang="en-US" sz="1350" dirty="0"/>
          </a:p>
        </p:txBody>
      </p:sp>
      <p:sp>
        <p:nvSpPr>
          <p:cNvPr id="33" name="Text 25"/>
          <p:cNvSpPr/>
          <p:nvPr/>
        </p:nvSpPr>
        <p:spPr>
          <a:xfrm>
            <a:off x="7499152" y="5616297"/>
            <a:ext cx="623411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Network-level outage detection across zones, designed for moments when connectivity failures prevent app access, order updates, navigation, or payout workflows.</a:t>
            </a:r>
            <a:endParaRPr lang="en-US" sz="1100" dirty="0"/>
          </a:p>
        </p:txBody>
      </p:sp>
      <p:sp>
        <p:nvSpPr>
          <p:cNvPr id="34" name="Shape 26"/>
          <p:cNvSpPr/>
          <p:nvPr/>
        </p:nvSpPr>
        <p:spPr>
          <a:xfrm>
            <a:off x="756642" y="6207681"/>
            <a:ext cx="6514981" cy="1424940"/>
          </a:xfrm>
          <a:prstGeom prst="roundRect">
            <a:avLst>
              <a:gd name="adj" fmla="val 8876"/>
            </a:avLst>
          </a:prstGeom>
          <a:solidFill>
            <a:srgbClr val="E8F3E8"/>
          </a:solidFill>
          <a:ln/>
        </p:spPr>
      </p:sp>
      <p:sp>
        <p:nvSpPr>
          <p:cNvPr id="35" name="Shape 27"/>
          <p:cNvSpPr/>
          <p:nvPr/>
        </p:nvSpPr>
        <p:spPr>
          <a:xfrm>
            <a:off x="897136" y="6348174"/>
            <a:ext cx="421481" cy="421481"/>
          </a:xfrm>
          <a:prstGeom prst="roundRect">
            <a:avLst>
              <a:gd name="adj" fmla="val 21692759"/>
            </a:avLst>
          </a:prstGeom>
          <a:solidFill>
            <a:srgbClr val="438951"/>
          </a:solidFill>
          <a:ln/>
        </p:spPr>
      </p:sp>
      <p:pic>
        <p:nvPicPr>
          <p:cNvPr id="36"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12984" y="6464022"/>
            <a:ext cx="189667" cy="189667"/>
          </a:xfrm>
          <a:prstGeom prst="rect">
            <a:avLst/>
          </a:prstGeom>
        </p:spPr>
      </p:pic>
      <p:sp>
        <p:nvSpPr>
          <p:cNvPr id="37" name="Text 28"/>
          <p:cNvSpPr/>
          <p:nvPr/>
        </p:nvSpPr>
        <p:spPr>
          <a:xfrm>
            <a:off x="897136" y="6856690"/>
            <a:ext cx="1756529"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Traffic Blockage</a:t>
            </a:r>
            <a:endParaRPr lang="en-US" sz="1350" dirty="0"/>
          </a:p>
        </p:txBody>
      </p:sp>
      <p:sp>
        <p:nvSpPr>
          <p:cNvPr id="38" name="Text 29"/>
          <p:cNvSpPr/>
          <p:nvPr/>
        </p:nvSpPr>
        <p:spPr>
          <a:xfrm>
            <a:off x="897136" y="7128272"/>
            <a:ext cx="623399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Severe congestion that makes a zone undeliverable or too slow to service efficiently, reducing earning potential even when demand is still present.</a:t>
            </a:r>
            <a:endParaRPr lang="en-US" sz="1100" dirty="0"/>
          </a:p>
        </p:txBody>
      </p:sp>
      <p:sp>
        <p:nvSpPr>
          <p:cNvPr id="39" name="Shape 30"/>
          <p:cNvSpPr/>
          <p:nvPr/>
        </p:nvSpPr>
        <p:spPr>
          <a:xfrm>
            <a:off x="7358658" y="6207681"/>
            <a:ext cx="6515100" cy="1424940"/>
          </a:xfrm>
          <a:prstGeom prst="roundRect">
            <a:avLst>
              <a:gd name="adj" fmla="val 8876"/>
            </a:avLst>
          </a:prstGeom>
          <a:solidFill>
            <a:srgbClr val="E8F3E8"/>
          </a:solidFill>
          <a:ln/>
        </p:spPr>
      </p:sp>
      <p:sp>
        <p:nvSpPr>
          <p:cNvPr id="40" name="Shape 31"/>
          <p:cNvSpPr/>
          <p:nvPr/>
        </p:nvSpPr>
        <p:spPr>
          <a:xfrm>
            <a:off x="7499152" y="6348174"/>
            <a:ext cx="421481" cy="421481"/>
          </a:xfrm>
          <a:prstGeom prst="roundRect">
            <a:avLst>
              <a:gd name="adj" fmla="val 21692759"/>
            </a:avLst>
          </a:prstGeom>
          <a:solidFill>
            <a:srgbClr val="438951"/>
          </a:solidFill>
          <a:ln/>
        </p:spPr>
      </p:sp>
      <p:pic>
        <p:nvPicPr>
          <p:cNvPr id="41"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14999" y="6464022"/>
            <a:ext cx="189667" cy="189667"/>
          </a:xfrm>
          <a:prstGeom prst="rect">
            <a:avLst/>
          </a:prstGeom>
        </p:spPr>
      </p:pic>
      <p:sp>
        <p:nvSpPr>
          <p:cNvPr id="42" name="Text 32"/>
          <p:cNvSpPr/>
          <p:nvPr/>
        </p:nvSpPr>
        <p:spPr>
          <a:xfrm>
            <a:off x="7499152" y="6856690"/>
            <a:ext cx="1816537" cy="219432"/>
          </a:xfrm>
          <a:prstGeom prst="rect">
            <a:avLst/>
          </a:prstGeom>
          <a:noFill/>
          <a:ln/>
        </p:spPr>
        <p:txBody>
          <a:bodyPr wrap="none" lIns="0" tIns="0" rIns="0" bIns="0" rtlCol="0" anchor="t"/>
          <a:lstStyle/>
          <a:p>
            <a:pPr marL="0" indent="0" algn="l">
              <a:lnSpc>
                <a:spcPts val="1700"/>
              </a:lnSpc>
              <a:buNone/>
            </a:pPr>
            <a:r>
              <a:rPr lang="en-US" sz="1350" b="1" dirty="0">
                <a:solidFill>
                  <a:srgbClr val="405449"/>
                </a:solidFill>
                <a:latin typeface="Fraunces Extra Bold" pitchFamily="34" charset="0"/>
                <a:ea typeface="Fraunces Extra Bold" pitchFamily="34" charset="-122"/>
                <a:cs typeface="Fraunces Extra Bold" pitchFamily="34" charset="-120"/>
              </a:rPr>
              <a:t>Cyclone / Full Shield</a:t>
            </a:r>
            <a:endParaRPr lang="en-US" sz="1350" dirty="0"/>
          </a:p>
        </p:txBody>
      </p:sp>
      <p:sp>
        <p:nvSpPr>
          <p:cNvPr id="43" name="Text 33"/>
          <p:cNvSpPr/>
          <p:nvPr/>
        </p:nvSpPr>
        <p:spPr>
          <a:xfrm>
            <a:off x="7499152" y="7128272"/>
            <a:ext cx="6234113" cy="363855"/>
          </a:xfrm>
          <a:prstGeom prst="rect">
            <a:avLst/>
          </a:prstGeom>
          <a:noFill/>
          <a:ln/>
        </p:spPr>
        <p:txBody>
          <a:bodyPr wrap="square" lIns="0" tIns="0" rIns="0" bIns="0" rtlCol="0" anchor="t"/>
          <a:lstStyle/>
          <a:p>
            <a:pPr marL="0" indent="0" algn="l">
              <a:lnSpc>
                <a:spcPts val="1400"/>
              </a:lnSpc>
              <a:buNone/>
            </a:pPr>
            <a:r>
              <a:rPr lang="en-US" sz="1100" dirty="0">
                <a:solidFill>
                  <a:srgbClr val="405449"/>
                </a:solidFill>
                <a:latin typeface="Nobile" pitchFamily="34" charset="0"/>
                <a:ea typeface="Nobile" pitchFamily="34" charset="-122"/>
                <a:cs typeface="Nobile" pitchFamily="34" charset="-120"/>
              </a:rPr>
              <a:t>Maximum payout activated for catastrophic events, providing the strongest level of protection when weather or regional disruption creates widespread shutdown conditions.</a:t>
            </a:r>
            <a:endParaRPr lang="en-US" sz="1100" dirty="0"/>
          </a:p>
        </p:txBody>
      </p:sp>
      <p:sp>
        <p:nvSpPr>
          <p:cNvPr id="44" name="Rectangle 43">
            <a:extLst>
              <a:ext uri="{FF2B5EF4-FFF2-40B4-BE49-F238E27FC236}">
                <a16:creationId xmlns:a16="http://schemas.microsoft.com/office/drawing/2014/main" id="{EFB1A1AD-EA21-5ED0-B389-D2D40AA422D2}"/>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0405" y="229848"/>
            <a:ext cx="8005882" cy="531614"/>
          </a:xfrm>
          <a:prstGeom prst="rect">
            <a:avLst/>
          </a:prstGeom>
          <a:noFill/>
          <a:ln/>
        </p:spPr>
        <p:txBody>
          <a:bodyPr wrap="none" lIns="0" tIns="0" rIns="0" bIns="0" rtlCol="0" anchor="t"/>
          <a:lstStyle/>
          <a:p>
            <a:pPr marL="0" indent="0" algn="l">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Demo Flow: 3-Minute Full Experience</a:t>
            </a:r>
            <a:endParaRPr lang="en-US" sz="3300" dirty="0"/>
          </a:p>
        </p:txBody>
      </p:sp>
      <p:pic>
        <p:nvPicPr>
          <p:cNvPr id="3" name="Image 0" descr="preencoded.png"/>
          <p:cNvPicPr>
            <a:picLocks noChangeAspect="1"/>
          </p:cNvPicPr>
          <p:nvPr/>
        </p:nvPicPr>
        <p:blipFill>
          <a:blip r:embed="rId3"/>
          <a:stretch>
            <a:fillRect/>
          </a:stretch>
        </p:blipFill>
        <p:spPr>
          <a:xfrm>
            <a:off x="2424113" y="1418153"/>
            <a:ext cx="9782056" cy="4401860"/>
          </a:xfrm>
          <a:prstGeom prst="rect">
            <a:avLst/>
          </a:prstGeom>
        </p:spPr>
      </p:pic>
      <p:sp>
        <p:nvSpPr>
          <p:cNvPr id="4" name="Text 1"/>
          <p:cNvSpPr/>
          <p:nvPr/>
        </p:nvSpPr>
        <p:spPr>
          <a:xfrm>
            <a:off x="3897644" y="948881"/>
            <a:ext cx="1711834" cy="264535"/>
          </a:xfrm>
          <a:prstGeom prst="rect">
            <a:avLst/>
          </a:prstGeom>
          <a:noFill/>
          <a:ln/>
        </p:spPr>
        <p:txBody>
          <a:bodyPr wrap="non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Onboarding</a:t>
            </a:r>
            <a:endParaRPr lang="en-US" sz="1650" dirty="0"/>
          </a:p>
        </p:txBody>
      </p:sp>
      <p:sp>
        <p:nvSpPr>
          <p:cNvPr id="5" name="Text 2"/>
          <p:cNvSpPr/>
          <p:nvPr/>
        </p:nvSpPr>
        <p:spPr>
          <a:xfrm>
            <a:off x="3636815" y="1276936"/>
            <a:ext cx="2233491" cy="1481395"/>
          </a:xfrm>
          <a:prstGeom prst="rect">
            <a:avLst/>
          </a:prstGeom>
          <a:noFill/>
          <a:ln/>
        </p:spPr>
        <p:txBody>
          <a:bodyPr wrap="square" lIns="0" tIns="0" rIns="0" bIns="0" rtlCol="0" anchor="t"/>
          <a:lstStyle/>
          <a:p>
            <a:pPr algn="ctr">
              <a:lnSpc>
                <a:spcPts val="1450"/>
              </a:lnSpc>
            </a:pPr>
            <a:r>
              <a:rPr lang="en-US" sz="1300" dirty="0">
                <a:solidFill>
                  <a:srgbClr val="405449"/>
                </a:solidFill>
                <a:latin typeface="Nobile" pitchFamily="34" charset="0"/>
              </a:rPr>
              <a:t>Karthik registers </a:t>
            </a:r>
            <a:r>
              <a:rPr lang="en-US" sz="1300" dirty="0">
                <a:solidFill>
                  <a:srgbClr val="405449"/>
                </a:solidFill>
                <a:latin typeface="Nobile" pitchFamily="34" charset="0"/>
                <a:ea typeface="Nobile" pitchFamily="34" charset="-122"/>
                <a:cs typeface="Nobile" pitchFamily="34" charset="-120"/>
              </a:rPr>
              <a:t>and links UPI in about 60 seconds so that he can become eligible for coverage without a lengthy setup process.</a:t>
            </a:r>
            <a:endParaRPr lang="en-US" sz="13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68681" y="2800201"/>
            <a:ext cx="379167" cy="379167"/>
          </a:xfrm>
          <a:prstGeom prst="rect">
            <a:avLst/>
          </a:prstGeom>
        </p:spPr>
      </p:pic>
      <p:sp>
        <p:nvSpPr>
          <p:cNvPr id="7" name="Text 3"/>
          <p:cNvSpPr/>
          <p:nvPr/>
        </p:nvSpPr>
        <p:spPr>
          <a:xfrm>
            <a:off x="4127192" y="4431868"/>
            <a:ext cx="1721240" cy="529070"/>
          </a:xfrm>
          <a:prstGeom prst="rect">
            <a:avLst/>
          </a:prstGeom>
          <a:noFill/>
          <a:ln/>
        </p:spPr>
        <p:txBody>
          <a:bodyPr wrap="squar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Trigger Detected</a:t>
            </a:r>
            <a:endParaRPr lang="en-US" sz="1650" dirty="0"/>
          </a:p>
        </p:txBody>
      </p:sp>
      <p:sp>
        <p:nvSpPr>
          <p:cNvPr id="8" name="Text 4"/>
          <p:cNvSpPr/>
          <p:nvPr/>
        </p:nvSpPr>
        <p:spPr>
          <a:xfrm>
            <a:off x="4886325" y="4852905"/>
            <a:ext cx="3100301" cy="1666569"/>
          </a:xfrm>
          <a:prstGeom prst="rect">
            <a:avLst/>
          </a:prstGeom>
          <a:noFill/>
          <a:ln/>
        </p:spPr>
        <p:txBody>
          <a:bodyPr wrap="square" lIns="0" tIns="0" rIns="0" bIns="0" rtlCol="0" anchor="t"/>
          <a:lstStyle/>
          <a:p>
            <a:pPr algn="ctr">
              <a:lnSpc>
                <a:spcPts val="1450"/>
              </a:lnSpc>
            </a:pPr>
            <a:r>
              <a:rPr lang="en-US" sz="1300" dirty="0">
                <a:solidFill>
                  <a:srgbClr val="405449"/>
                </a:solidFill>
                <a:latin typeface="Nobile" pitchFamily="34" charset="0"/>
              </a:rPr>
              <a:t>Rain stops deliveries in his zone and the he is notified instantly with </a:t>
            </a:r>
            <a:r>
              <a:rPr lang="en-US" sz="1300" dirty="0">
                <a:solidFill>
                  <a:srgbClr val="405449"/>
                </a:solidFill>
                <a:latin typeface="Nobile" pitchFamily="34" charset="0"/>
                <a:ea typeface="Nobile" pitchFamily="34" charset="-122"/>
                <a:cs typeface="Nobile" pitchFamily="34" charset="-120"/>
              </a:rPr>
              <a:t>clear context about what happened and why the protection has been activated.</a:t>
            </a:r>
            <a:endParaRPr lang="en-US" sz="13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61704" y="4182836"/>
            <a:ext cx="379166" cy="379167"/>
          </a:xfrm>
          <a:prstGeom prst="rect">
            <a:avLst/>
          </a:prstGeom>
        </p:spPr>
      </p:pic>
      <p:sp>
        <p:nvSpPr>
          <p:cNvPr id="10" name="Text 5"/>
          <p:cNvSpPr/>
          <p:nvPr/>
        </p:nvSpPr>
        <p:spPr>
          <a:xfrm>
            <a:off x="7264879" y="906719"/>
            <a:ext cx="1711835" cy="529070"/>
          </a:xfrm>
          <a:prstGeom prst="rect">
            <a:avLst/>
          </a:prstGeom>
          <a:noFill/>
          <a:ln/>
        </p:spPr>
        <p:txBody>
          <a:bodyPr wrap="squar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Claim Processed</a:t>
            </a:r>
            <a:endParaRPr lang="en-US" sz="1650" dirty="0"/>
          </a:p>
        </p:txBody>
      </p:sp>
      <p:sp>
        <p:nvSpPr>
          <p:cNvPr id="11" name="Text 6"/>
          <p:cNvSpPr/>
          <p:nvPr/>
        </p:nvSpPr>
        <p:spPr>
          <a:xfrm>
            <a:off x="7264879" y="1199177"/>
            <a:ext cx="1711835" cy="1481395"/>
          </a:xfrm>
          <a:prstGeom prst="rect">
            <a:avLst/>
          </a:prstGeom>
          <a:noFill/>
          <a:ln/>
        </p:spPr>
        <p:txBody>
          <a:bodyPr wrap="square" lIns="0" tIns="0" rIns="0" bIns="0" rtlCol="0" anchor="t"/>
          <a:lstStyle/>
          <a:p>
            <a:pPr marL="0" indent="0" algn="ctr">
              <a:lnSpc>
                <a:spcPts val="1450"/>
              </a:lnSpc>
              <a:buNone/>
            </a:pPr>
            <a:r>
              <a:rPr lang="en-US" sz="1300" dirty="0">
                <a:solidFill>
                  <a:srgbClr val="405449"/>
                </a:solidFill>
                <a:latin typeface="Nobile" pitchFamily="34" charset="0"/>
                <a:ea typeface="Nobile" pitchFamily="34" charset="-122"/>
                <a:cs typeface="Nobile" pitchFamily="34" charset="-120"/>
              </a:rPr>
              <a:t>The claim is validated automatically using the trigger data, so Karthik avoids paperwork, follow-up calls, and any manual form-filling.</a:t>
            </a:r>
            <a:endParaRPr lang="en-US" sz="13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64132" y="2762578"/>
            <a:ext cx="379167" cy="379167"/>
          </a:xfrm>
          <a:prstGeom prst="rect">
            <a:avLst/>
          </a:prstGeom>
        </p:spPr>
      </p:pic>
      <p:sp>
        <p:nvSpPr>
          <p:cNvPr id="13" name="Text 7"/>
          <p:cNvSpPr/>
          <p:nvPr/>
        </p:nvSpPr>
        <p:spPr>
          <a:xfrm>
            <a:off x="10737449" y="4372450"/>
            <a:ext cx="1711834" cy="264535"/>
          </a:xfrm>
          <a:prstGeom prst="rect">
            <a:avLst/>
          </a:prstGeom>
          <a:noFill/>
          <a:ln/>
        </p:spPr>
        <p:txBody>
          <a:bodyPr wrap="none" lIns="0" tIns="0" rIns="0" bIns="0" rtlCol="0" anchor="t"/>
          <a:lstStyle/>
          <a:p>
            <a:pPr marL="0" indent="0" algn="ctr">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Wallet Credited in 3 minutes</a:t>
            </a:r>
            <a:endParaRPr lang="en-US" sz="1650" dirty="0"/>
          </a:p>
        </p:txBody>
      </p:sp>
      <p:sp>
        <p:nvSpPr>
          <p:cNvPr id="14" name="Text 8"/>
          <p:cNvSpPr/>
          <p:nvPr/>
        </p:nvSpPr>
        <p:spPr>
          <a:xfrm>
            <a:off x="8432804" y="4878740"/>
            <a:ext cx="3100300" cy="1481395"/>
          </a:xfrm>
          <a:prstGeom prst="rect">
            <a:avLst/>
          </a:prstGeom>
          <a:noFill/>
          <a:ln/>
        </p:spPr>
        <p:txBody>
          <a:bodyPr wrap="square" lIns="0" tIns="0" rIns="0" bIns="0" rtlCol="0" anchor="t"/>
          <a:lstStyle/>
          <a:p>
            <a:pPr algn="ctr">
              <a:lnSpc>
                <a:spcPts val="1450"/>
              </a:lnSpc>
            </a:pPr>
            <a:r>
              <a:rPr lang="en-US" sz="1300" dirty="0">
                <a:solidFill>
                  <a:srgbClr val="405449"/>
                </a:solidFill>
                <a:latin typeface="Nobile" pitchFamily="34" charset="0"/>
              </a:rPr>
              <a:t>Once approved, </a:t>
            </a:r>
            <a:r>
              <a:rPr lang="en-IN" sz="1300" dirty="0">
                <a:solidFill>
                  <a:srgbClr val="405449"/>
                </a:solidFill>
                <a:latin typeface="Nobile" pitchFamily="34" charset="0"/>
              </a:rPr>
              <a:t>₹500 credited within minutes(</a:t>
            </a:r>
            <a:r>
              <a:rPr lang="en-US" sz="1300" dirty="0">
                <a:solidFill>
                  <a:srgbClr val="405449"/>
                </a:solidFill>
                <a:latin typeface="Nobile" pitchFamily="34" charset="0"/>
              </a:rPr>
              <a:t>70% of the payout) </a:t>
            </a:r>
            <a:r>
              <a:rPr lang="en-US" sz="1300" dirty="0">
                <a:solidFill>
                  <a:srgbClr val="405449"/>
                </a:solidFill>
                <a:latin typeface="Nobile" pitchFamily="34" charset="0"/>
                <a:ea typeface="Nobile" pitchFamily="34" charset="-122"/>
                <a:cs typeface="Nobile" pitchFamily="34" charset="-120"/>
              </a:rPr>
              <a:t>lands in his Hustlr wallet quickly, giving </a:t>
            </a:r>
            <a:r>
              <a:rPr lang="en-US" sz="1300" dirty="0" err="1">
                <a:solidFill>
                  <a:srgbClr val="405449"/>
                </a:solidFill>
                <a:latin typeface="Nobile" pitchFamily="34" charset="0"/>
                <a:ea typeface="Nobile" pitchFamily="34" charset="-122"/>
                <a:cs typeface="Nobile" pitchFamily="34" charset="-120"/>
              </a:rPr>
              <a:t>himimmediate</a:t>
            </a:r>
            <a:r>
              <a:rPr lang="en-US" sz="1300" dirty="0">
                <a:solidFill>
                  <a:srgbClr val="405449"/>
                </a:solidFill>
                <a:latin typeface="Nobile" pitchFamily="34" charset="0"/>
                <a:ea typeface="Nobile" pitchFamily="34" charset="-122"/>
                <a:cs typeface="Nobile" pitchFamily="34" charset="-120"/>
              </a:rPr>
              <a:t> financial support when income has been interrupted.</a:t>
            </a:r>
            <a:endParaRPr lang="en-US" sz="13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8938" y="4182836"/>
            <a:ext cx="379168" cy="379167"/>
          </a:xfrm>
          <a:prstGeom prst="rect">
            <a:avLst/>
          </a:prstGeom>
        </p:spPr>
      </p:pic>
      <p:sp>
        <p:nvSpPr>
          <p:cNvPr id="16" name="Shape 9"/>
          <p:cNvSpPr/>
          <p:nvPr/>
        </p:nvSpPr>
        <p:spPr>
          <a:xfrm>
            <a:off x="793790" y="5963483"/>
            <a:ext cx="4262557" cy="1634728"/>
          </a:xfrm>
          <a:prstGeom prst="roundRect">
            <a:avLst>
              <a:gd name="adj" fmla="val 9366"/>
            </a:avLst>
          </a:prstGeom>
          <a:solidFill>
            <a:srgbClr val="E8F3E8"/>
          </a:solidFill>
          <a:ln/>
        </p:spPr>
      </p:sp>
      <p:sp>
        <p:nvSpPr>
          <p:cNvPr id="17" name="Text 10"/>
          <p:cNvSpPr/>
          <p:nvPr/>
        </p:nvSpPr>
        <p:spPr>
          <a:xfrm>
            <a:off x="963811" y="613350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60 sec</a:t>
            </a:r>
            <a:endParaRPr lang="en-US" sz="1650" dirty="0"/>
          </a:p>
        </p:txBody>
      </p:sp>
      <p:sp>
        <p:nvSpPr>
          <p:cNvPr id="18" name="Text 11"/>
          <p:cNvSpPr/>
          <p:nvPr/>
        </p:nvSpPr>
        <p:spPr>
          <a:xfrm>
            <a:off x="963811" y="6475690"/>
            <a:ext cx="3922514" cy="952500"/>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Onboarding to active coverage, with zone setup and UPI linking completed in a fast, low-friction flow that gets the worker protected almost immediately.</a:t>
            </a:r>
            <a:endParaRPr lang="en-US" sz="1300" dirty="0"/>
          </a:p>
        </p:txBody>
      </p:sp>
      <p:sp>
        <p:nvSpPr>
          <p:cNvPr id="19" name="Shape 12"/>
          <p:cNvSpPr/>
          <p:nvPr/>
        </p:nvSpPr>
        <p:spPr>
          <a:xfrm>
            <a:off x="5183862" y="5963483"/>
            <a:ext cx="4262557" cy="1634728"/>
          </a:xfrm>
          <a:prstGeom prst="roundRect">
            <a:avLst>
              <a:gd name="adj" fmla="val 9366"/>
            </a:avLst>
          </a:prstGeom>
          <a:solidFill>
            <a:srgbClr val="E8F3E8"/>
          </a:solidFill>
          <a:ln/>
        </p:spPr>
      </p:sp>
      <p:sp>
        <p:nvSpPr>
          <p:cNvPr id="20" name="Text 13"/>
          <p:cNvSpPr/>
          <p:nvPr/>
        </p:nvSpPr>
        <p:spPr>
          <a:xfrm>
            <a:off x="5353883" y="613350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&lt;3 min</a:t>
            </a:r>
            <a:endParaRPr lang="en-US" sz="1650" dirty="0"/>
          </a:p>
        </p:txBody>
      </p:sp>
      <p:sp>
        <p:nvSpPr>
          <p:cNvPr id="21" name="Text 14"/>
          <p:cNvSpPr/>
          <p:nvPr/>
        </p:nvSpPr>
        <p:spPr>
          <a:xfrm>
            <a:off x="5353883" y="6475690"/>
            <a:ext cx="3922514" cy="952500"/>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Trigger to UPI payout, with automated detection, instant notification, validation, and crediting designed to keep response times extremely short.</a:t>
            </a:r>
            <a:endParaRPr lang="en-US" sz="1300" dirty="0"/>
          </a:p>
        </p:txBody>
      </p:sp>
      <p:sp>
        <p:nvSpPr>
          <p:cNvPr id="22" name="Shape 15"/>
          <p:cNvSpPr/>
          <p:nvPr/>
        </p:nvSpPr>
        <p:spPr>
          <a:xfrm>
            <a:off x="9573935" y="5963483"/>
            <a:ext cx="4262557" cy="1634728"/>
          </a:xfrm>
          <a:prstGeom prst="roundRect">
            <a:avLst>
              <a:gd name="adj" fmla="val 9366"/>
            </a:avLst>
          </a:prstGeom>
          <a:solidFill>
            <a:srgbClr val="E8F3E8"/>
          </a:solidFill>
          <a:ln/>
        </p:spPr>
      </p:sp>
      <p:sp>
        <p:nvSpPr>
          <p:cNvPr id="23" name="Text 16"/>
          <p:cNvSpPr/>
          <p:nvPr/>
        </p:nvSpPr>
        <p:spPr>
          <a:xfrm>
            <a:off x="9743956" y="613350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0 forms</a:t>
            </a:r>
            <a:endParaRPr lang="en-US" sz="1650" dirty="0"/>
          </a:p>
        </p:txBody>
      </p:sp>
      <p:sp>
        <p:nvSpPr>
          <p:cNvPr id="24" name="Text 17"/>
          <p:cNvSpPr/>
          <p:nvPr/>
        </p:nvSpPr>
        <p:spPr>
          <a:xfrm>
            <a:off x="9743956" y="6475690"/>
            <a:ext cx="3922514" cy="952500"/>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Zero manual claims filed, because the entire experience is designed to remove paperwork, reduce effort, and minimize delays for the worker.</a:t>
            </a:r>
            <a:endParaRPr lang="en-US" sz="1300" dirty="0"/>
          </a:p>
        </p:txBody>
      </p:sp>
      <p:sp>
        <p:nvSpPr>
          <p:cNvPr id="25" name="Rectangle 24">
            <a:extLst>
              <a:ext uri="{FF2B5EF4-FFF2-40B4-BE49-F238E27FC236}">
                <a16:creationId xmlns:a16="http://schemas.microsoft.com/office/drawing/2014/main" id="{47C7D3A6-9E5D-8247-1BB1-CEA43418C09A}"/>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393334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4" name="Picture 3">
            <a:extLst>
              <a:ext uri="{FF2B5EF4-FFF2-40B4-BE49-F238E27FC236}">
                <a16:creationId xmlns:a16="http://schemas.microsoft.com/office/drawing/2014/main" id="{7F883D60-69F8-39C0-827A-3EF57EB1E02D}"/>
              </a:ext>
            </a:extLst>
          </p:cNvPr>
          <p:cNvPicPr>
            <a:picLocks noChangeAspect="1"/>
          </p:cNvPicPr>
          <p:nvPr/>
        </p:nvPicPr>
        <p:blipFill>
          <a:blip r:embed="rId3"/>
          <a:stretch>
            <a:fillRect/>
          </a:stretch>
        </p:blipFill>
        <p:spPr>
          <a:xfrm>
            <a:off x="1282390" y="1019469"/>
            <a:ext cx="10002644" cy="6892525"/>
          </a:xfrm>
          <a:prstGeom prst="rect">
            <a:avLst/>
          </a:prstGeom>
        </p:spPr>
      </p:pic>
      <p:sp>
        <p:nvSpPr>
          <p:cNvPr id="6" name="TextBox 5">
            <a:extLst>
              <a:ext uri="{FF2B5EF4-FFF2-40B4-BE49-F238E27FC236}">
                <a16:creationId xmlns:a16="http://schemas.microsoft.com/office/drawing/2014/main" id="{B5D2A3DB-D854-C02F-9446-4A7234FE0858}"/>
              </a:ext>
            </a:extLst>
          </p:cNvPr>
          <p:cNvSpPr txBox="1"/>
          <p:nvPr/>
        </p:nvSpPr>
        <p:spPr>
          <a:xfrm>
            <a:off x="793790" y="317606"/>
            <a:ext cx="7315200" cy="593624"/>
          </a:xfrm>
          <a:prstGeom prst="rect">
            <a:avLst/>
          </a:prstGeom>
          <a:noFill/>
        </p:spPr>
        <p:txBody>
          <a:bodyPr wrap="square">
            <a:spAutoFit/>
          </a:bodyPr>
          <a:lstStyle/>
          <a:p>
            <a:pPr marL="0" indent="0" algn="l">
              <a:lnSpc>
                <a:spcPts val="4050"/>
              </a:lnSpc>
              <a:buNone/>
            </a:pPr>
            <a:r>
              <a:rPr lang="en-US" sz="3200" b="1" dirty="0">
                <a:solidFill>
                  <a:srgbClr val="3B4540"/>
                </a:solidFill>
                <a:latin typeface="Fraunces Extra Bold" pitchFamily="34" charset="0"/>
                <a:ea typeface="Fraunces Extra Bold" pitchFamily="34" charset="-122"/>
                <a:cs typeface="Fraunces Extra Bold" pitchFamily="34" charset="-120"/>
              </a:rPr>
              <a:t>Tech Architecture </a:t>
            </a:r>
            <a:endParaRPr lang="en-US" sz="3200" dirty="0"/>
          </a:p>
        </p:txBody>
      </p:sp>
      <p:sp>
        <p:nvSpPr>
          <p:cNvPr id="3" name="Rectangle 2">
            <a:extLst>
              <a:ext uri="{FF2B5EF4-FFF2-40B4-BE49-F238E27FC236}">
                <a16:creationId xmlns:a16="http://schemas.microsoft.com/office/drawing/2014/main" id="{C755EF36-9FFA-95B4-DB30-BD29291C7D08}"/>
              </a:ext>
            </a:extLst>
          </p:cNvPr>
          <p:cNvSpPr/>
          <p:nvPr/>
        </p:nvSpPr>
        <p:spPr>
          <a:xfrm>
            <a:off x="12600878" y="7225990"/>
            <a:ext cx="2029522" cy="10036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718066"/>
            <a:ext cx="12427863" cy="531614"/>
          </a:xfrm>
          <a:prstGeom prst="rect">
            <a:avLst/>
          </a:prstGeom>
          <a:noFill/>
          <a:ln/>
        </p:spPr>
        <p:txBody>
          <a:bodyPr wrap="none" lIns="0" tIns="0" rIns="0" bIns="0" rtlCol="0" anchor="t"/>
          <a:lstStyle/>
          <a:p>
            <a:pPr marL="0" indent="0" algn="l">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Guidewire Integration: Enterprise-Grade Insurance Stack</a:t>
            </a:r>
            <a:endParaRPr lang="en-US" sz="3300" dirty="0"/>
          </a:p>
        </p:txBody>
      </p:sp>
      <p:sp>
        <p:nvSpPr>
          <p:cNvPr id="3" name="Text 1"/>
          <p:cNvSpPr/>
          <p:nvPr/>
        </p:nvSpPr>
        <p:spPr>
          <a:xfrm>
            <a:off x="793790" y="1504831"/>
            <a:ext cx="13042821" cy="714375"/>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Built on Guidewire's market-leading platform to support end-to-end insurance operations, including policy administration, claims handling, and billing automation. This integration is designed to help insurers and platform partners operate at scale with greater speed, consistency, and control across the full customer lifecycle.</a:t>
            </a:r>
            <a:endParaRPr lang="en-US" sz="1300" dirty="0"/>
          </a:p>
        </p:txBody>
      </p:sp>
      <p:sp>
        <p:nvSpPr>
          <p:cNvPr id="4" name="Shape 2"/>
          <p:cNvSpPr/>
          <p:nvPr/>
        </p:nvSpPr>
        <p:spPr>
          <a:xfrm>
            <a:off x="793790" y="2362676"/>
            <a:ext cx="6457593" cy="2510671"/>
          </a:xfrm>
          <a:prstGeom prst="roundRect">
            <a:avLst>
              <a:gd name="adj" fmla="val 6098"/>
            </a:avLst>
          </a:prstGeom>
          <a:solidFill>
            <a:srgbClr val="E8F3E8"/>
          </a:solidFill>
          <a:ln/>
        </p:spPr>
      </p:sp>
      <p:sp>
        <p:nvSpPr>
          <p:cNvPr id="5" name="Shape 3"/>
          <p:cNvSpPr/>
          <p:nvPr/>
        </p:nvSpPr>
        <p:spPr>
          <a:xfrm>
            <a:off x="963811" y="2532698"/>
            <a:ext cx="510302" cy="510302"/>
          </a:xfrm>
          <a:prstGeom prst="roundRect">
            <a:avLst>
              <a:gd name="adj" fmla="val 17917009"/>
            </a:avLst>
          </a:prstGeom>
          <a:solidFill>
            <a:srgbClr val="438951"/>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186" y="2672953"/>
            <a:ext cx="229553" cy="229552"/>
          </a:xfrm>
          <a:prstGeom prst="rect">
            <a:avLst/>
          </a:prstGeom>
        </p:spPr>
      </p:pic>
      <p:sp>
        <p:nvSpPr>
          <p:cNvPr id="7" name="Text 4"/>
          <p:cNvSpPr/>
          <p:nvPr/>
        </p:nvSpPr>
        <p:spPr>
          <a:xfrm>
            <a:off x="963811" y="317051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PolicyCenter</a:t>
            </a:r>
            <a:endParaRPr lang="en-US" sz="1650" dirty="0"/>
          </a:p>
        </p:txBody>
      </p:sp>
      <p:sp>
        <p:nvSpPr>
          <p:cNvPr id="8" name="Text 5"/>
          <p:cNvSpPr/>
          <p:nvPr/>
        </p:nvSpPr>
        <p:spPr>
          <a:xfrm>
            <a:off x="963811" y="3512701"/>
            <a:ext cx="6117550" cy="1190625"/>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Automates policy creation, underwriting, renewals, and policy updates with flexible rules that can adapt to worker activity patterns, coverage tiers, and eligibility changes. For example, coverage can be adjusted as workers take on more shifts or move between partner platforms, helping ensure policies stay aligned with real-world usage.</a:t>
            </a:r>
            <a:endParaRPr lang="en-US" sz="1300" dirty="0"/>
          </a:p>
        </p:txBody>
      </p:sp>
      <p:sp>
        <p:nvSpPr>
          <p:cNvPr id="9" name="Shape 6"/>
          <p:cNvSpPr/>
          <p:nvPr/>
        </p:nvSpPr>
        <p:spPr>
          <a:xfrm>
            <a:off x="7378898" y="2362676"/>
            <a:ext cx="6457712" cy="2510671"/>
          </a:xfrm>
          <a:prstGeom prst="roundRect">
            <a:avLst>
              <a:gd name="adj" fmla="val 6098"/>
            </a:avLst>
          </a:prstGeom>
          <a:solidFill>
            <a:srgbClr val="E8F3E8"/>
          </a:solidFill>
          <a:ln/>
        </p:spPr>
      </p:sp>
      <p:sp>
        <p:nvSpPr>
          <p:cNvPr id="10" name="Shape 7"/>
          <p:cNvSpPr/>
          <p:nvPr/>
        </p:nvSpPr>
        <p:spPr>
          <a:xfrm>
            <a:off x="7548920" y="2532698"/>
            <a:ext cx="510302" cy="510302"/>
          </a:xfrm>
          <a:prstGeom prst="roundRect">
            <a:avLst>
              <a:gd name="adj" fmla="val 17917009"/>
            </a:avLst>
          </a:prstGeom>
          <a:solidFill>
            <a:srgbClr val="438951"/>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89294" y="2672953"/>
            <a:ext cx="229553" cy="229552"/>
          </a:xfrm>
          <a:prstGeom prst="rect">
            <a:avLst/>
          </a:prstGeom>
        </p:spPr>
      </p:pic>
      <p:sp>
        <p:nvSpPr>
          <p:cNvPr id="12" name="Text 8"/>
          <p:cNvSpPr/>
          <p:nvPr/>
        </p:nvSpPr>
        <p:spPr>
          <a:xfrm>
            <a:off x="7548920" y="317051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ClaimCenter</a:t>
            </a:r>
            <a:endParaRPr lang="en-US" sz="1650" dirty="0"/>
          </a:p>
        </p:txBody>
      </p:sp>
      <p:sp>
        <p:nvSpPr>
          <p:cNvPr id="13" name="Text 9"/>
          <p:cNvSpPr/>
          <p:nvPr/>
        </p:nvSpPr>
        <p:spPr>
          <a:xfrm>
            <a:off x="7548920" y="3512701"/>
            <a:ext cx="6117669" cy="1190625"/>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Enables fast, consistent claims intake and adjudication with AI-assisted validation, reducing manual review and improving turnaround times. In practical terms, this supports instant auto-claims processing for common events, while more complex claims can be routed through structured review workflows with clear audit trails and real-time status tracking.</a:t>
            </a:r>
            <a:endParaRPr lang="en-US" sz="1300" dirty="0"/>
          </a:p>
        </p:txBody>
      </p:sp>
      <p:sp>
        <p:nvSpPr>
          <p:cNvPr id="14" name="Shape 10"/>
          <p:cNvSpPr/>
          <p:nvPr/>
        </p:nvSpPr>
        <p:spPr>
          <a:xfrm>
            <a:off x="793790" y="5000863"/>
            <a:ext cx="6457593" cy="2510671"/>
          </a:xfrm>
          <a:prstGeom prst="roundRect">
            <a:avLst>
              <a:gd name="adj" fmla="val 6098"/>
            </a:avLst>
          </a:prstGeom>
          <a:solidFill>
            <a:srgbClr val="E8F3E8"/>
          </a:solidFill>
          <a:ln/>
        </p:spPr>
      </p:sp>
      <p:sp>
        <p:nvSpPr>
          <p:cNvPr id="15" name="Shape 11"/>
          <p:cNvSpPr/>
          <p:nvPr/>
        </p:nvSpPr>
        <p:spPr>
          <a:xfrm>
            <a:off x="963811" y="5170884"/>
            <a:ext cx="510302" cy="510302"/>
          </a:xfrm>
          <a:prstGeom prst="roundRect">
            <a:avLst>
              <a:gd name="adj" fmla="val 17917009"/>
            </a:avLst>
          </a:prstGeom>
          <a:solidFill>
            <a:srgbClr val="438951"/>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186" y="5311140"/>
            <a:ext cx="229553" cy="229552"/>
          </a:xfrm>
          <a:prstGeom prst="rect">
            <a:avLst/>
          </a:prstGeom>
        </p:spPr>
      </p:pic>
      <p:sp>
        <p:nvSpPr>
          <p:cNvPr id="17" name="Text 12"/>
          <p:cNvSpPr/>
          <p:nvPr/>
        </p:nvSpPr>
        <p:spPr>
          <a:xfrm>
            <a:off x="963811" y="5808702"/>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BillingCenter</a:t>
            </a:r>
            <a:endParaRPr lang="en-US" sz="1650" dirty="0"/>
          </a:p>
        </p:txBody>
      </p:sp>
      <p:sp>
        <p:nvSpPr>
          <p:cNvPr id="18" name="Text 13"/>
          <p:cNvSpPr/>
          <p:nvPr/>
        </p:nvSpPr>
        <p:spPr>
          <a:xfrm>
            <a:off x="963811" y="6150888"/>
            <a:ext cx="6117550" cy="1190625"/>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Supports automated weekly payouts, premium collection, and subscription billing with flexible payment handling across different partner models. This helps simplify reconciliation, reduce payment delays, and improve cash flow visibility, whether the business is managing recurring premiums, micro-payments, or platform-funded coverage programs.</a:t>
            </a:r>
            <a:endParaRPr lang="en-US" sz="1300" dirty="0"/>
          </a:p>
        </p:txBody>
      </p:sp>
      <p:sp>
        <p:nvSpPr>
          <p:cNvPr id="19" name="Shape 14"/>
          <p:cNvSpPr/>
          <p:nvPr/>
        </p:nvSpPr>
        <p:spPr>
          <a:xfrm>
            <a:off x="7378898" y="5000863"/>
            <a:ext cx="6457712" cy="2510671"/>
          </a:xfrm>
          <a:prstGeom prst="roundRect">
            <a:avLst>
              <a:gd name="adj" fmla="val 6098"/>
            </a:avLst>
          </a:prstGeom>
          <a:solidFill>
            <a:srgbClr val="E8F3E8"/>
          </a:solidFill>
          <a:ln/>
        </p:spPr>
      </p:sp>
      <p:sp>
        <p:nvSpPr>
          <p:cNvPr id="20" name="Shape 15"/>
          <p:cNvSpPr/>
          <p:nvPr/>
        </p:nvSpPr>
        <p:spPr>
          <a:xfrm>
            <a:off x="7548920" y="5170884"/>
            <a:ext cx="510302" cy="510302"/>
          </a:xfrm>
          <a:prstGeom prst="roundRect">
            <a:avLst>
              <a:gd name="adj" fmla="val 17917009"/>
            </a:avLst>
          </a:prstGeom>
          <a:solidFill>
            <a:srgbClr val="438951"/>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89294" y="5311140"/>
            <a:ext cx="229553" cy="229552"/>
          </a:xfrm>
          <a:prstGeom prst="rect">
            <a:avLst/>
          </a:prstGeom>
        </p:spPr>
      </p:pic>
      <p:sp>
        <p:nvSpPr>
          <p:cNvPr id="22" name="Text 16"/>
          <p:cNvSpPr/>
          <p:nvPr/>
        </p:nvSpPr>
        <p:spPr>
          <a:xfrm>
            <a:off x="7548920" y="5808702"/>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Marketplace-Ready</a:t>
            </a:r>
            <a:endParaRPr lang="en-US" sz="1650" dirty="0"/>
          </a:p>
        </p:txBody>
      </p:sp>
      <p:sp>
        <p:nvSpPr>
          <p:cNvPr id="23" name="Text 17"/>
          <p:cNvSpPr/>
          <p:nvPr/>
        </p:nvSpPr>
        <p:spPr>
          <a:xfrm>
            <a:off x="7548920" y="6150888"/>
            <a:ext cx="6117669" cy="1190625"/>
          </a:xfrm>
          <a:prstGeom prst="rect">
            <a:avLst/>
          </a:prstGeom>
          <a:noFill/>
          <a:ln/>
        </p:spPr>
        <p:txBody>
          <a:bodyPr wrap="square" lIns="0" tIns="0" rIns="0" bIns="0" rtlCol="0" anchor="t"/>
          <a:lstStyle/>
          <a:p>
            <a:pPr marL="0" indent="0" algn="l">
              <a:lnSpc>
                <a:spcPts val="1850"/>
              </a:lnSpc>
              <a:buNone/>
            </a:pPr>
            <a:r>
              <a:rPr lang="en-US" sz="1300" dirty="0">
                <a:solidFill>
                  <a:srgbClr val="405449"/>
                </a:solidFill>
                <a:latin typeface="Nobile" pitchFamily="34" charset="0"/>
                <a:ea typeface="Nobile" pitchFamily="34" charset="-122"/>
                <a:cs typeface="Nobile" pitchFamily="34" charset="-120"/>
              </a:rPr>
              <a:t>Offers a pre-built integration foundation for ecosystem partners such as Zepto, Swiggy, and Uber, making it easier to launch and scale embedded insurance offerings. This reduces implementation complexity, shortens deployment timelines, and creates a more seamless experience for both platform operators and end users.</a:t>
            </a:r>
            <a:endParaRPr lang="en-US" sz="1300" dirty="0"/>
          </a:p>
        </p:txBody>
      </p:sp>
      <p:sp>
        <p:nvSpPr>
          <p:cNvPr id="24" name="Rectangle 23">
            <a:extLst>
              <a:ext uri="{FF2B5EF4-FFF2-40B4-BE49-F238E27FC236}">
                <a16:creationId xmlns:a16="http://schemas.microsoft.com/office/drawing/2014/main" id="{4A086766-90B8-B422-8543-10185DFF7F25}"/>
              </a:ext>
            </a:extLst>
          </p:cNvPr>
          <p:cNvSpPr/>
          <p:nvPr/>
        </p:nvSpPr>
        <p:spPr>
          <a:xfrm>
            <a:off x="12756995" y="7716644"/>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3174"/>
            <a:ext cx="7378422" cy="496133"/>
          </a:xfrm>
          <a:prstGeom prst="rect">
            <a:avLst/>
          </a:prstGeom>
          <a:noFill/>
          <a:ln/>
        </p:spPr>
        <p:txBody>
          <a:bodyPr wrap="none" lIns="0" tIns="0" rIns="0" bIns="0" rtlCol="0" anchor="t"/>
          <a:lstStyle/>
          <a:p>
            <a:pPr marL="0" indent="0" algn="l">
              <a:lnSpc>
                <a:spcPts val="3900"/>
              </a:lnSpc>
              <a:buNone/>
            </a:pPr>
            <a:r>
              <a:rPr lang="en-US" sz="3100" b="1" dirty="0">
                <a:solidFill>
                  <a:srgbClr val="3B4540"/>
                </a:solidFill>
                <a:latin typeface="Fraunces Extra Bold" pitchFamily="34" charset="0"/>
                <a:ea typeface="Fraunces Extra Bold" pitchFamily="34" charset="-122"/>
                <a:cs typeface="Fraunces Extra Bold" pitchFamily="34" charset="-120"/>
              </a:rPr>
              <a:t>AI/ML Layer: Intelligent Risk Engine</a:t>
            </a:r>
            <a:endParaRPr lang="en-US" sz="3100" dirty="0"/>
          </a:p>
        </p:txBody>
      </p:sp>
      <p:sp>
        <p:nvSpPr>
          <p:cNvPr id="4" name="Text 1"/>
          <p:cNvSpPr/>
          <p:nvPr/>
        </p:nvSpPr>
        <p:spPr>
          <a:xfrm>
            <a:off x="5501878" y="1407081"/>
            <a:ext cx="2439233"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7-Layer Fraud Detection</a:t>
            </a:r>
            <a:endParaRPr lang="en-US" sz="1550" dirty="0"/>
          </a:p>
        </p:txBody>
      </p:sp>
      <p:sp>
        <p:nvSpPr>
          <p:cNvPr id="5" name="Text 2"/>
          <p:cNvSpPr/>
          <p:nvPr/>
        </p:nvSpPr>
        <p:spPr>
          <a:xfrm>
            <a:off x="5501878" y="1766173"/>
            <a:ext cx="8342233"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Multi-layered anomaly detection combines behavioral biometrics, device fingerprinting, claim timing, and transaction pattern analysis to identify suspicious activity early. By correlating signals across multiple checkpoints, the engine reduces false positives, improves investigation prioritization, and helps teams stop fraudulent claims before they progress through the workflow. For example, repeated changes in payout details, unusual login behavior, or inconsistent incident timing can trigger deeper review.</a:t>
            </a:r>
            <a:endParaRPr lang="en-US" sz="1250" dirty="0"/>
          </a:p>
        </p:txBody>
      </p:sp>
      <p:sp>
        <p:nvSpPr>
          <p:cNvPr id="6" name="Text 3"/>
          <p:cNvSpPr/>
          <p:nvPr/>
        </p:nvSpPr>
        <p:spPr>
          <a:xfrm>
            <a:off x="5501878" y="2957155"/>
            <a:ext cx="2952631"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Natural Language Processing</a:t>
            </a:r>
            <a:endParaRPr lang="en-US" sz="1550" dirty="0"/>
          </a:p>
        </p:txBody>
      </p:sp>
      <p:sp>
        <p:nvSpPr>
          <p:cNvPr id="7" name="Text 4"/>
          <p:cNvSpPr/>
          <p:nvPr/>
        </p:nvSpPr>
        <p:spPr>
          <a:xfrm>
            <a:off x="5501878" y="3316248"/>
            <a:ext cx="8342233"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Real-time NLP analyzes worker inputs, adjuster notes, call transcripts, and claim descriptions to detect disruption indicators and extract intent, sentiment, and scenario context. This helps surface claims that may require special handling, reveals hidden inconsistencies in narratives, and improves decision quality by giving teams a clearer understanding of the case in plain language. It is especially useful when claim details are unstructured or evolving over time.</a:t>
            </a:r>
            <a:endParaRPr lang="en-US" sz="1250" dirty="0"/>
          </a:p>
        </p:txBody>
      </p:sp>
      <p:sp>
        <p:nvSpPr>
          <p:cNvPr id="8" name="Text 5"/>
          <p:cNvSpPr/>
          <p:nvPr/>
        </p:nvSpPr>
        <p:spPr>
          <a:xfrm>
            <a:off x="5501878" y="4507230"/>
            <a:ext cx="2023824"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Predictive Modeling</a:t>
            </a:r>
            <a:endParaRPr lang="en-US" sz="1550" dirty="0"/>
          </a:p>
        </p:txBody>
      </p:sp>
      <p:sp>
        <p:nvSpPr>
          <p:cNvPr id="9" name="Text 6"/>
          <p:cNvSpPr/>
          <p:nvPr/>
        </p:nvSpPr>
        <p:spPr>
          <a:xfrm>
            <a:off x="5501878" y="4866323"/>
            <a:ext cx="8342233"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Prophet-based forecasting estimates income volatility, claim frequency, and seasonality so the platform can anticipate risk before it becomes visible in the numbers. Predictive models also support proactive routing, reserve planning, and capacity management by highlighting trends such as peak claim periods, location-specific spikes, or behavioral shifts across worker segments. This enables faster planning and more consistent operational decisions.</a:t>
            </a:r>
            <a:endParaRPr lang="en-US" sz="1250" dirty="0"/>
          </a:p>
        </p:txBody>
      </p:sp>
      <p:sp>
        <p:nvSpPr>
          <p:cNvPr id="10" name="Text 7"/>
          <p:cNvSpPr/>
          <p:nvPr/>
        </p:nvSpPr>
        <p:spPr>
          <a:xfrm>
            <a:off x="5501878" y="6057305"/>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Zone Depth Scoring</a:t>
            </a:r>
            <a:endParaRPr lang="en-US" sz="1550" dirty="0"/>
          </a:p>
        </p:txBody>
      </p:sp>
      <p:sp>
        <p:nvSpPr>
          <p:cNvPr id="11" name="Text 8"/>
          <p:cNvSpPr/>
          <p:nvPr/>
        </p:nvSpPr>
        <p:spPr>
          <a:xfrm>
            <a:off x="5501878" y="6416397"/>
            <a:ext cx="8342233"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Geospatial risk assessment uses historical claims data, traffic patterns, and regional incident trends to assign risk scores by zone and operating area. These scores help insurers and platform operators understand where exposure is concentrated, compare neighborhoods or corridors, and adapt underwriting or operational policies accordingly. For instance, areas with high claim density, congestion, or repeated incident patterns can be flagged for closer monitoring or adjusted thresholds.</a:t>
            </a:r>
            <a:endParaRPr lang="en-US" sz="1250" dirty="0"/>
          </a:p>
        </p:txBody>
      </p:sp>
      <p:sp>
        <p:nvSpPr>
          <p:cNvPr id="12" name="Rectangle 11">
            <a:extLst>
              <a:ext uri="{FF2B5EF4-FFF2-40B4-BE49-F238E27FC236}">
                <a16:creationId xmlns:a16="http://schemas.microsoft.com/office/drawing/2014/main" id="{4F45F535-9BEA-5B90-24A0-29C048444DFA}"/>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0393FE52-4C44-4C34-5B94-87B74F118485}"/>
              </a:ext>
            </a:extLst>
          </p:cNvPr>
          <p:cNvPicPr>
            <a:picLocks noChangeAspect="1"/>
          </p:cNvPicPr>
          <p:nvPr/>
        </p:nvPicPr>
        <p:blipFill>
          <a:blip r:embed="rId3"/>
          <a:srcRect r="5385" b="7712"/>
          <a:stretch>
            <a:fillRect/>
          </a:stretch>
        </p:blipFill>
        <p:spPr>
          <a:xfrm>
            <a:off x="0" y="1176014"/>
            <a:ext cx="5442760" cy="678835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1407" y="686276"/>
            <a:ext cx="8648819" cy="523280"/>
          </a:xfrm>
          <a:prstGeom prst="rect">
            <a:avLst/>
          </a:prstGeom>
          <a:noFill/>
          <a:ln/>
        </p:spPr>
        <p:txBody>
          <a:bodyPr wrap="none" lIns="0" tIns="0" rIns="0" bIns="0" rtlCol="0" anchor="t"/>
          <a:lstStyle/>
          <a:p>
            <a:pPr marL="0" indent="0" algn="l">
              <a:lnSpc>
                <a:spcPts val="4100"/>
              </a:lnSpc>
              <a:buNone/>
            </a:pPr>
            <a:r>
              <a:rPr lang="en-US" sz="3250" b="1" dirty="0">
                <a:solidFill>
                  <a:srgbClr val="3B4540"/>
                </a:solidFill>
                <a:latin typeface="Fraunces Extra Bold" pitchFamily="34" charset="0"/>
                <a:ea typeface="Fraunces Extra Bold" pitchFamily="34" charset="-122"/>
                <a:cs typeface="Fraunces Extra Bold" pitchFamily="34" charset="-120"/>
              </a:rPr>
              <a:t>Anti-Fraud System: Multi-Layer Security</a:t>
            </a:r>
            <a:endParaRPr lang="en-US" sz="3250" dirty="0"/>
          </a:p>
        </p:txBody>
      </p:sp>
      <p:pic>
        <p:nvPicPr>
          <p:cNvPr id="3" name="Image 0" descr="preencoded.png"/>
          <p:cNvPicPr>
            <a:picLocks noChangeAspect="1"/>
          </p:cNvPicPr>
          <p:nvPr/>
        </p:nvPicPr>
        <p:blipFill>
          <a:blip r:embed="rId3"/>
          <a:stretch>
            <a:fillRect/>
          </a:stretch>
        </p:blipFill>
        <p:spPr>
          <a:xfrm>
            <a:off x="781407" y="1456730"/>
            <a:ext cx="6533793" cy="669846"/>
          </a:xfrm>
          <a:prstGeom prst="rect">
            <a:avLst/>
          </a:prstGeom>
        </p:spPr>
      </p:pic>
      <p:sp>
        <p:nvSpPr>
          <p:cNvPr id="4" name="Text 1"/>
          <p:cNvSpPr/>
          <p:nvPr/>
        </p:nvSpPr>
        <p:spPr>
          <a:xfrm>
            <a:off x="948809" y="2250162"/>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Device Integrity</a:t>
            </a:r>
            <a:endParaRPr lang="en-US" sz="1600" dirty="0"/>
          </a:p>
        </p:txBody>
      </p:sp>
      <p:sp>
        <p:nvSpPr>
          <p:cNvPr id="5" name="Text 2"/>
          <p:cNvSpPr/>
          <p:nvPr/>
        </p:nvSpPr>
        <p:spPr>
          <a:xfrm>
            <a:off x="948809" y="2585918"/>
            <a:ext cx="6198989" cy="1397318"/>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Play Integrity API validation confirms that each request is coming from a genuine, unmodified device and helps block spoofing, emulator abuse, and tampered app environments before they can interact with the system. This creates a trusted starting point for every session, reduces the risk of automated abuse, and improves confidence that the data being analyzed reflects real user activity rather than manipulated input.</a:t>
            </a:r>
            <a:endParaRPr lang="en-US" sz="1300" dirty="0"/>
          </a:p>
        </p:txBody>
      </p:sp>
      <p:pic>
        <p:nvPicPr>
          <p:cNvPr id="6" name="Image 1" descr="preencoded.png"/>
          <p:cNvPicPr>
            <a:picLocks noChangeAspect="1"/>
          </p:cNvPicPr>
          <p:nvPr/>
        </p:nvPicPr>
        <p:blipFill>
          <a:blip r:embed="rId4"/>
          <a:stretch>
            <a:fillRect/>
          </a:stretch>
        </p:blipFill>
        <p:spPr>
          <a:xfrm>
            <a:off x="7315200" y="1456730"/>
            <a:ext cx="6533793" cy="669846"/>
          </a:xfrm>
          <a:prstGeom prst="rect">
            <a:avLst/>
          </a:prstGeom>
        </p:spPr>
      </p:pic>
      <p:sp>
        <p:nvSpPr>
          <p:cNvPr id="7" name="Text 3"/>
          <p:cNvSpPr/>
          <p:nvPr/>
        </p:nvSpPr>
        <p:spPr>
          <a:xfrm>
            <a:off x="7482602" y="2250162"/>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GPS + WiFi + IP</a:t>
            </a:r>
            <a:endParaRPr lang="en-US" sz="1600" dirty="0"/>
          </a:p>
        </p:txBody>
      </p:sp>
      <p:sp>
        <p:nvSpPr>
          <p:cNvPr id="8" name="Text 4"/>
          <p:cNvSpPr/>
          <p:nvPr/>
        </p:nvSpPr>
        <p:spPr>
          <a:xfrm>
            <a:off x="7482602" y="2585918"/>
            <a:ext cx="6198989" cy="1630204"/>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Multi-factor location validation compares GPS coordinates, nearby WiFi signals, and IP-based network data to verify that a user is operating from a consistent and plausible location. By cross-checking several independent signals, the system can flag VPN usage, spoofed geolocation, and mismatches between claimed and observed whereabouts, which is especially useful for detecting claims filed from improbable locations or rapid location changes between sessions.</a:t>
            </a:r>
            <a:endParaRPr lang="en-US" sz="1300" dirty="0"/>
          </a:p>
        </p:txBody>
      </p:sp>
      <p:pic>
        <p:nvPicPr>
          <p:cNvPr id="9" name="Image 2" descr="preencoded.png"/>
          <p:cNvPicPr>
            <a:picLocks noChangeAspect="1"/>
          </p:cNvPicPr>
          <p:nvPr/>
        </p:nvPicPr>
        <p:blipFill>
          <a:blip r:embed="rId5"/>
          <a:stretch>
            <a:fillRect/>
          </a:stretch>
        </p:blipFill>
        <p:spPr>
          <a:xfrm>
            <a:off x="781407" y="4383524"/>
            <a:ext cx="6533793" cy="669846"/>
          </a:xfrm>
          <a:prstGeom prst="rect">
            <a:avLst/>
          </a:prstGeom>
        </p:spPr>
      </p:pic>
      <p:sp>
        <p:nvSpPr>
          <p:cNvPr id="10" name="Text 5"/>
          <p:cNvSpPr/>
          <p:nvPr/>
        </p:nvSpPr>
        <p:spPr>
          <a:xfrm>
            <a:off x="948809" y="5176957"/>
            <a:ext cx="2116217"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Behavioral Analysis</a:t>
            </a:r>
            <a:endParaRPr lang="en-US" sz="1600" dirty="0"/>
          </a:p>
        </p:txBody>
      </p:sp>
      <p:sp>
        <p:nvSpPr>
          <p:cNvPr id="11" name="Text 6"/>
          <p:cNvSpPr/>
          <p:nvPr/>
        </p:nvSpPr>
        <p:spPr>
          <a:xfrm>
            <a:off x="948809" y="5512713"/>
            <a:ext cx="6198989" cy="1630204"/>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Pattern recognition tracks how users interact with the app over time, looking for deviations from normal behavior such as unusual navigation paths, repeated form changes, rapid submission attempts, or inconsistent session timing. These behavioral signals help distinguish legitimate users from suspicious activity, support early intervention before a claim progresses too far, and reduce false positives by comparing actions against each user’s own historical baseline as well as broader population trends.</a:t>
            </a:r>
            <a:endParaRPr lang="en-US" sz="1300" dirty="0"/>
          </a:p>
        </p:txBody>
      </p:sp>
      <p:pic>
        <p:nvPicPr>
          <p:cNvPr id="12" name="Image 3" descr="preencoded.png"/>
          <p:cNvPicPr>
            <a:picLocks noChangeAspect="1"/>
          </p:cNvPicPr>
          <p:nvPr/>
        </p:nvPicPr>
        <p:blipFill>
          <a:blip r:embed="rId6"/>
          <a:stretch>
            <a:fillRect/>
          </a:stretch>
        </p:blipFill>
        <p:spPr>
          <a:xfrm>
            <a:off x="7315200" y="4383524"/>
            <a:ext cx="6533793" cy="669846"/>
          </a:xfrm>
          <a:prstGeom prst="rect">
            <a:avLst/>
          </a:prstGeom>
        </p:spPr>
      </p:pic>
      <p:sp>
        <p:nvSpPr>
          <p:cNvPr id="13" name="Text 7"/>
          <p:cNvSpPr/>
          <p:nvPr/>
        </p:nvSpPr>
        <p:spPr>
          <a:xfrm>
            <a:off x="7482602" y="5176957"/>
            <a:ext cx="2093238" cy="261580"/>
          </a:xfrm>
          <a:prstGeom prst="rect">
            <a:avLst/>
          </a:prstGeom>
          <a:noFill/>
          <a:ln/>
        </p:spPr>
        <p:txBody>
          <a:bodyPr wrap="none" lIns="0" tIns="0" rIns="0" bIns="0" rtlCol="0" anchor="t"/>
          <a:lstStyle/>
          <a:p>
            <a:pPr marL="0" indent="0" algn="l">
              <a:lnSpc>
                <a:spcPts val="2050"/>
              </a:lnSpc>
              <a:buNone/>
            </a:pPr>
            <a:r>
              <a:rPr lang="en-US" sz="1600" b="1" dirty="0">
                <a:solidFill>
                  <a:srgbClr val="405449"/>
                </a:solidFill>
                <a:latin typeface="Fraunces Extra Bold" pitchFamily="34" charset="0"/>
                <a:ea typeface="Fraunces Extra Bold" pitchFamily="34" charset="-122"/>
                <a:cs typeface="Fraunces Extra Bold" pitchFamily="34" charset="-120"/>
              </a:rPr>
              <a:t>Cluster Detection</a:t>
            </a:r>
            <a:endParaRPr lang="en-US" sz="1600" dirty="0"/>
          </a:p>
        </p:txBody>
      </p:sp>
      <p:sp>
        <p:nvSpPr>
          <p:cNvPr id="14" name="Text 8"/>
          <p:cNvSpPr/>
          <p:nvPr/>
        </p:nvSpPr>
        <p:spPr>
          <a:xfrm>
            <a:off x="7482602" y="5512713"/>
            <a:ext cx="6198989" cy="1863090"/>
          </a:xfrm>
          <a:prstGeom prst="rect">
            <a:avLst/>
          </a:prstGeom>
          <a:noFill/>
          <a:ln/>
        </p:spPr>
        <p:txBody>
          <a:bodyPr wrap="square" lIns="0" tIns="0" rIns="0" bIns="0" rtlCol="0" anchor="t"/>
          <a:lstStyle/>
          <a:p>
            <a:pPr marL="0" indent="0" algn="l">
              <a:lnSpc>
                <a:spcPts val="1800"/>
              </a:lnSpc>
              <a:buNone/>
            </a:pPr>
            <a:r>
              <a:rPr lang="en-US" sz="1300" dirty="0">
                <a:solidFill>
                  <a:srgbClr val="405449"/>
                </a:solidFill>
                <a:latin typeface="Nobile" pitchFamily="34" charset="0"/>
                <a:ea typeface="Nobile" pitchFamily="34" charset="-122"/>
                <a:cs typeface="Nobile" pitchFamily="34" charset="-120"/>
              </a:rPr>
              <a:t>Graph-based algorithms identify connected account networks that may indicate coordinated fraud rings, shared devices, reused identities, or other suspicious relationships across claims and transactions. This layer is valuable because fraudulent activity often appears normal when viewed in isolation, but becomes much more visible when accounts, devices, locations, and behaviors are analyzed together. It helps teams uncover organized abuse earlier, prioritize investigations, and stop repeat offenders from scaling their activity.</a:t>
            </a:r>
            <a:endParaRPr lang="en-US" sz="1300" dirty="0"/>
          </a:p>
        </p:txBody>
      </p:sp>
      <p:sp>
        <p:nvSpPr>
          <p:cNvPr id="15" name="Rectangle 14">
            <a:extLst>
              <a:ext uri="{FF2B5EF4-FFF2-40B4-BE49-F238E27FC236}">
                <a16:creationId xmlns:a16="http://schemas.microsoft.com/office/drawing/2014/main" id="{1E413C6C-40F9-6924-0130-99E621E51A72}"/>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562570"/>
            <a:ext cx="2774600" cy="536496"/>
          </a:xfrm>
          <a:prstGeom prst="roundRect">
            <a:avLst>
              <a:gd name="adj" fmla="val 41868"/>
            </a:avLst>
          </a:prstGeom>
          <a:solidFill>
            <a:srgbClr val="DDEEE0"/>
          </a:solidFill>
          <a:ln/>
        </p:spPr>
      </p:sp>
      <p:sp>
        <p:nvSpPr>
          <p:cNvPr id="3" name="Text 1"/>
          <p:cNvSpPr/>
          <p:nvPr/>
        </p:nvSpPr>
        <p:spPr>
          <a:xfrm>
            <a:off x="938799" y="767880"/>
            <a:ext cx="2484581" cy="307286"/>
          </a:xfrm>
          <a:prstGeom prst="rect">
            <a:avLst/>
          </a:prstGeom>
          <a:noFill/>
          <a:ln/>
        </p:spPr>
        <p:txBody>
          <a:bodyPr wrap="none" lIns="0" tIns="0" rIns="0" bIns="0" rtlCol="0" anchor="t"/>
          <a:lstStyle/>
          <a:p>
            <a:pPr marL="0" indent="0" algn="ctr">
              <a:lnSpc>
                <a:spcPts val="1300"/>
              </a:lnSpc>
              <a:buNone/>
            </a:pPr>
            <a:r>
              <a:rPr lang="en-US" sz="1600" dirty="0">
                <a:solidFill>
                  <a:srgbClr val="405449"/>
                </a:solidFill>
                <a:latin typeface="Nobile" pitchFamily="34" charset="0"/>
                <a:ea typeface="Nobile" pitchFamily="34" charset="-122"/>
                <a:cs typeface="Nobile" pitchFamily="34" charset="-120"/>
              </a:rPr>
              <a:t>MARKET OPPORTUNITY</a:t>
            </a:r>
            <a:endParaRPr lang="en-US" sz="1600" dirty="0"/>
          </a:p>
        </p:txBody>
      </p:sp>
      <p:sp>
        <p:nvSpPr>
          <p:cNvPr id="4" name="Text 2"/>
          <p:cNvSpPr/>
          <p:nvPr/>
        </p:nvSpPr>
        <p:spPr>
          <a:xfrm>
            <a:off x="793790" y="1143714"/>
            <a:ext cx="10528935" cy="465177"/>
          </a:xfrm>
          <a:prstGeom prst="rect">
            <a:avLst/>
          </a:prstGeom>
          <a:noFill/>
          <a:ln/>
        </p:spPr>
        <p:txBody>
          <a:bodyPr wrap="none" lIns="0" tIns="0" rIns="0" bIns="0" rtlCol="0" anchor="t"/>
          <a:lstStyle/>
          <a:p>
            <a:pPr marL="0" indent="0" algn="l">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The Uninsured Gig Economy — A ₹2,500 Cr Opportunity</a:t>
            </a:r>
            <a:endParaRPr lang="en-US" sz="2900" dirty="0"/>
          </a:p>
        </p:txBody>
      </p:sp>
      <p:sp>
        <p:nvSpPr>
          <p:cNvPr id="5" name="Text 3"/>
          <p:cNvSpPr/>
          <p:nvPr/>
        </p:nvSpPr>
        <p:spPr>
          <a:xfrm>
            <a:off x="793790" y="1776293"/>
            <a:ext cx="13042821" cy="416719"/>
          </a:xfrm>
          <a:prstGeom prst="rect">
            <a:avLst/>
          </a:prstGeom>
          <a:noFill/>
          <a:ln/>
        </p:spPr>
        <p:txBody>
          <a:bodyPr wrap="square" lIns="0" tIns="0" rIns="0" bIns="0" rtlCol="0" anchor="t"/>
          <a:lstStyle/>
          <a:p>
            <a:pPr marL="0" indent="0" algn="l">
              <a:lnSpc>
                <a:spcPts val="1600"/>
              </a:lnSpc>
              <a:buNone/>
            </a:pPr>
            <a:r>
              <a:rPr lang="en-US" sz="1200" dirty="0">
                <a:solidFill>
                  <a:srgbClr val="405449"/>
                </a:solidFill>
                <a:latin typeface="Nobile" pitchFamily="34" charset="0"/>
                <a:ea typeface="Nobile" pitchFamily="34" charset="-122"/>
                <a:cs typeface="Nobile" pitchFamily="34" charset="-120"/>
              </a:rPr>
              <a:t>India's gig workforce is the fastest-growing uninsured labor segment in Asia — and it remains entirely unprotected by any parametric insurance product. With 12M workers in FY25 scaling to </a:t>
            </a:r>
            <a:r>
              <a:rPr lang="en-US" sz="1200" b="1" dirty="0">
                <a:solidFill>
                  <a:srgbClr val="405449"/>
                </a:solidFill>
                <a:latin typeface="Nobile" pitchFamily="34" charset="0"/>
                <a:ea typeface="Nobile" pitchFamily="34" charset="-122"/>
                <a:cs typeface="Nobile" pitchFamily="34" charset="-120"/>
              </a:rPr>
              <a:t>23.5M by 2030</a:t>
            </a:r>
            <a:r>
              <a:rPr lang="en-US" sz="1200" dirty="0">
                <a:solidFill>
                  <a:srgbClr val="405449"/>
                </a:solidFill>
                <a:latin typeface="Nobile" pitchFamily="34" charset="0"/>
                <a:ea typeface="Nobile" pitchFamily="34" charset="-122"/>
                <a:cs typeface="Nobile" pitchFamily="34" charset="-120"/>
              </a:rPr>
              <a:t>, and ~95% lacking any form of income protection, the structural gap between workforce growth and financial safety nets has never been wider.</a:t>
            </a:r>
            <a:endParaRPr lang="en-US" sz="1200" dirty="0"/>
          </a:p>
        </p:txBody>
      </p:sp>
      <p:sp>
        <p:nvSpPr>
          <p:cNvPr id="6" name="Shape 4"/>
          <p:cNvSpPr/>
          <p:nvPr/>
        </p:nvSpPr>
        <p:spPr>
          <a:xfrm>
            <a:off x="686633" y="2318504"/>
            <a:ext cx="6554153" cy="4525804"/>
          </a:xfrm>
          <a:prstGeom prst="roundRect">
            <a:avLst>
              <a:gd name="adj" fmla="val 4736"/>
            </a:avLst>
          </a:prstGeom>
          <a:solidFill>
            <a:srgbClr val="438951"/>
          </a:solidFill>
          <a:ln/>
        </p:spPr>
      </p:sp>
      <p:sp>
        <p:nvSpPr>
          <p:cNvPr id="7" name="Text 5"/>
          <p:cNvSpPr/>
          <p:nvPr/>
        </p:nvSpPr>
        <p:spPr>
          <a:xfrm>
            <a:off x="1617464" y="2518410"/>
            <a:ext cx="4692372" cy="491133"/>
          </a:xfrm>
          <a:prstGeom prst="rect">
            <a:avLst/>
          </a:prstGeom>
          <a:noFill/>
          <a:ln/>
        </p:spPr>
        <p:txBody>
          <a:bodyPr wrap="none" lIns="0" tIns="0" rIns="0" bIns="0" rtlCol="0" anchor="t"/>
          <a:lstStyle/>
          <a:p>
            <a:pPr marL="0" indent="0" algn="ctr">
              <a:lnSpc>
                <a:spcPts val="3850"/>
              </a:lnSpc>
              <a:buNone/>
            </a:pPr>
            <a:r>
              <a:rPr lang="en-US" sz="3850" b="1" dirty="0">
                <a:solidFill>
                  <a:srgbClr val="000000"/>
                </a:solidFill>
                <a:latin typeface="Fraunces Extra Bold" pitchFamily="34" charset="0"/>
                <a:ea typeface="Fraunces Extra Bold" pitchFamily="34" charset="-122"/>
                <a:cs typeface="Fraunces Extra Bold" pitchFamily="34" charset="-120"/>
              </a:rPr>
              <a:t>₹2,500Cr</a:t>
            </a:r>
            <a:endParaRPr lang="en-US" sz="3850" dirty="0"/>
          </a:p>
        </p:txBody>
      </p:sp>
      <p:sp>
        <p:nvSpPr>
          <p:cNvPr id="8" name="Text 6"/>
          <p:cNvSpPr/>
          <p:nvPr/>
        </p:nvSpPr>
        <p:spPr>
          <a:xfrm>
            <a:off x="2748796" y="3167658"/>
            <a:ext cx="2429828" cy="232529"/>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Fraunces Extra Bold" pitchFamily="34" charset="0"/>
                <a:ea typeface="Fraunces Extra Bold" pitchFamily="34" charset="-122"/>
                <a:cs typeface="Fraunces Extra Bold" pitchFamily="34" charset="-120"/>
              </a:rPr>
              <a:t>Total Addressable Market</a:t>
            </a:r>
            <a:endParaRPr lang="en-US" sz="1450" dirty="0"/>
          </a:p>
        </p:txBody>
      </p:sp>
      <p:sp>
        <p:nvSpPr>
          <p:cNvPr id="9" name="Text 7"/>
          <p:cNvSpPr/>
          <p:nvPr/>
        </p:nvSpPr>
        <p:spPr>
          <a:xfrm>
            <a:off x="835462" y="3511748"/>
            <a:ext cx="6256496" cy="208359"/>
          </a:xfrm>
          <a:prstGeom prst="rect">
            <a:avLst/>
          </a:prstGeom>
          <a:noFill/>
          <a:ln/>
        </p:spPr>
        <p:txBody>
          <a:bodyPr wrap="none" lIns="0" tIns="0" rIns="0" bIns="0" rtlCol="0" anchor="t"/>
          <a:lstStyle/>
          <a:p>
            <a:pPr marL="0" indent="0" algn="ctr">
              <a:lnSpc>
                <a:spcPts val="1600"/>
              </a:lnSpc>
              <a:buNone/>
            </a:pPr>
            <a:r>
              <a:rPr lang="en-US" sz="1150" dirty="0">
                <a:solidFill>
                  <a:srgbClr val="000000"/>
                </a:solidFill>
                <a:latin typeface="Nobile" pitchFamily="34" charset="0"/>
                <a:ea typeface="Nobile" pitchFamily="34" charset="-122"/>
                <a:cs typeface="Nobile" pitchFamily="34" charset="-120"/>
              </a:rPr>
              <a:t>Estimated insurance opportunity across India's gig workforce</a:t>
            </a:r>
            <a:endParaRPr lang="en-US" sz="1150" dirty="0"/>
          </a:p>
        </p:txBody>
      </p:sp>
      <p:sp>
        <p:nvSpPr>
          <p:cNvPr id="10" name="Text 8"/>
          <p:cNvSpPr/>
          <p:nvPr/>
        </p:nvSpPr>
        <p:spPr>
          <a:xfrm>
            <a:off x="1617464" y="4017764"/>
            <a:ext cx="4692372" cy="491133"/>
          </a:xfrm>
          <a:prstGeom prst="rect">
            <a:avLst/>
          </a:prstGeom>
          <a:noFill/>
          <a:ln/>
        </p:spPr>
        <p:txBody>
          <a:bodyPr wrap="none" lIns="0" tIns="0" rIns="0" bIns="0" rtlCol="0" anchor="t"/>
          <a:lstStyle/>
          <a:p>
            <a:pPr marL="0" indent="0" algn="ctr">
              <a:lnSpc>
                <a:spcPts val="3850"/>
              </a:lnSpc>
              <a:buNone/>
            </a:pPr>
            <a:r>
              <a:rPr lang="en-US" sz="3850" b="1" dirty="0">
                <a:solidFill>
                  <a:srgbClr val="000000"/>
                </a:solidFill>
                <a:latin typeface="Fraunces Extra Bold" pitchFamily="34" charset="0"/>
                <a:ea typeface="Fraunces Extra Bold" pitchFamily="34" charset="-122"/>
                <a:cs typeface="Fraunces Extra Bold" pitchFamily="34" charset="-120"/>
              </a:rPr>
              <a:t>25.6%</a:t>
            </a:r>
            <a:endParaRPr lang="en-US" sz="3850" dirty="0"/>
          </a:p>
        </p:txBody>
      </p:sp>
      <p:sp>
        <p:nvSpPr>
          <p:cNvPr id="11" name="Text 9"/>
          <p:cNvSpPr/>
          <p:nvPr/>
        </p:nvSpPr>
        <p:spPr>
          <a:xfrm>
            <a:off x="3033355" y="4667012"/>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Fraunces Extra Bold" pitchFamily="34" charset="0"/>
                <a:ea typeface="Fraunces Extra Bold" pitchFamily="34" charset="-122"/>
                <a:cs typeface="Fraunces Extra Bold" pitchFamily="34" charset="-120"/>
              </a:rPr>
              <a:t>Insurtech CAGR</a:t>
            </a:r>
            <a:endParaRPr lang="en-US" sz="1450" dirty="0"/>
          </a:p>
        </p:txBody>
      </p:sp>
      <p:sp>
        <p:nvSpPr>
          <p:cNvPr id="12" name="Text 10"/>
          <p:cNvSpPr/>
          <p:nvPr/>
        </p:nvSpPr>
        <p:spPr>
          <a:xfrm>
            <a:off x="835462" y="5011103"/>
            <a:ext cx="6256496" cy="208359"/>
          </a:xfrm>
          <a:prstGeom prst="rect">
            <a:avLst/>
          </a:prstGeom>
          <a:noFill/>
          <a:ln/>
        </p:spPr>
        <p:txBody>
          <a:bodyPr wrap="none" lIns="0" tIns="0" rIns="0" bIns="0" rtlCol="0" anchor="t"/>
          <a:lstStyle/>
          <a:p>
            <a:pPr marL="0" indent="0" algn="ctr">
              <a:lnSpc>
                <a:spcPts val="1600"/>
              </a:lnSpc>
              <a:buNone/>
            </a:pPr>
            <a:r>
              <a:rPr lang="en-US" sz="1150" dirty="0">
                <a:solidFill>
                  <a:srgbClr val="000000"/>
                </a:solidFill>
                <a:latin typeface="Nobile" pitchFamily="34" charset="0"/>
                <a:ea typeface="Nobile" pitchFamily="34" charset="-122"/>
                <a:cs typeface="Nobile" pitchFamily="34" charset="-120"/>
              </a:rPr>
              <a:t>India insurtech sector compound annual growth rate</a:t>
            </a:r>
            <a:endParaRPr lang="en-US" sz="1150" dirty="0"/>
          </a:p>
        </p:txBody>
      </p:sp>
      <p:sp>
        <p:nvSpPr>
          <p:cNvPr id="13" name="Text 11"/>
          <p:cNvSpPr/>
          <p:nvPr/>
        </p:nvSpPr>
        <p:spPr>
          <a:xfrm>
            <a:off x="1617464" y="5517118"/>
            <a:ext cx="4692372" cy="491133"/>
          </a:xfrm>
          <a:prstGeom prst="rect">
            <a:avLst/>
          </a:prstGeom>
          <a:noFill/>
          <a:ln/>
        </p:spPr>
        <p:txBody>
          <a:bodyPr wrap="none" lIns="0" tIns="0" rIns="0" bIns="0" rtlCol="0" anchor="t"/>
          <a:lstStyle/>
          <a:p>
            <a:pPr marL="0" indent="0" algn="ctr">
              <a:lnSpc>
                <a:spcPts val="3850"/>
              </a:lnSpc>
              <a:buNone/>
            </a:pPr>
            <a:r>
              <a:rPr lang="en-US" sz="3850" b="1" dirty="0">
                <a:solidFill>
                  <a:srgbClr val="000000"/>
                </a:solidFill>
                <a:latin typeface="Fraunces Extra Bold" pitchFamily="34" charset="0"/>
                <a:ea typeface="Fraunces Extra Bold" pitchFamily="34" charset="-122"/>
                <a:cs typeface="Fraunces Extra Bold" pitchFamily="34" charset="-120"/>
              </a:rPr>
              <a:t>95%</a:t>
            </a:r>
            <a:endParaRPr lang="en-US" sz="3850" dirty="0"/>
          </a:p>
        </p:txBody>
      </p:sp>
      <p:sp>
        <p:nvSpPr>
          <p:cNvPr id="14" name="Text 12"/>
          <p:cNvSpPr/>
          <p:nvPr/>
        </p:nvSpPr>
        <p:spPr>
          <a:xfrm>
            <a:off x="3033355" y="6166366"/>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Fraunces Extra Bold" pitchFamily="34" charset="0"/>
                <a:ea typeface="Fraunces Extra Bold" pitchFamily="34" charset="-122"/>
                <a:cs typeface="Fraunces Extra Bold" pitchFamily="34" charset="-120"/>
              </a:rPr>
              <a:t>Uninsured Workers</a:t>
            </a:r>
            <a:endParaRPr lang="en-US" sz="1450" dirty="0"/>
          </a:p>
        </p:txBody>
      </p:sp>
      <p:sp>
        <p:nvSpPr>
          <p:cNvPr id="15" name="Text 13"/>
          <p:cNvSpPr/>
          <p:nvPr/>
        </p:nvSpPr>
        <p:spPr>
          <a:xfrm>
            <a:off x="835462" y="6510457"/>
            <a:ext cx="6256496" cy="208359"/>
          </a:xfrm>
          <a:prstGeom prst="rect">
            <a:avLst/>
          </a:prstGeom>
          <a:noFill/>
          <a:ln/>
        </p:spPr>
        <p:txBody>
          <a:bodyPr wrap="none" lIns="0" tIns="0" rIns="0" bIns="0" rtlCol="0" anchor="t"/>
          <a:lstStyle/>
          <a:p>
            <a:pPr marL="0" indent="0" algn="ctr">
              <a:lnSpc>
                <a:spcPts val="1600"/>
              </a:lnSpc>
              <a:buNone/>
            </a:pPr>
            <a:r>
              <a:rPr lang="en-US" sz="1150" dirty="0">
                <a:solidFill>
                  <a:srgbClr val="000000"/>
                </a:solidFill>
                <a:latin typeface="Nobile" pitchFamily="34" charset="0"/>
                <a:ea typeface="Nobile" pitchFamily="34" charset="-122"/>
                <a:cs typeface="Nobile" pitchFamily="34" charset="-120"/>
              </a:rPr>
              <a:t>Share of gig workers with zero income protection today</a:t>
            </a:r>
            <a:endParaRPr lang="en-US" sz="1150" dirty="0"/>
          </a:p>
        </p:txBody>
      </p:sp>
      <p:sp>
        <p:nvSpPr>
          <p:cNvPr id="16" name="Text 14"/>
          <p:cNvSpPr/>
          <p:nvPr/>
        </p:nvSpPr>
        <p:spPr>
          <a:xfrm>
            <a:off x="7504390" y="2430066"/>
            <a:ext cx="2955965"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Q-Commerce Market Dynamics</a:t>
            </a:r>
            <a:endParaRPr lang="en-US" sz="1450" dirty="0"/>
          </a:p>
        </p:txBody>
      </p:sp>
      <p:sp>
        <p:nvSpPr>
          <p:cNvPr id="17" name="Text 15"/>
          <p:cNvSpPr/>
          <p:nvPr/>
        </p:nvSpPr>
        <p:spPr>
          <a:xfrm>
            <a:off x="7504390" y="2774156"/>
            <a:ext cx="6339840" cy="625078"/>
          </a:xfrm>
          <a:prstGeom prst="rect">
            <a:avLst/>
          </a:prstGeom>
          <a:noFill/>
          <a:ln/>
        </p:spPr>
        <p:txBody>
          <a:bodyPr wrap="square" lIns="0" tIns="0" rIns="0" bIns="0" rtlCol="0" anchor="t"/>
          <a:lstStyle/>
          <a:p>
            <a:pPr marL="0" indent="0" algn="l">
              <a:lnSpc>
                <a:spcPts val="1600"/>
              </a:lnSpc>
              <a:buNone/>
            </a:pPr>
            <a:r>
              <a:rPr lang="en-US" sz="1200" dirty="0">
                <a:solidFill>
                  <a:srgbClr val="405449"/>
                </a:solidFill>
                <a:latin typeface="Nobile" pitchFamily="34" charset="0"/>
                <a:ea typeface="Nobile" pitchFamily="34" charset="-122"/>
                <a:cs typeface="Nobile" pitchFamily="34" charset="-120"/>
              </a:rPr>
              <a:t>The $3.34B q-commerce market is dominated by two players whose combined daily volumes create a concentrated, addressable distribution channel for embedded insurance.</a:t>
            </a:r>
            <a:endParaRPr lang="en-US" sz="1200" dirty="0"/>
          </a:p>
        </p:txBody>
      </p:sp>
      <p:pic>
        <p:nvPicPr>
          <p:cNvPr id="18" name="Image 0" descr="preencoded.png"/>
          <p:cNvPicPr>
            <a:picLocks noChangeAspect="1"/>
          </p:cNvPicPr>
          <p:nvPr/>
        </p:nvPicPr>
        <p:blipFill>
          <a:blip r:embed="rId3"/>
          <a:stretch>
            <a:fillRect/>
          </a:stretch>
        </p:blipFill>
        <p:spPr>
          <a:xfrm>
            <a:off x="7504390" y="3600926"/>
            <a:ext cx="4754880" cy="2369820"/>
          </a:xfrm>
          <a:prstGeom prst="rect">
            <a:avLst/>
          </a:prstGeom>
        </p:spPr>
      </p:pic>
      <p:sp>
        <p:nvSpPr>
          <p:cNvPr id="19" name="Shape 16"/>
          <p:cNvSpPr/>
          <p:nvPr/>
        </p:nvSpPr>
        <p:spPr>
          <a:xfrm>
            <a:off x="10693360" y="4422815"/>
            <a:ext cx="775454" cy="164544"/>
          </a:xfrm>
          <a:prstGeom prst="roundRect">
            <a:avLst>
              <a:gd name="adj" fmla="val 77800"/>
            </a:avLst>
          </a:prstGeom>
          <a:solidFill>
            <a:srgbClr val="FFFFFF">
              <a:alpha val="20000"/>
            </a:srgbClr>
          </a:solidFill>
          <a:ln w="7620">
            <a:solidFill>
              <a:srgbClr val="000000"/>
            </a:solidFill>
            <a:prstDash val="solid"/>
          </a:ln>
        </p:spPr>
      </p:sp>
      <p:pic>
        <p:nvPicPr>
          <p:cNvPr id="20" name="Image 1" descr="preencoded.png"/>
          <p:cNvPicPr>
            <a:picLocks noChangeAspect="1"/>
          </p:cNvPicPr>
          <p:nvPr/>
        </p:nvPicPr>
        <p:blipFill>
          <a:blip r:embed="rId4"/>
          <a:stretch>
            <a:fillRect/>
          </a:stretch>
        </p:blipFill>
        <p:spPr>
          <a:xfrm>
            <a:off x="10746700" y="4459367"/>
            <a:ext cx="91440" cy="91440"/>
          </a:xfrm>
          <a:prstGeom prst="rect">
            <a:avLst/>
          </a:prstGeom>
        </p:spPr>
      </p:pic>
      <p:sp>
        <p:nvSpPr>
          <p:cNvPr id="21" name="Text 17"/>
          <p:cNvSpPr/>
          <p:nvPr/>
        </p:nvSpPr>
        <p:spPr>
          <a:xfrm>
            <a:off x="10880050" y="4445675"/>
            <a:ext cx="546854" cy="118824"/>
          </a:xfrm>
          <a:prstGeom prst="rect">
            <a:avLst/>
          </a:prstGeom>
          <a:noFill/>
          <a:ln/>
        </p:spPr>
        <p:txBody>
          <a:bodyPr wrap="none" lIns="0" tIns="0" rIns="0" bIns="0" rtlCol="0" anchor="t"/>
          <a:lstStyle/>
          <a:p>
            <a:pPr marL="0" indent="0" algn="l">
              <a:lnSpc>
                <a:spcPts val="900"/>
              </a:lnSpc>
              <a:buNone/>
            </a:pPr>
            <a:r>
              <a:rPr lang="en-US" sz="700" dirty="0">
                <a:solidFill>
                  <a:srgbClr val="40544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Blinkit·46%</a:t>
            </a:r>
            <a:endParaRPr lang="en-US" sz="700" dirty="0"/>
          </a:p>
        </p:txBody>
      </p:sp>
      <p:sp>
        <p:nvSpPr>
          <p:cNvPr id="24" name="Shape 20"/>
          <p:cNvSpPr/>
          <p:nvPr/>
        </p:nvSpPr>
        <p:spPr>
          <a:xfrm>
            <a:off x="10693360" y="4648319"/>
            <a:ext cx="755333" cy="164544"/>
          </a:xfrm>
          <a:prstGeom prst="roundRect">
            <a:avLst>
              <a:gd name="adj" fmla="val 77800"/>
            </a:avLst>
          </a:prstGeom>
          <a:solidFill>
            <a:srgbClr val="FFFFFF">
              <a:alpha val="20000"/>
            </a:srgbClr>
          </a:solidFill>
          <a:ln w="7620">
            <a:solidFill>
              <a:srgbClr val="000000"/>
            </a:solidFill>
            <a:prstDash val="solid"/>
          </a:ln>
        </p:spPr>
      </p:sp>
      <p:pic>
        <p:nvPicPr>
          <p:cNvPr id="25" name="Image 2" descr="preencoded.png"/>
          <p:cNvPicPr>
            <a:picLocks noChangeAspect="1"/>
          </p:cNvPicPr>
          <p:nvPr/>
        </p:nvPicPr>
        <p:blipFill>
          <a:blip r:embed="rId5"/>
          <a:stretch>
            <a:fillRect/>
          </a:stretch>
        </p:blipFill>
        <p:spPr>
          <a:xfrm>
            <a:off x="10746700" y="4684871"/>
            <a:ext cx="91440" cy="91440"/>
          </a:xfrm>
          <a:prstGeom prst="rect">
            <a:avLst/>
          </a:prstGeom>
        </p:spPr>
      </p:pic>
      <p:sp>
        <p:nvSpPr>
          <p:cNvPr id="26" name="Text 21"/>
          <p:cNvSpPr/>
          <p:nvPr/>
        </p:nvSpPr>
        <p:spPr>
          <a:xfrm>
            <a:off x="10880050" y="4671179"/>
            <a:ext cx="526733" cy="118824"/>
          </a:xfrm>
          <a:prstGeom prst="rect">
            <a:avLst/>
          </a:prstGeom>
          <a:noFill/>
          <a:ln/>
        </p:spPr>
        <p:txBody>
          <a:bodyPr wrap="none" lIns="0" tIns="0" rIns="0" bIns="0" rtlCol="0" anchor="t"/>
          <a:lstStyle/>
          <a:p>
            <a:pPr marL="0" indent="0" algn="l">
              <a:lnSpc>
                <a:spcPts val="900"/>
              </a:lnSpc>
              <a:buNone/>
            </a:pPr>
            <a:r>
              <a:rPr lang="en-US" sz="700" dirty="0">
                <a:solidFill>
                  <a:srgbClr val="40544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Zepto·29%</a:t>
            </a:r>
            <a:endParaRPr lang="en-US" sz="700" dirty="0"/>
          </a:p>
        </p:txBody>
      </p:sp>
      <p:sp>
        <p:nvSpPr>
          <p:cNvPr id="29" name="Shape 24"/>
          <p:cNvSpPr/>
          <p:nvPr/>
        </p:nvSpPr>
        <p:spPr>
          <a:xfrm>
            <a:off x="10693360" y="4873823"/>
            <a:ext cx="800933" cy="164544"/>
          </a:xfrm>
          <a:prstGeom prst="roundRect">
            <a:avLst>
              <a:gd name="adj" fmla="val 77800"/>
            </a:avLst>
          </a:prstGeom>
          <a:solidFill>
            <a:srgbClr val="FFFFFF">
              <a:alpha val="20000"/>
            </a:srgbClr>
          </a:solidFill>
          <a:ln w="7620">
            <a:solidFill>
              <a:srgbClr val="000000"/>
            </a:solidFill>
            <a:prstDash val="solid"/>
          </a:ln>
        </p:spPr>
      </p:sp>
      <p:pic>
        <p:nvPicPr>
          <p:cNvPr id="30" name="Image 3" descr="preencoded.png"/>
          <p:cNvPicPr>
            <a:picLocks noChangeAspect="1"/>
          </p:cNvPicPr>
          <p:nvPr/>
        </p:nvPicPr>
        <p:blipFill>
          <a:blip r:embed="rId6"/>
          <a:stretch>
            <a:fillRect/>
          </a:stretch>
        </p:blipFill>
        <p:spPr>
          <a:xfrm>
            <a:off x="10746700" y="4910376"/>
            <a:ext cx="91440" cy="91440"/>
          </a:xfrm>
          <a:prstGeom prst="rect">
            <a:avLst/>
          </a:prstGeom>
        </p:spPr>
      </p:pic>
      <p:sp>
        <p:nvSpPr>
          <p:cNvPr id="31" name="Text 25"/>
          <p:cNvSpPr/>
          <p:nvPr/>
        </p:nvSpPr>
        <p:spPr>
          <a:xfrm>
            <a:off x="10880050" y="4896683"/>
            <a:ext cx="572333" cy="118824"/>
          </a:xfrm>
          <a:prstGeom prst="rect">
            <a:avLst/>
          </a:prstGeom>
          <a:noFill/>
          <a:ln/>
        </p:spPr>
        <p:txBody>
          <a:bodyPr wrap="none" lIns="0" tIns="0" rIns="0" bIns="0" rtlCol="0" anchor="t"/>
          <a:lstStyle/>
          <a:p>
            <a:pPr marL="0" indent="0" algn="l">
              <a:lnSpc>
                <a:spcPts val="900"/>
              </a:lnSpc>
              <a:buNone/>
            </a:pPr>
            <a:r>
              <a:rPr lang="en-US" sz="700" dirty="0">
                <a:solidFill>
                  <a:srgbClr val="405449"/>
                </a:solidFill>
                <a:latin typeface="-apple-system, BlinkMacSystemFont, Segoe UI, Roboto, Helvetica Neue, Arial, sans-serif Medium" pitchFamily="34" charset="0"/>
                <a:ea typeface="-apple-system, BlinkMacSystemFont, Segoe UI, Roboto, Helvetica Neue, Arial, sans-serif Medium" pitchFamily="34" charset="-122"/>
                <a:cs typeface="-apple-system, BlinkMacSystemFont, Segoe UI, Roboto, Helvetica Neue, Arial, sans-serif Medium" pitchFamily="34" charset="-120"/>
              </a:rPr>
              <a:t>Others·25%</a:t>
            </a:r>
            <a:endParaRPr lang="en-US" sz="700" dirty="0"/>
          </a:p>
        </p:txBody>
      </p:sp>
      <p:sp>
        <p:nvSpPr>
          <p:cNvPr id="34" name="Text 28"/>
          <p:cNvSpPr/>
          <p:nvPr/>
        </p:nvSpPr>
        <p:spPr>
          <a:xfrm>
            <a:off x="793790" y="6969800"/>
            <a:ext cx="13042821" cy="416719"/>
          </a:xfrm>
          <a:prstGeom prst="rect">
            <a:avLst/>
          </a:prstGeom>
          <a:noFill/>
          <a:ln/>
        </p:spPr>
        <p:txBody>
          <a:bodyPr wrap="square" lIns="0" tIns="0" rIns="0" bIns="0" rtlCol="0" anchor="t"/>
          <a:lstStyle/>
          <a:p>
            <a:pPr marL="0" indent="0" algn="l">
              <a:lnSpc>
                <a:spcPts val="1600"/>
              </a:lnSpc>
              <a:buNone/>
            </a:pPr>
            <a:r>
              <a:rPr lang="en-US" sz="1400" dirty="0">
                <a:solidFill>
                  <a:srgbClr val="405449"/>
                </a:solidFill>
                <a:latin typeface="Nobile" pitchFamily="34" charset="0"/>
                <a:ea typeface="Nobile" pitchFamily="34" charset="-122"/>
                <a:cs typeface="Nobile" pitchFamily="34" charset="-120"/>
              </a:rPr>
              <a:t>Blinkit alone processes </a:t>
            </a:r>
            <a:r>
              <a:rPr lang="en-US" sz="1400" b="1" dirty="0">
                <a:solidFill>
                  <a:srgbClr val="405449"/>
                </a:solidFill>
                <a:latin typeface="Nobile" pitchFamily="34" charset="0"/>
                <a:ea typeface="Nobile" pitchFamily="34" charset="-122"/>
                <a:cs typeface="Nobile" pitchFamily="34" charset="-120"/>
              </a:rPr>
              <a:t>1.2M daily orders</a:t>
            </a:r>
            <a:r>
              <a:rPr lang="en-US" sz="1400" dirty="0">
                <a:solidFill>
                  <a:srgbClr val="405449"/>
                </a:solidFill>
                <a:latin typeface="Nobile" pitchFamily="34" charset="0"/>
                <a:ea typeface="Nobile" pitchFamily="34" charset="-122"/>
                <a:cs typeface="Nobile" pitchFamily="34" charset="-120"/>
              </a:rPr>
              <a:t> — each representing a worker exposed to income disruption with no safety net. No parametric insurance product exists in India to address this high-frequency income disruption problem. The window for category creation is now.</a:t>
            </a:r>
            <a:endParaRPr lang="en-US" sz="1400" dirty="0"/>
          </a:p>
        </p:txBody>
      </p:sp>
      <p:sp>
        <p:nvSpPr>
          <p:cNvPr id="35" name="Rectangle 34">
            <a:extLst>
              <a:ext uri="{FF2B5EF4-FFF2-40B4-BE49-F238E27FC236}">
                <a16:creationId xmlns:a16="http://schemas.microsoft.com/office/drawing/2014/main" id="{469854D9-2DDA-D798-786D-C18D2B28B3A2}"/>
              </a:ext>
            </a:extLst>
          </p:cNvPr>
          <p:cNvSpPr/>
          <p:nvPr/>
        </p:nvSpPr>
        <p:spPr>
          <a:xfrm>
            <a:off x="12589727" y="7504771"/>
            <a:ext cx="1929161" cy="671251"/>
          </a:xfrm>
          <a:prstGeom prst="rect">
            <a:avLst/>
          </a:prstGeom>
          <a:solidFill>
            <a:srgbClr val="FAFFFA"/>
          </a:solidFill>
          <a:ln>
            <a:solidFill>
              <a:srgbClr val="FAFF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763786"/>
            <a:ext cx="1524357" cy="300990"/>
          </a:xfrm>
          <a:prstGeom prst="roundRect">
            <a:avLst>
              <a:gd name="adj" fmla="val 40356"/>
            </a:avLst>
          </a:prstGeom>
          <a:solidFill>
            <a:srgbClr val="DDEEE0"/>
          </a:solidFill>
          <a:ln/>
        </p:spPr>
      </p:sp>
      <p:sp>
        <p:nvSpPr>
          <p:cNvPr id="3" name="Text 1"/>
          <p:cNvSpPr/>
          <p:nvPr/>
        </p:nvSpPr>
        <p:spPr>
          <a:xfrm>
            <a:off x="894993" y="814388"/>
            <a:ext cx="1321951" cy="199787"/>
          </a:xfrm>
          <a:prstGeom prst="rect">
            <a:avLst/>
          </a:prstGeom>
          <a:noFill/>
          <a:ln/>
        </p:spPr>
        <p:txBody>
          <a:bodyPr wrap="none" lIns="0" tIns="0" rIns="0" bIns="0" rtlCol="0" anchor="t"/>
          <a:lstStyle/>
          <a:p>
            <a:pPr marL="0" indent="0" algn="l">
              <a:lnSpc>
                <a:spcPts val="1550"/>
              </a:lnSpc>
              <a:buNone/>
            </a:pPr>
            <a:r>
              <a:rPr lang="en-US" sz="1050" dirty="0">
                <a:solidFill>
                  <a:srgbClr val="405449"/>
                </a:solidFill>
                <a:latin typeface="Nobile" pitchFamily="34" charset="0"/>
                <a:ea typeface="Nobile" pitchFamily="34" charset="-122"/>
                <a:cs typeface="Nobile" pitchFamily="34" charset="-120"/>
              </a:rPr>
              <a:t>ACTUARIAL DESIGN</a:t>
            </a:r>
            <a:endParaRPr lang="en-US" sz="1050" dirty="0"/>
          </a:p>
        </p:txBody>
      </p:sp>
      <p:sp>
        <p:nvSpPr>
          <p:cNvPr id="4" name="Text 2"/>
          <p:cNvSpPr/>
          <p:nvPr/>
        </p:nvSpPr>
        <p:spPr>
          <a:xfrm>
            <a:off x="793790" y="1122045"/>
            <a:ext cx="7908846" cy="527090"/>
          </a:xfrm>
          <a:prstGeom prst="rect">
            <a:avLst/>
          </a:prstGeom>
          <a:noFill/>
          <a:ln/>
        </p:spPr>
        <p:txBody>
          <a:bodyPr wrap="none" lIns="0" tIns="0" rIns="0" bIns="0" rtlCol="0" anchor="t"/>
          <a:lstStyle/>
          <a:p>
            <a:pPr marL="0" indent="0" algn="l">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The Mathematics of Our Payout Caps</a:t>
            </a:r>
            <a:endParaRPr lang="en-US" sz="3300" dirty="0"/>
          </a:p>
        </p:txBody>
      </p:sp>
      <p:sp>
        <p:nvSpPr>
          <p:cNvPr id="5" name="Text 3"/>
          <p:cNvSpPr/>
          <p:nvPr/>
        </p:nvSpPr>
        <p:spPr>
          <a:xfrm>
            <a:off x="793790" y="1864162"/>
            <a:ext cx="13042821" cy="499348"/>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Payout caps are not product guardrails — they are mathematically engineered constraints that maintain a </a:t>
            </a:r>
            <a:r>
              <a:rPr lang="en-US" sz="1300" b="1" dirty="0">
                <a:solidFill>
                  <a:srgbClr val="405449"/>
                </a:solidFill>
                <a:latin typeface="Nobile" pitchFamily="34" charset="0"/>
                <a:ea typeface="Nobile" pitchFamily="34" charset="-122"/>
                <a:cs typeface="Nobile" pitchFamily="34" charset="-120"/>
              </a:rPr>
              <a:t>strict 6.0x–6.9x exposure multiplier</a:t>
            </a:r>
            <a:r>
              <a:rPr lang="en-US" sz="1300" dirty="0">
                <a:solidFill>
                  <a:srgbClr val="405449"/>
                </a:solidFill>
                <a:latin typeface="Nobile" pitchFamily="34" charset="0"/>
                <a:ea typeface="Nobile" pitchFamily="34" charset="-122"/>
                <a:cs typeface="Nobile" pitchFamily="34" charset="-120"/>
              </a:rPr>
              <a:t> across all premium tiers. This discipline is the foundation of our actuarial integrity and reinsurance viability.</a:t>
            </a:r>
            <a:endParaRPr lang="en-US" sz="1300" dirty="0"/>
          </a:p>
        </p:txBody>
      </p:sp>
      <p:sp>
        <p:nvSpPr>
          <p:cNvPr id="6" name="Shape 4"/>
          <p:cNvSpPr/>
          <p:nvPr/>
        </p:nvSpPr>
        <p:spPr>
          <a:xfrm>
            <a:off x="793790" y="2524720"/>
            <a:ext cx="4251960" cy="1935004"/>
          </a:xfrm>
          <a:prstGeom prst="roundRect">
            <a:avLst>
              <a:gd name="adj" fmla="val 7847"/>
            </a:avLst>
          </a:prstGeom>
          <a:solidFill>
            <a:srgbClr val="E8F3E8"/>
          </a:solidFill>
          <a:ln/>
        </p:spPr>
      </p:sp>
      <p:sp>
        <p:nvSpPr>
          <p:cNvPr id="7" name="Text 5"/>
          <p:cNvSpPr/>
          <p:nvPr/>
        </p:nvSpPr>
        <p:spPr>
          <a:xfrm>
            <a:off x="962382" y="2693313"/>
            <a:ext cx="2352913"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Actuarial Consistency</a:t>
            </a:r>
            <a:endParaRPr lang="en-US" sz="1650" dirty="0"/>
          </a:p>
        </p:txBody>
      </p:sp>
      <p:sp>
        <p:nvSpPr>
          <p:cNvPr id="8" name="Text 6"/>
          <p:cNvSpPr/>
          <p:nvPr/>
        </p:nvSpPr>
        <p:spPr>
          <a:xfrm>
            <a:off x="962382" y="3042761"/>
            <a:ext cx="3914775" cy="1248370"/>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Locking the multiplier ensures higher premium tiers carry no disproportionate risk. The exposure ratio is identical whether a worker pays ₹35 or ₹79 — a rare property in micro-insurance design.</a:t>
            </a:r>
            <a:endParaRPr lang="en-US" sz="1300" dirty="0"/>
          </a:p>
        </p:txBody>
      </p:sp>
      <p:sp>
        <p:nvSpPr>
          <p:cNvPr id="9" name="Shape 7"/>
          <p:cNvSpPr/>
          <p:nvPr/>
        </p:nvSpPr>
        <p:spPr>
          <a:xfrm>
            <a:off x="5189101" y="2524720"/>
            <a:ext cx="4252079" cy="1935004"/>
          </a:xfrm>
          <a:prstGeom prst="roundRect">
            <a:avLst>
              <a:gd name="adj" fmla="val 7847"/>
            </a:avLst>
          </a:prstGeom>
          <a:solidFill>
            <a:srgbClr val="E8F3E8"/>
          </a:solidFill>
          <a:ln/>
        </p:spPr>
      </p:sp>
      <p:sp>
        <p:nvSpPr>
          <p:cNvPr id="10" name="Text 8"/>
          <p:cNvSpPr/>
          <p:nvPr/>
        </p:nvSpPr>
        <p:spPr>
          <a:xfrm>
            <a:off x="5357693" y="2693313"/>
            <a:ext cx="2308503"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Reinsurance Viability</a:t>
            </a:r>
            <a:endParaRPr lang="en-US" sz="1650" dirty="0"/>
          </a:p>
        </p:txBody>
      </p:sp>
      <p:sp>
        <p:nvSpPr>
          <p:cNvPr id="11" name="Text 9"/>
          <p:cNvSpPr/>
          <p:nvPr/>
        </p:nvSpPr>
        <p:spPr>
          <a:xfrm>
            <a:off x="5357693" y="3042761"/>
            <a:ext cx="3914894" cy="1248370"/>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A hard 6.9x weekly cap strictly bounds Maximum Probable Loss (MPL) per worker. This predictability makes our risk pool structurally transferable to a catastrophe treaty without bespoke negotiation.</a:t>
            </a:r>
            <a:endParaRPr lang="en-US" sz="1300" dirty="0"/>
          </a:p>
        </p:txBody>
      </p:sp>
      <p:sp>
        <p:nvSpPr>
          <p:cNvPr id="12" name="Shape 10"/>
          <p:cNvSpPr/>
          <p:nvPr/>
        </p:nvSpPr>
        <p:spPr>
          <a:xfrm>
            <a:off x="9584531" y="2524720"/>
            <a:ext cx="4252079" cy="1935004"/>
          </a:xfrm>
          <a:prstGeom prst="roundRect">
            <a:avLst>
              <a:gd name="adj" fmla="val 7847"/>
            </a:avLst>
          </a:prstGeom>
          <a:solidFill>
            <a:srgbClr val="E8F3E8"/>
          </a:solidFill>
          <a:ln/>
        </p:spPr>
      </p:sp>
      <p:sp>
        <p:nvSpPr>
          <p:cNvPr id="13" name="Text 11"/>
          <p:cNvSpPr/>
          <p:nvPr/>
        </p:nvSpPr>
        <p:spPr>
          <a:xfrm>
            <a:off x="9753124" y="2693313"/>
            <a:ext cx="2784991"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Eliminating Moral Hazard</a:t>
            </a:r>
            <a:endParaRPr lang="en-US" sz="1650" dirty="0"/>
          </a:p>
        </p:txBody>
      </p:sp>
      <p:sp>
        <p:nvSpPr>
          <p:cNvPr id="14" name="Text 12"/>
          <p:cNvSpPr/>
          <p:nvPr/>
        </p:nvSpPr>
        <p:spPr>
          <a:xfrm>
            <a:off x="9753124" y="3042761"/>
            <a:ext cx="3914894" cy="1248370"/>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Caps cover 2–3 days of essential survival costs — meaningful relief without full income replacement. Workers remain incentivized to ride when conditions are safe, preserving behavioral integrity of the pool.</a:t>
            </a:r>
            <a:endParaRPr lang="en-US" sz="1300" dirty="0"/>
          </a:p>
        </p:txBody>
      </p:sp>
      <p:sp>
        <p:nvSpPr>
          <p:cNvPr id="15" name="Shape 13"/>
          <p:cNvSpPr/>
          <p:nvPr/>
        </p:nvSpPr>
        <p:spPr>
          <a:xfrm>
            <a:off x="793790" y="4620935"/>
            <a:ext cx="13042821" cy="1785461"/>
          </a:xfrm>
          <a:prstGeom prst="roundRect">
            <a:avLst>
              <a:gd name="adj" fmla="val 8504"/>
            </a:avLst>
          </a:prstGeom>
          <a:noFill/>
          <a:ln w="7620">
            <a:solidFill>
              <a:srgbClr val="000000">
                <a:alpha val="8000"/>
              </a:srgbClr>
            </a:solidFill>
            <a:prstDash val="solid"/>
          </a:ln>
        </p:spPr>
      </p:sp>
      <p:sp>
        <p:nvSpPr>
          <p:cNvPr id="16" name="Text 14"/>
          <p:cNvSpPr/>
          <p:nvPr/>
        </p:nvSpPr>
        <p:spPr>
          <a:xfrm>
            <a:off x="970121" y="4722138"/>
            <a:ext cx="3306723" cy="249674"/>
          </a:xfrm>
          <a:prstGeom prst="rect">
            <a:avLst/>
          </a:prstGeom>
          <a:noFill/>
          <a:ln/>
        </p:spPr>
        <p:txBody>
          <a:bodyPr wrap="none" lIns="0" tIns="0" rIns="0" bIns="0" rtlCol="0" anchor="t"/>
          <a:lstStyle/>
          <a:p>
            <a:pPr marL="0" indent="0" algn="l">
              <a:lnSpc>
                <a:spcPts val="1950"/>
              </a:lnSpc>
              <a:buNone/>
            </a:pPr>
            <a:r>
              <a:rPr lang="en-US" sz="1300" b="1" dirty="0">
                <a:solidFill>
                  <a:srgbClr val="405449"/>
                </a:solidFill>
                <a:latin typeface="Nobile" pitchFamily="34" charset="0"/>
                <a:ea typeface="Nobile" pitchFamily="34" charset="-122"/>
                <a:cs typeface="Nobile" pitchFamily="34" charset="-120"/>
              </a:rPr>
              <a:t>Plan</a:t>
            </a:r>
            <a:endParaRPr lang="en-US" sz="1300" dirty="0"/>
          </a:p>
        </p:txBody>
      </p:sp>
      <p:sp>
        <p:nvSpPr>
          <p:cNvPr id="17" name="Text 15"/>
          <p:cNvSpPr/>
          <p:nvPr/>
        </p:nvSpPr>
        <p:spPr>
          <a:xfrm>
            <a:off x="4621649" y="4722138"/>
            <a:ext cx="2781776" cy="249674"/>
          </a:xfrm>
          <a:prstGeom prst="rect">
            <a:avLst/>
          </a:prstGeom>
          <a:noFill/>
          <a:ln/>
        </p:spPr>
        <p:txBody>
          <a:bodyPr wrap="none" lIns="0" tIns="0" rIns="0" bIns="0" rtlCol="0" anchor="t"/>
          <a:lstStyle/>
          <a:p>
            <a:pPr marL="0" indent="0" algn="l">
              <a:lnSpc>
                <a:spcPts val="1950"/>
              </a:lnSpc>
              <a:buNone/>
            </a:pPr>
            <a:r>
              <a:rPr lang="en-US" sz="1300" b="1" dirty="0">
                <a:solidFill>
                  <a:srgbClr val="405449"/>
                </a:solidFill>
                <a:latin typeface="Nobile" pitchFamily="34" charset="0"/>
                <a:ea typeface="Nobile" pitchFamily="34" charset="-122"/>
                <a:cs typeface="Nobile" pitchFamily="34" charset="-120"/>
              </a:rPr>
              <a:t>Weekly Premium</a:t>
            </a:r>
            <a:endParaRPr lang="en-US" sz="1300" dirty="0"/>
          </a:p>
        </p:txBody>
      </p:sp>
      <p:sp>
        <p:nvSpPr>
          <p:cNvPr id="18" name="Text 16"/>
          <p:cNvSpPr/>
          <p:nvPr/>
        </p:nvSpPr>
        <p:spPr>
          <a:xfrm>
            <a:off x="7748230" y="4722138"/>
            <a:ext cx="2781776" cy="249674"/>
          </a:xfrm>
          <a:prstGeom prst="rect">
            <a:avLst/>
          </a:prstGeom>
          <a:noFill/>
          <a:ln/>
        </p:spPr>
        <p:txBody>
          <a:bodyPr wrap="none" lIns="0" tIns="0" rIns="0" bIns="0" rtlCol="0" anchor="t"/>
          <a:lstStyle/>
          <a:p>
            <a:pPr marL="0" indent="0" algn="l">
              <a:lnSpc>
                <a:spcPts val="1950"/>
              </a:lnSpc>
              <a:buNone/>
            </a:pPr>
            <a:r>
              <a:rPr lang="en-US" sz="1300" b="1" dirty="0">
                <a:solidFill>
                  <a:srgbClr val="405449"/>
                </a:solidFill>
                <a:latin typeface="Nobile" pitchFamily="34" charset="0"/>
                <a:ea typeface="Nobile" pitchFamily="34" charset="-122"/>
                <a:cs typeface="Nobile" pitchFamily="34" charset="-120"/>
              </a:rPr>
              <a:t>Payout Cap</a:t>
            </a:r>
            <a:endParaRPr lang="en-US" sz="1300" dirty="0"/>
          </a:p>
        </p:txBody>
      </p:sp>
      <p:sp>
        <p:nvSpPr>
          <p:cNvPr id="19" name="Text 17"/>
          <p:cNvSpPr/>
          <p:nvPr/>
        </p:nvSpPr>
        <p:spPr>
          <a:xfrm>
            <a:off x="10874812" y="4722138"/>
            <a:ext cx="2785586" cy="249674"/>
          </a:xfrm>
          <a:prstGeom prst="rect">
            <a:avLst/>
          </a:prstGeom>
          <a:noFill/>
          <a:ln/>
        </p:spPr>
        <p:txBody>
          <a:bodyPr wrap="none" lIns="0" tIns="0" rIns="0" bIns="0" rtlCol="0" anchor="t"/>
          <a:lstStyle/>
          <a:p>
            <a:pPr marL="0" indent="0" algn="l">
              <a:lnSpc>
                <a:spcPts val="1950"/>
              </a:lnSpc>
              <a:buNone/>
            </a:pPr>
            <a:r>
              <a:rPr lang="en-US" sz="1300" b="1" dirty="0">
                <a:solidFill>
                  <a:srgbClr val="405449"/>
                </a:solidFill>
                <a:latin typeface="Nobile" pitchFamily="34" charset="0"/>
                <a:ea typeface="Nobile" pitchFamily="34" charset="-122"/>
                <a:cs typeface="Nobile" pitchFamily="34" charset="-120"/>
              </a:rPr>
              <a:t>Multiplier</a:t>
            </a:r>
            <a:endParaRPr lang="en-US" sz="1300" dirty="0"/>
          </a:p>
        </p:txBody>
      </p:sp>
      <p:sp>
        <p:nvSpPr>
          <p:cNvPr id="20" name="Text 18"/>
          <p:cNvSpPr/>
          <p:nvPr/>
        </p:nvSpPr>
        <p:spPr>
          <a:xfrm>
            <a:off x="970121" y="5166598"/>
            <a:ext cx="3306723"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Basic</a:t>
            </a:r>
            <a:endParaRPr lang="en-US" sz="1300" dirty="0"/>
          </a:p>
        </p:txBody>
      </p:sp>
      <p:sp>
        <p:nvSpPr>
          <p:cNvPr id="21" name="Text 19"/>
          <p:cNvSpPr/>
          <p:nvPr/>
        </p:nvSpPr>
        <p:spPr>
          <a:xfrm>
            <a:off x="4621649" y="5166598"/>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₹35</a:t>
            </a:r>
            <a:endParaRPr lang="en-US" sz="1300" dirty="0"/>
          </a:p>
        </p:txBody>
      </p:sp>
      <p:sp>
        <p:nvSpPr>
          <p:cNvPr id="22" name="Text 20"/>
          <p:cNvSpPr/>
          <p:nvPr/>
        </p:nvSpPr>
        <p:spPr>
          <a:xfrm>
            <a:off x="7748230" y="5166598"/>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₹210</a:t>
            </a:r>
            <a:endParaRPr lang="en-US" sz="1300" dirty="0"/>
          </a:p>
        </p:txBody>
      </p:sp>
      <p:sp>
        <p:nvSpPr>
          <p:cNvPr id="23" name="Text 21"/>
          <p:cNvSpPr/>
          <p:nvPr/>
        </p:nvSpPr>
        <p:spPr>
          <a:xfrm>
            <a:off x="10874812" y="5166598"/>
            <a:ext cx="2785586" cy="249674"/>
          </a:xfrm>
          <a:prstGeom prst="rect">
            <a:avLst/>
          </a:prstGeom>
          <a:noFill/>
          <a:ln/>
        </p:spPr>
        <p:txBody>
          <a:bodyPr wrap="none" lIns="0" tIns="0" rIns="0" bIns="0" rtlCol="0" anchor="t"/>
          <a:lstStyle/>
          <a:p>
            <a:pPr marL="0" indent="0" algn="l">
              <a:lnSpc>
                <a:spcPts val="1950"/>
              </a:lnSpc>
              <a:buNone/>
            </a:pPr>
            <a:r>
              <a:rPr lang="en-US" sz="1300" b="1" dirty="0">
                <a:solidFill>
                  <a:srgbClr val="438951"/>
                </a:solidFill>
                <a:latin typeface="Nobile" pitchFamily="34" charset="0"/>
                <a:ea typeface="Nobile" pitchFamily="34" charset="-122"/>
                <a:cs typeface="Nobile" pitchFamily="34" charset="-120"/>
              </a:rPr>
              <a:t>6.0×</a:t>
            </a:r>
            <a:endParaRPr lang="en-US" sz="1300" dirty="0"/>
          </a:p>
        </p:txBody>
      </p:sp>
      <p:sp>
        <p:nvSpPr>
          <p:cNvPr id="24" name="Text 22"/>
          <p:cNvSpPr/>
          <p:nvPr/>
        </p:nvSpPr>
        <p:spPr>
          <a:xfrm>
            <a:off x="970121" y="5611058"/>
            <a:ext cx="3306723"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Standard</a:t>
            </a:r>
            <a:endParaRPr lang="en-US" sz="1300" dirty="0"/>
          </a:p>
        </p:txBody>
      </p:sp>
      <p:sp>
        <p:nvSpPr>
          <p:cNvPr id="25" name="Text 23"/>
          <p:cNvSpPr/>
          <p:nvPr/>
        </p:nvSpPr>
        <p:spPr>
          <a:xfrm>
            <a:off x="4621649" y="5611058"/>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₹49</a:t>
            </a:r>
            <a:endParaRPr lang="en-US" sz="1300" dirty="0"/>
          </a:p>
        </p:txBody>
      </p:sp>
      <p:sp>
        <p:nvSpPr>
          <p:cNvPr id="26" name="Text 24"/>
          <p:cNvSpPr/>
          <p:nvPr/>
        </p:nvSpPr>
        <p:spPr>
          <a:xfrm>
            <a:off x="7748230" y="5611058"/>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₹340</a:t>
            </a:r>
            <a:endParaRPr lang="en-US" sz="1300" dirty="0"/>
          </a:p>
        </p:txBody>
      </p:sp>
      <p:sp>
        <p:nvSpPr>
          <p:cNvPr id="27" name="Text 25"/>
          <p:cNvSpPr/>
          <p:nvPr/>
        </p:nvSpPr>
        <p:spPr>
          <a:xfrm>
            <a:off x="10874812" y="5611058"/>
            <a:ext cx="2785586" cy="249674"/>
          </a:xfrm>
          <a:prstGeom prst="rect">
            <a:avLst/>
          </a:prstGeom>
          <a:noFill/>
          <a:ln/>
        </p:spPr>
        <p:txBody>
          <a:bodyPr wrap="none" lIns="0" tIns="0" rIns="0" bIns="0" rtlCol="0" anchor="t"/>
          <a:lstStyle/>
          <a:p>
            <a:pPr marL="0" indent="0" algn="l">
              <a:lnSpc>
                <a:spcPts val="1950"/>
              </a:lnSpc>
              <a:buNone/>
            </a:pPr>
            <a:r>
              <a:rPr lang="en-US" sz="1300" b="1" dirty="0">
                <a:solidFill>
                  <a:srgbClr val="438951"/>
                </a:solidFill>
                <a:latin typeface="Nobile" pitchFamily="34" charset="0"/>
                <a:ea typeface="Nobile" pitchFamily="34" charset="-122"/>
                <a:cs typeface="Nobile" pitchFamily="34" charset="-120"/>
              </a:rPr>
              <a:t>6.9×</a:t>
            </a:r>
            <a:endParaRPr lang="en-US" sz="1300" dirty="0"/>
          </a:p>
        </p:txBody>
      </p:sp>
      <p:sp>
        <p:nvSpPr>
          <p:cNvPr id="28" name="Text 26"/>
          <p:cNvSpPr/>
          <p:nvPr/>
        </p:nvSpPr>
        <p:spPr>
          <a:xfrm>
            <a:off x="970121" y="6055519"/>
            <a:ext cx="3306723"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Full Cover</a:t>
            </a:r>
            <a:endParaRPr lang="en-US" sz="1300" dirty="0"/>
          </a:p>
        </p:txBody>
      </p:sp>
      <p:sp>
        <p:nvSpPr>
          <p:cNvPr id="29" name="Text 27"/>
          <p:cNvSpPr/>
          <p:nvPr/>
        </p:nvSpPr>
        <p:spPr>
          <a:xfrm>
            <a:off x="4621649" y="6055519"/>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₹79</a:t>
            </a:r>
            <a:endParaRPr lang="en-US" sz="1300" dirty="0"/>
          </a:p>
        </p:txBody>
      </p:sp>
      <p:sp>
        <p:nvSpPr>
          <p:cNvPr id="30" name="Text 28"/>
          <p:cNvSpPr/>
          <p:nvPr/>
        </p:nvSpPr>
        <p:spPr>
          <a:xfrm>
            <a:off x="7748230" y="6055519"/>
            <a:ext cx="2781776"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₹500</a:t>
            </a:r>
            <a:endParaRPr lang="en-US" sz="1300" dirty="0"/>
          </a:p>
        </p:txBody>
      </p:sp>
      <p:sp>
        <p:nvSpPr>
          <p:cNvPr id="31" name="Text 29"/>
          <p:cNvSpPr/>
          <p:nvPr/>
        </p:nvSpPr>
        <p:spPr>
          <a:xfrm>
            <a:off x="10874812" y="6055519"/>
            <a:ext cx="2785586" cy="249674"/>
          </a:xfrm>
          <a:prstGeom prst="rect">
            <a:avLst/>
          </a:prstGeom>
          <a:noFill/>
          <a:ln/>
        </p:spPr>
        <p:txBody>
          <a:bodyPr wrap="none" lIns="0" tIns="0" rIns="0" bIns="0" rtlCol="0" anchor="t"/>
          <a:lstStyle/>
          <a:p>
            <a:pPr marL="0" indent="0" algn="l">
              <a:lnSpc>
                <a:spcPts val="1950"/>
              </a:lnSpc>
              <a:buNone/>
            </a:pPr>
            <a:r>
              <a:rPr lang="en-US" sz="1300" b="1" dirty="0">
                <a:solidFill>
                  <a:srgbClr val="438951"/>
                </a:solidFill>
                <a:latin typeface="Nobile" pitchFamily="34" charset="0"/>
                <a:ea typeface="Nobile" pitchFamily="34" charset="-122"/>
                <a:cs typeface="Nobile" pitchFamily="34" charset="-120"/>
              </a:rPr>
              <a:t>6.3×</a:t>
            </a:r>
            <a:endParaRPr lang="en-US" sz="1300" dirty="0"/>
          </a:p>
        </p:txBody>
      </p:sp>
      <p:sp>
        <p:nvSpPr>
          <p:cNvPr id="32" name="Shape 30"/>
          <p:cNvSpPr/>
          <p:nvPr/>
        </p:nvSpPr>
        <p:spPr>
          <a:xfrm>
            <a:off x="793790" y="6567607"/>
            <a:ext cx="13042821" cy="898088"/>
          </a:xfrm>
          <a:prstGeom prst="roundRect">
            <a:avLst>
              <a:gd name="adj" fmla="val 16906"/>
            </a:avLst>
          </a:prstGeom>
          <a:solidFill>
            <a:srgbClr val="B6FCB8"/>
          </a:solidFill>
          <a:ln/>
        </p:spPr>
      </p:sp>
      <p:pic>
        <p:nvPicPr>
          <p:cNvPr id="33" name="Image 0" descr="preencoded.png"/>
          <p:cNvPicPr>
            <a:picLocks noChangeAspect="1"/>
          </p:cNvPicPr>
          <p:nvPr/>
        </p:nvPicPr>
        <p:blipFill>
          <a:blip r:embed="rId3"/>
          <a:stretch>
            <a:fillRect/>
          </a:stretch>
        </p:blipFill>
        <p:spPr>
          <a:xfrm>
            <a:off x="962382" y="6798469"/>
            <a:ext cx="210860" cy="168593"/>
          </a:xfrm>
          <a:prstGeom prst="rect">
            <a:avLst/>
          </a:prstGeom>
        </p:spPr>
      </p:pic>
      <p:sp>
        <p:nvSpPr>
          <p:cNvPr id="34" name="Text 31"/>
          <p:cNvSpPr/>
          <p:nvPr/>
        </p:nvSpPr>
        <p:spPr>
          <a:xfrm>
            <a:off x="1341834" y="6753106"/>
            <a:ext cx="12326183" cy="499348"/>
          </a:xfrm>
          <a:prstGeom prst="rect">
            <a:avLst/>
          </a:prstGeom>
          <a:noFill/>
          <a:ln/>
        </p:spPr>
        <p:txBody>
          <a:bodyPr wrap="square" lIns="0" tIns="0" rIns="0" bIns="0" rtlCol="0" anchor="t"/>
          <a:lstStyle/>
          <a:p>
            <a:pPr marL="0" indent="0" algn="l">
              <a:lnSpc>
                <a:spcPts val="1950"/>
              </a:lnSpc>
              <a:buNone/>
            </a:pPr>
            <a:r>
              <a:rPr lang="en-US" sz="1300" dirty="0">
                <a:solidFill>
                  <a:srgbClr val="000000"/>
                </a:solidFill>
                <a:latin typeface="Nobile" pitchFamily="34" charset="0"/>
                <a:ea typeface="Nobile" pitchFamily="34" charset="-122"/>
                <a:cs typeface="Nobile" pitchFamily="34" charset="-120"/>
              </a:rPr>
              <a:t>Multiplier discipline prevents nonlinear risk growth at scale. At 1M+ enrolled workers, the aggregate MPL remains fully bounded — a critical property for treaty-grade reinsurance placement.</a:t>
            </a:r>
            <a:endParaRPr lang="en-US" sz="1300" dirty="0"/>
          </a:p>
        </p:txBody>
      </p:sp>
      <p:sp>
        <p:nvSpPr>
          <p:cNvPr id="35" name="Rectangle 34">
            <a:extLst>
              <a:ext uri="{FF2B5EF4-FFF2-40B4-BE49-F238E27FC236}">
                <a16:creationId xmlns:a16="http://schemas.microsoft.com/office/drawing/2014/main" id="{0254546E-1432-509C-4FF3-D1AFF3101729}"/>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681276"/>
            <a:ext cx="1205746" cy="255984"/>
          </a:xfrm>
          <a:prstGeom prst="roundRect">
            <a:avLst>
              <a:gd name="adj" fmla="val 41868"/>
            </a:avLst>
          </a:prstGeom>
          <a:solidFill>
            <a:srgbClr val="DDEEE0"/>
          </a:solidFill>
          <a:ln/>
        </p:spPr>
      </p:sp>
      <p:sp>
        <p:nvSpPr>
          <p:cNvPr id="3" name="Text 1"/>
          <p:cNvSpPr/>
          <p:nvPr/>
        </p:nvSpPr>
        <p:spPr>
          <a:xfrm>
            <a:off x="883087" y="725924"/>
            <a:ext cx="1027152" cy="166688"/>
          </a:xfrm>
          <a:prstGeom prst="rect">
            <a:avLst/>
          </a:prstGeom>
          <a:noFill/>
          <a:ln/>
        </p:spPr>
        <p:txBody>
          <a:bodyPr wrap="none" lIns="0" tIns="0" rIns="0" bIns="0" rtlCol="0" anchor="t"/>
          <a:lstStyle/>
          <a:p>
            <a:pPr marL="0" indent="0" algn="l">
              <a:lnSpc>
                <a:spcPts val="1300"/>
              </a:lnSpc>
              <a:buNone/>
            </a:pPr>
            <a:r>
              <a:rPr lang="en-US" sz="900" dirty="0">
                <a:solidFill>
                  <a:srgbClr val="405449"/>
                </a:solidFill>
                <a:latin typeface="Nobile" pitchFamily="34" charset="0"/>
                <a:ea typeface="Nobile" pitchFamily="34" charset="-122"/>
                <a:cs typeface="Nobile" pitchFamily="34" charset="-120"/>
              </a:rPr>
              <a:t>MGA ECONOMICS</a:t>
            </a:r>
            <a:endParaRPr lang="en-US" sz="900" dirty="0"/>
          </a:p>
        </p:txBody>
      </p:sp>
      <p:sp>
        <p:nvSpPr>
          <p:cNvPr id="4" name="Text 2"/>
          <p:cNvSpPr/>
          <p:nvPr/>
        </p:nvSpPr>
        <p:spPr>
          <a:xfrm>
            <a:off x="793790" y="981908"/>
            <a:ext cx="10276642" cy="465177"/>
          </a:xfrm>
          <a:prstGeom prst="rect">
            <a:avLst/>
          </a:prstGeom>
          <a:noFill/>
          <a:ln/>
        </p:spPr>
        <p:txBody>
          <a:bodyPr wrap="none" lIns="0" tIns="0" rIns="0" bIns="0" rtlCol="0" anchor="t"/>
          <a:lstStyle/>
          <a:p>
            <a:pPr marL="0" indent="0" algn="l">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Revenue Architecture — Built for High-Volume Scaling</a:t>
            </a:r>
            <a:endParaRPr lang="en-US" sz="2900" dirty="0"/>
          </a:p>
        </p:txBody>
      </p:sp>
      <p:sp>
        <p:nvSpPr>
          <p:cNvPr id="5" name="Text 3"/>
          <p:cNvSpPr/>
          <p:nvPr/>
        </p:nvSpPr>
        <p:spPr>
          <a:xfrm>
            <a:off x="793790" y="1614488"/>
            <a:ext cx="13042821"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Hustlr operates a pure MGA model: we originate, underwrite (parametrically), and distribute — but carry </a:t>
            </a:r>
            <a:r>
              <a:rPr lang="en-US" sz="1150" b="1" dirty="0">
                <a:solidFill>
                  <a:srgbClr val="405449"/>
                </a:solidFill>
                <a:latin typeface="Nobile" pitchFamily="34" charset="0"/>
                <a:ea typeface="Nobile" pitchFamily="34" charset="-122"/>
                <a:cs typeface="Nobile" pitchFamily="34" charset="-120"/>
              </a:rPr>
              <a:t>zero balance sheet exposure</a:t>
            </a:r>
            <a:r>
              <a:rPr lang="en-US" sz="1150" dirty="0">
                <a:solidFill>
                  <a:srgbClr val="405449"/>
                </a:solidFill>
                <a:latin typeface="Nobile" pitchFamily="34" charset="0"/>
                <a:ea typeface="Nobile" pitchFamily="34" charset="-122"/>
                <a:cs typeface="Nobile" pitchFamily="34" charset="-120"/>
              </a:rPr>
              <a:t>. GWP of ~₹168/month per worker flows through a disciplined split, with the insurer retaining ~80% for claims and reserves while Hustlr earns a capital-light ~₹40/month platform fee.</a:t>
            </a:r>
            <a:endParaRPr lang="en-US" sz="1150" dirty="0"/>
          </a:p>
        </p:txBody>
      </p:sp>
      <p:sp>
        <p:nvSpPr>
          <p:cNvPr id="6" name="Text 4"/>
          <p:cNvSpPr/>
          <p:nvPr/>
        </p:nvSpPr>
        <p:spPr>
          <a:xfrm>
            <a:off x="1586270" y="2356604"/>
            <a:ext cx="4754880" cy="491133"/>
          </a:xfrm>
          <a:prstGeom prst="rect">
            <a:avLst/>
          </a:prstGeom>
          <a:noFill/>
          <a:ln/>
        </p:spPr>
        <p:txBody>
          <a:bodyPr wrap="none" lIns="0" tIns="0" rIns="0" bIns="0" rtlCol="0" anchor="t"/>
          <a:lstStyle/>
          <a:p>
            <a:pPr marL="0" indent="0" algn="ctr">
              <a:lnSpc>
                <a:spcPts val="3850"/>
              </a:lnSpc>
              <a:buNone/>
            </a:pPr>
            <a:r>
              <a:rPr lang="en-US" sz="3850" b="1" dirty="0">
                <a:solidFill>
                  <a:srgbClr val="405449"/>
                </a:solidFill>
                <a:latin typeface="Fraunces Extra Bold" pitchFamily="34" charset="0"/>
                <a:ea typeface="Fraunces Extra Bold" pitchFamily="34" charset="-122"/>
                <a:cs typeface="Fraunces Extra Bold" pitchFamily="34" charset="-120"/>
              </a:rPr>
              <a:t>₹168</a:t>
            </a:r>
            <a:endParaRPr lang="en-US" sz="3850" dirty="0"/>
          </a:p>
        </p:txBody>
      </p:sp>
      <p:sp>
        <p:nvSpPr>
          <p:cNvPr id="7" name="Text 5"/>
          <p:cNvSpPr/>
          <p:nvPr/>
        </p:nvSpPr>
        <p:spPr>
          <a:xfrm>
            <a:off x="3033355" y="3005852"/>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Monthly GWP</a:t>
            </a:r>
            <a:endParaRPr lang="en-US" sz="1450" dirty="0"/>
          </a:p>
        </p:txBody>
      </p:sp>
      <p:sp>
        <p:nvSpPr>
          <p:cNvPr id="8" name="Text 6"/>
          <p:cNvSpPr/>
          <p:nvPr/>
        </p:nvSpPr>
        <p:spPr>
          <a:xfrm>
            <a:off x="793790" y="3349943"/>
            <a:ext cx="6339840" cy="208359"/>
          </a:xfrm>
          <a:prstGeom prst="rect">
            <a:avLst/>
          </a:prstGeom>
          <a:noFill/>
          <a:ln/>
        </p:spPr>
        <p:txBody>
          <a:bodyPr wrap="none" lIns="0" tIns="0" rIns="0" bIns="0" rtlCol="0" anchor="t"/>
          <a:lstStyle/>
          <a:p>
            <a:pPr marL="0" indent="0" algn="ctr">
              <a:lnSpc>
                <a:spcPts val="1600"/>
              </a:lnSpc>
              <a:buNone/>
            </a:pPr>
            <a:r>
              <a:rPr lang="en-US" sz="1150" dirty="0">
                <a:solidFill>
                  <a:srgbClr val="405449"/>
                </a:solidFill>
                <a:latin typeface="Nobile" pitchFamily="34" charset="0"/>
                <a:ea typeface="Nobile" pitchFamily="34" charset="-122"/>
                <a:cs typeface="Nobile" pitchFamily="34" charset="-120"/>
              </a:rPr>
              <a:t>Gross written premium per enrolled worker</a:t>
            </a:r>
            <a:endParaRPr lang="en-US" sz="1150" dirty="0"/>
          </a:p>
        </p:txBody>
      </p:sp>
      <p:sp>
        <p:nvSpPr>
          <p:cNvPr id="9" name="Text 7"/>
          <p:cNvSpPr/>
          <p:nvPr/>
        </p:nvSpPr>
        <p:spPr>
          <a:xfrm>
            <a:off x="1586270" y="3855958"/>
            <a:ext cx="4754880" cy="491133"/>
          </a:xfrm>
          <a:prstGeom prst="rect">
            <a:avLst/>
          </a:prstGeom>
          <a:noFill/>
          <a:ln/>
        </p:spPr>
        <p:txBody>
          <a:bodyPr wrap="none" lIns="0" tIns="0" rIns="0" bIns="0" rtlCol="0" anchor="t"/>
          <a:lstStyle/>
          <a:p>
            <a:pPr marL="0" indent="0" algn="ctr">
              <a:lnSpc>
                <a:spcPts val="3850"/>
              </a:lnSpc>
              <a:buNone/>
            </a:pPr>
            <a:r>
              <a:rPr lang="en-US" sz="3850" b="1" dirty="0">
                <a:solidFill>
                  <a:srgbClr val="405449"/>
                </a:solidFill>
                <a:latin typeface="Fraunces Extra Bold" pitchFamily="34" charset="0"/>
                <a:ea typeface="Fraunces Extra Bold" pitchFamily="34" charset="-122"/>
                <a:cs typeface="Fraunces Extra Bold" pitchFamily="34" charset="-120"/>
              </a:rPr>
              <a:t>₹40</a:t>
            </a:r>
            <a:endParaRPr lang="en-US" sz="3850" dirty="0"/>
          </a:p>
        </p:txBody>
      </p:sp>
      <p:sp>
        <p:nvSpPr>
          <p:cNvPr id="10" name="Text 8"/>
          <p:cNvSpPr/>
          <p:nvPr/>
        </p:nvSpPr>
        <p:spPr>
          <a:xfrm>
            <a:off x="3033355" y="4505206"/>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Hustlr Revenue</a:t>
            </a:r>
            <a:endParaRPr lang="en-US" sz="1450" dirty="0"/>
          </a:p>
        </p:txBody>
      </p:sp>
      <p:sp>
        <p:nvSpPr>
          <p:cNvPr id="11" name="Text 9"/>
          <p:cNvSpPr/>
          <p:nvPr/>
        </p:nvSpPr>
        <p:spPr>
          <a:xfrm>
            <a:off x="793790" y="4849297"/>
            <a:ext cx="6339840" cy="208359"/>
          </a:xfrm>
          <a:prstGeom prst="rect">
            <a:avLst/>
          </a:prstGeom>
          <a:noFill/>
          <a:ln/>
        </p:spPr>
        <p:txBody>
          <a:bodyPr wrap="none" lIns="0" tIns="0" rIns="0" bIns="0" rtlCol="0" anchor="t"/>
          <a:lstStyle/>
          <a:p>
            <a:pPr marL="0" indent="0" algn="ctr">
              <a:lnSpc>
                <a:spcPts val="1600"/>
              </a:lnSpc>
              <a:buNone/>
            </a:pPr>
            <a:r>
              <a:rPr lang="en-US" sz="1150" dirty="0">
                <a:solidFill>
                  <a:srgbClr val="405449"/>
                </a:solidFill>
                <a:latin typeface="Nobile" pitchFamily="34" charset="0"/>
                <a:ea typeface="Nobile" pitchFamily="34" charset="-122"/>
                <a:cs typeface="Nobile" pitchFamily="34" charset="-120"/>
              </a:rPr>
              <a:t>MGA + platform fee per worker/month</a:t>
            </a:r>
            <a:endParaRPr lang="en-US" sz="1150" dirty="0"/>
          </a:p>
        </p:txBody>
      </p:sp>
      <p:sp>
        <p:nvSpPr>
          <p:cNvPr id="12" name="Text 10"/>
          <p:cNvSpPr/>
          <p:nvPr/>
        </p:nvSpPr>
        <p:spPr>
          <a:xfrm>
            <a:off x="1586270" y="5355312"/>
            <a:ext cx="4754880" cy="491133"/>
          </a:xfrm>
          <a:prstGeom prst="rect">
            <a:avLst/>
          </a:prstGeom>
          <a:noFill/>
          <a:ln/>
        </p:spPr>
        <p:txBody>
          <a:bodyPr wrap="none" lIns="0" tIns="0" rIns="0" bIns="0" rtlCol="0" anchor="t"/>
          <a:lstStyle/>
          <a:p>
            <a:pPr marL="0" indent="0" algn="ctr">
              <a:lnSpc>
                <a:spcPts val="3850"/>
              </a:lnSpc>
              <a:buNone/>
            </a:pPr>
            <a:r>
              <a:rPr lang="en-US" sz="3850" b="1" dirty="0">
                <a:solidFill>
                  <a:srgbClr val="405449"/>
                </a:solidFill>
                <a:latin typeface="Fraunces Extra Bold" pitchFamily="34" charset="0"/>
                <a:ea typeface="Fraunces Extra Bold" pitchFamily="34" charset="-122"/>
                <a:cs typeface="Fraunces Extra Bold" pitchFamily="34" charset="-120"/>
              </a:rPr>
              <a:t>37%</a:t>
            </a:r>
            <a:endParaRPr lang="en-US" sz="3850" dirty="0"/>
          </a:p>
        </p:txBody>
      </p:sp>
      <p:sp>
        <p:nvSpPr>
          <p:cNvPr id="13" name="Text 11"/>
          <p:cNvSpPr/>
          <p:nvPr/>
        </p:nvSpPr>
        <p:spPr>
          <a:xfrm>
            <a:off x="3033355" y="6004560"/>
            <a:ext cx="1860590" cy="232529"/>
          </a:xfrm>
          <a:prstGeom prst="rect">
            <a:avLst/>
          </a:prstGeom>
          <a:noFill/>
          <a:ln/>
        </p:spPr>
        <p:txBody>
          <a:bodyPr wrap="none" lIns="0" tIns="0" rIns="0" bIns="0" rtlCol="0" anchor="t"/>
          <a:lstStyle/>
          <a:p>
            <a:pPr marL="0" indent="0" algn="ctr">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Loss Ratio</a:t>
            </a:r>
            <a:endParaRPr lang="en-US" sz="1450" dirty="0"/>
          </a:p>
        </p:txBody>
      </p:sp>
      <p:sp>
        <p:nvSpPr>
          <p:cNvPr id="14" name="Text 12"/>
          <p:cNvSpPr/>
          <p:nvPr/>
        </p:nvSpPr>
        <p:spPr>
          <a:xfrm>
            <a:off x="793790" y="6348651"/>
            <a:ext cx="6339840" cy="208359"/>
          </a:xfrm>
          <a:prstGeom prst="rect">
            <a:avLst/>
          </a:prstGeom>
          <a:noFill/>
          <a:ln/>
        </p:spPr>
        <p:txBody>
          <a:bodyPr wrap="none" lIns="0" tIns="0" rIns="0" bIns="0" rtlCol="0" anchor="t"/>
          <a:lstStyle/>
          <a:p>
            <a:pPr marL="0" indent="0" algn="ctr">
              <a:lnSpc>
                <a:spcPts val="1600"/>
              </a:lnSpc>
              <a:buNone/>
            </a:pPr>
            <a:r>
              <a:rPr lang="en-US" sz="1150" dirty="0">
                <a:solidFill>
                  <a:srgbClr val="405449"/>
                </a:solidFill>
                <a:latin typeface="Nobile" pitchFamily="34" charset="0"/>
                <a:ea typeface="Nobile" pitchFamily="34" charset="-122"/>
                <a:cs typeface="Nobile" pitchFamily="34" charset="-120"/>
              </a:rPr>
              <a:t>Structurally engineered, not cyclical</a:t>
            </a:r>
            <a:endParaRPr lang="en-US" sz="1150" dirty="0"/>
          </a:p>
        </p:txBody>
      </p:sp>
      <p:sp>
        <p:nvSpPr>
          <p:cNvPr id="15" name="Text 13"/>
          <p:cNvSpPr/>
          <p:nvPr/>
        </p:nvSpPr>
        <p:spPr>
          <a:xfrm>
            <a:off x="7504390" y="2268260"/>
            <a:ext cx="2122051"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Premium Pool at Scale</a:t>
            </a:r>
            <a:endParaRPr lang="en-US" sz="1450" dirty="0"/>
          </a:p>
        </p:txBody>
      </p:sp>
      <p:sp>
        <p:nvSpPr>
          <p:cNvPr id="16" name="Shape 14"/>
          <p:cNvSpPr/>
          <p:nvPr/>
        </p:nvSpPr>
        <p:spPr>
          <a:xfrm>
            <a:off x="7504390" y="2626281"/>
            <a:ext cx="6339840" cy="880586"/>
          </a:xfrm>
          <a:prstGeom prst="roundRect">
            <a:avLst>
              <a:gd name="adj" fmla="val 8307"/>
            </a:avLst>
          </a:prstGeom>
          <a:solidFill>
            <a:srgbClr val="FAFFFA"/>
          </a:solidFill>
          <a:ln w="15240">
            <a:solidFill>
              <a:srgbClr val="CED9CE"/>
            </a:solidFill>
            <a:prstDash val="solid"/>
          </a:ln>
        </p:spPr>
      </p:sp>
      <p:sp>
        <p:nvSpPr>
          <p:cNvPr id="17" name="Shape 15"/>
          <p:cNvSpPr/>
          <p:nvPr/>
        </p:nvSpPr>
        <p:spPr>
          <a:xfrm>
            <a:off x="7489150" y="2626281"/>
            <a:ext cx="60960" cy="880586"/>
          </a:xfrm>
          <a:prstGeom prst="roundRect">
            <a:avLst>
              <a:gd name="adj" fmla="val 219768"/>
            </a:avLst>
          </a:prstGeom>
          <a:solidFill>
            <a:srgbClr val="438951"/>
          </a:solidFill>
          <a:ln/>
        </p:spPr>
      </p:sp>
      <p:sp>
        <p:nvSpPr>
          <p:cNvPr id="18" name="Text 16"/>
          <p:cNvSpPr/>
          <p:nvPr/>
        </p:nvSpPr>
        <p:spPr>
          <a:xfrm>
            <a:off x="7714178" y="2790349"/>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10,000 Workers</a:t>
            </a:r>
            <a:endParaRPr lang="en-US" sz="1450" dirty="0"/>
          </a:p>
        </p:txBody>
      </p:sp>
      <p:sp>
        <p:nvSpPr>
          <p:cNvPr id="19" name="Text 17"/>
          <p:cNvSpPr/>
          <p:nvPr/>
        </p:nvSpPr>
        <p:spPr>
          <a:xfrm>
            <a:off x="7714178" y="3134439"/>
            <a:ext cx="5965984"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₹2.45 Cr annual premium pool — pilot validation threshold</a:t>
            </a:r>
            <a:endParaRPr lang="en-US" sz="1150" dirty="0"/>
          </a:p>
        </p:txBody>
      </p:sp>
      <p:sp>
        <p:nvSpPr>
          <p:cNvPr id="20" name="Shape 18"/>
          <p:cNvSpPr/>
          <p:nvPr/>
        </p:nvSpPr>
        <p:spPr>
          <a:xfrm>
            <a:off x="7504390" y="3618428"/>
            <a:ext cx="6339840" cy="880586"/>
          </a:xfrm>
          <a:prstGeom prst="roundRect">
            <a:avLst>
              <a:gd name="adj" fmla="val 8307"/>
            </a:avLst>
          </a:prstGeom>
          <a:solidFill>
            <a:srgbClr val="FAFFFA"/>
          </a:solidFill>
          <a:ln w="15240">
            <a:solidFill>
              <a:srgbClr val="CED9CE"/>
            </a:solidFill>
            <a:prstDash val="solid"/>
          </a:ln>
        </p:spPr>
      </p:sp>
      <p:sp>
        <p:nvSpPr>
          <p:cNvPr id="21" name="Shape 19"/>
          <p:cNvSpPr/>
          <p:nvPr/>
        </p:nvSpPr>
        <p:spPr>
          <a:xfrm>
            <a:off x="7489150" y="3618428"/>
            <a:ext cx="60960" cy="880586"/>
          </a:xfrm>
          <a:prstGeom prst="roundRect">
            <a:avLst>
              <a:gd name="adj" fmla="val 219768"/>
            </a:avLst>
          </a:prstGeom>
          <a:solidFill>
            <a:srgbClr val="438951"/>
          </a:solidFill>
          <a:ln/>
        </p:spPr>
      </p:sp>
      <p:sp>
        <p:nvSpPr>
          <p:cNvPr id="22" name="Text 20"/>
          <p:cNvSpPr/>
          <p:nvPr/>
        </p:nvSpPr>
        <p:spPr>
          <a:xfrm>
            <a:off x="7714178" y="3782497"/>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1.5L Workers</a:t>
            </a:r>
            <a:endParaRPr lang="en-US" sz="1450" dirty="0"/>
          </a:p>
        </p:txBody>
      </p:sp>
      <p:sp>
        <p:nvSpPr>
          <p:cNvPr id="23" name="Text 21"/>
          <p:cNvSpPr/>
          <p:nvPr/>
        </p:nvSpPr>
        <p:spPr>
          <a:xfrm>
            <a:off x="7714178" y="4126587"/>
            <a:ext cx="5965984"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₹36.75 Cr pool — metro deployment economics</a:t>
            </a:r>
            <a:endParaRPr lang="en-US" sz="1150" dirty="0"/>
          </a:p>
        </p:txBody>
      </p:sp>
      <p:sp>
        <p:nvSpPr>
          <p:cNvPr id="24" name="Shape 22"/>
          <p:cNvSpPr/>
          <p:nvPr/>
        </p:nvSpPr>
        <p:spPr>
          <a:xfrm>
            <a:off x="7504390" y="4610576"/>
            <a:ext cx="6339840" cy="880586"/>
          </a:xfrm>
          <a:prstGeom prst="roundRect">
            <a:avLst>
              <a:gd name="adj" fmla="val 8307"/>
            </a:avLst>
          </a:prstGeom>
          <a:solidFill>
            <a:srgbClr val="FAFFFA"/>
          </a:solidFill>
          <a:ln w="15240">
            <a:solidFill>
              <a:srgbClr val="CED9CE"/>
            </a:solidFill>
            <a:prstDash val="solid"/>
          </a:ln>
        </p:spPr>
      </p:sp>
      <p:sp>
        <p:nvSpPr>
          <p:cNvPr id="25" name="Shape 23"/>
          <p:cNvSpPr/>
          <p:nvPr/>
        </p:nvSpPr>
        <p:spPr>
          <a:xfrm>
            <a:off x="7489150" y="4610576"/>
            <a:ext cx="60960" cy="880586"/>
          </a:xfrm>
          <a:prstGeom prst="roundRect">
            <a:avLst>
              <a:gd name="adj" fmla="val 219768"/>
            </a:avLst>
          </a:prstGeom>
          <a:solidFill>
            <a:srgbClr val="438951"/>
          </a:solidFill>
          <a:ln/>
        </p:spPr>
      </p:sp>
      <p:sp>
        <p:nvSpPr>
          <p:cNvPr id="26" name="Text 24"/>
          <p:cNvSpPr/>
          <p:nvPr/>
        </p:nvSpPr>
        <p:spPr>
          <a:xfrm>
            <a:off x="7714178" y="4774644"/>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10L Workers</a:t>
            </a:r>
            <a:endParaRPr lang="en-US" sz="1450" dirty="0"/>
          </a:p>
        </p:txBody>
      </p:sp>
      <p:sp>
        <p:nvSpPr>
          <p:cNvPr id="27" name="Text 25"/>
          <p:cNvSpPr/>
          <p:nvPr/>
        </p:nvSpPr>
        <p:spPr>
          <a:xfrm>
            <a:off x="7714178" y="5118735"/>
            <a:ext cx="5965984"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₹245 Cr pool — multi-city, treaty-grade scale</a:t>
            </a:r>
            <a:endParaRPr lang="en-US" sz="1150" dirty="0"/>
          </a:p>
        </p:txBody>
      </p:sp>
      <p:sp>
        <p:nvSpPr>
          <p:cNvPr id="28" name="Shape 26"/>
          <p:cNvSpPr/>
          <p:nvPr/>
        </p:nvSpPr>
        <p:spPr>
          <a:xfrm>
            <a:off x="793790" y="6785692"/>
            <a:ext cx="13042821" cy="740212"/>
          </a:xfrm>
          <a:prstGeom prst="roundRect">
            <a:avLst>
              <a:gd name="adj" fmla="val 18099"/>
            </a:avLst>
          </a:prstGeom>
          <a:solidFill>
            <a:srgbClr val="B6D6FC"/>
          </a:solidFill>
          <a:ln/>
        </p:spPr>
      </p:sp>
      <p:pic>
        <p:nvPicPr>
          <p:cNvPr id="29" name="Image 0" descr="preencoded.png"/>
          <p:cNvPicPr>
            <a:picLocks noChangeAspect="1"/>
          </p:cNvPicPr>
          <p:nvPr/>
        </p:nvPicPr>
        <p:blipFill>
          <a:blip r:embed="rId3"/>
          <a:stretch>
            <a:fillRect/>
          </a:stretch>
        </p:blipFill>
        <p:spPr>
          <a:xfrm>
            <a:off x="942618" y="7008495"/>
            <a:ext cx="185976" cy="148828"/>
          </a:xfrm>
          <a:prstGeom prst="rect">
            <a:avLst/>
          </a:prstGeom>
        </p:spPr>
      </p:pic>
      <p:sp>
        <p:nvSpPr>
          <p:cNvPr id="30" name="Text 27"/>
          <p:cNvSpPr/>
          <p:nvPr/>
        </p:nvSpPr>
        <p:spPr>
          <a:xfrm>
            <a:off x="1277422" y="6956703"/>
            <a:ext cx="12410361" cy="416719"/>
          </a:xfrm>
          <a:prstGeom prst="rect">
            <a:avLst/>
          </a:prstGeom>
          <a:noFill/>
          <a:ln/>
        </p:spPr>
        <p:txBody>
          <a:bodyPr wrap="square" lIns="0" tIns="0" rIns="0" bIns="0" rtlCol="0" anchor="t"/>
          <a:lstStyle/>
          <a:p>
            <a:pPr marL="0" indent="0" algn="l">
              <a:lnSpc>
                <a:spcPts val="1600"/>
              </a:lnSpc>
              <a:buNone/>
            </a:pPr>
            <a:r>
              <a:rPr lang="en-US" sz="1150" dirty="0">
                <a:solidFill>
                  <a:srgbClr val="000000"/>
                </a:solidFill>
                <a:latin typeface="Nobile" pitchFamily="34" charset="0"/>
                <a:ea typeface="Nobile" pitchFamily="34" charset="-122"/>
                <a:cs typeface="Nobile" pitchFamily="34" charset="-120"/>
              </a:rPr>
              <a:t>Revenue scales strictly with enrolled users — not with claims volatility or capital deployment. The asset-light MGA structure means each incremental worker adds ₹40/month of pure platform revenue with </a:t>
            </a:r>
            <a:r>
              <a:rPr lang="en-US" sz="1150" b="1" dirty="0">
                <a:solidFill>
                  <a:srgbClr val="000000"/>
                </a:solidFill>
                <a:latin typeface="Nobile" pitchFamily="34" charset="0"/>
                <a:ea typeface="Nobile" pitchFamily="34" charset="-122"/>
                <a:cs typeface="Nobile" pitchFamily="34" charset="-120"/>
              </a:rPr>
              <a:t>₹0 claims cost</a:t>
            </a:r>
            <a:r>
              <a:rPr lang="en-US" sz="1150" dirty="0">
                <a:solidFill>
                  <a:srgbClr val="000000"/>
                </a:solidFill>
                <a:latin typeface="Nobile" pitchFamily="34" charset="0"/>
                <a:ea typeface="Nobile" pitchFamily="34" charset="-122"/>
                <a:cs typeface="Nobile" pitchFamily="34" charset="-120"/>
              </a:rPr>
              <a:t> via automated STP processing.</a:t>
            </a:r>
            <a:endParaRPr lang="en-US" sz="1150" dirty="0"/>
          </a:p>
        </p:txBody>
      </p:sp>
      <p:sp>
        <p:nvSpPr>
          <p:cNvPr id="31" name="Rectangle 30">
            <a:extLst>
              <a:ext uri="{FF2B5EF4-FFF2-40B4-BE49-F238E27FC236}">
                <a16:creationId xmlns:a16="http://schemas.microsoft.com/office/drawing/2014/main" id="{BF2919A6-775A-7519-02FD-F9EB4AA80A48}"/>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0" y="742950"/>
            <a:ext cx="2258973" cy="300990"/>
          </a:xfrm>
          <a:prstGeom prst="roundRect">
            <a:avLst>
              <a:gd name="adj" fmla="val 40356"/>
            </a:avLst>
          </a:prstGeom>
          <a:solidFill>
            <a:srgbClr val="DDEEE0"/>
          </a:solidFill>
          <a:ln/>
        </p:spPr>
      </p:sp>
      <p:sp>
        <p:nvSpPr>
          <p:cNvPr id="3" name="Text 1"/>
          <p:cNvSpPr/>
          <p:nvPr/>
        </p:nvSpPr>
        <p:spPr>
          <a:xfrm>
            <a:off x="894993" y="793552"/>
            <a:ext cx="2056567" cy="199787"/>
          </a:xfrm>
          <a:prstGeom prst="rect">
            <a:avLst/>
          </a:prstGeom>
          <a:noFill/>
          <a:ln/>
        </p:spPr>
        <p:txBody>
          <a:bodyPr wrap="none" lIns="0" tIns="0" rIns="0" bIns="0" rtlCol="0" anchor="t"/>
          <a:lstStyle/>
          <a:p>
            <a:pPr marL="0" indent="0" algn="l">
              <a:lnSpc>
                <a:spcPts val="1550"/>
              </a:lnSpc>
              <a:buNone/>
            </a:pPr>
            <a:r>
              <a:rPr lang="en-US" sz="1050" dirty="0">
                <a:solidFill>
                  <a:srgbClr val="405449"/>
                </a:solidFill>
                <a:latin typeface="Nobile" pitchFamily="34" charset="0"/>
                <a:ea typeface="Nobile" pitchFamily="34" charset="-122"/>
                <a:cs typeface="Nobile" pitchFamily="34" charset="-120"/>
              </a:rPr>
              <a:t>INFRASTRUCTURE ECONOMICS</a:t>
            </a:r>
            <a:endParaRPr lang="en-US" sz="1050" dirty="0"/>
          </a:p>
        </p:txBody>
      </p:sp>
      <p:sp>
        <p:nvSpPr>
          <p:cNvPr id="4" name="Text 2"/>
          <p:cNvSpPr/>
          <p:nvPr/>
        </p:nvSpPr>
        <p:spPr>
          <a:xfrm>
            <a:off x="793790" y="1101209"/>
            <a:ext cx="10262592" cy="527090"/>
          </a:xfrm>
          <a:prstGeom prst="rect">
            <a:avLst/>
          </a:prstGeom>
          <a:noFill/>
          <a:ln/>
        </p:spPr>
        <p:txBody>
          <a:bodyPr wrap="none" lIns="0" tIns="0" rIns="0" bIns="0" rtlCol="0" anchor="t"/>
          <a:lstStyle/>
          <a:p>
            <a:pPr marL="0" indent="0" algn="l">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Infrastructure Margin + Distribution Advantage</a:t>
            </a:r>
            <a:endParaRPr lang="en-US" sz="3300" dirty="0"/>
          </a:p>
        </p:txBody>
      </p:sp>
      <p:sp>
        <p:nvSpPr>
          <p:cNvPr id="5" name="Text 3"/>
          <p:cNvSpPr/>
          <p:nvPr/>
        </p:nvSpPr>
        <p:spPr>
          <a:xfrm>
            <a:off x="793790" y="1843326"/>
            <a:ext cx="13042821" cy="499348"/>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At ₹27.6 COGS per worker/month against ₹40 platform revenue, Hustlr operates at a </a:t>
            </a:r>
            <a:r>
              <a:rPr lang="en-US" sz="1300" b="1" dirty="0">
                <a:solidFill>
                  <a:srgbClr val="405449"/>
                </a:solidFill>
                <a:latin typeface="Nobile" pitchFamily="34" charset="0"/>
                <a:ea typeface="Nobile" pitchFamily="34" charset="-122"/>
                <a:cs typeface="Nobile" pitchFamily="34" charset="-120"/>
              </a:rPr>
              <a:t>~31% platform margin today</a:t>
            </a:r>
            <a:r>
              <a:rPr lang="en-US" sz="1300" dirty="0">
                <a:solidFill>
                  <a:srgbClr val="405449"/>
                </a:solidFill>
                <a:latin typeface="Nobile" pitchFamily="34" charset="0"/>
                <a:ea typeface="Nobile" pitchFamily="34" charset="-122"/>
                <a:cs typeface="Nobile" pitchFamily="34" charset="-120"/>
              </a:rPr>
              <a:t> — expanding to 60–65%+ at 100K+ workers as fixed infrastructure costs amortize across a larger base. Critically, every rupee of tech spend doubles as a fraud prevention layer.</a:t>
            </a:r>
            <a:endParaRPr lang="en-US" sz="1300" dirty="0"/>
          </a:p>
        </p:txBody>
      </p:sp>
      <p:sp>
        <p:nvSpPr>
          <p:cNvPr id="6" name="Text 4"/>
          <p:cNvSpPr/>
          <p:nvPr/>
        </p:nvSpPr>
        <p:spPr>
          <a:xfrm>
            <a:off x="793790" y="2647236"/>
            <a:ext cx="4500682" cy="263485"/>
          </a:xfrm>
          <a:prstGeom prst="rect">
            <a:avLst/>
          </a:prstGeom>
          <a:noFill/>
          <a:ln/>
        </p:spPr>
        <p:txBody>
          <a:bodyPr wrap="none" lIns="0" tIns="0" rIns="0" bIns="0" rtlCol="0" anchor="t"/>
          <a:lstStyle/>
          <a:p>
            <a:pPr marL="0" indent="0" algn="l">
              <a:lnSpc>
                <a:spcPts val="2050"/>
              </a:lnSpc>
              <a:buNone/>
            </a:pPr>
            <a:r>
              <a:rPr lang="en-US" sz="1650" b="1" dirty="0">
                <a:solidFill>
                  <a:srgbClr val="3B4540"/>
                </a:solidFill>
                <a:latin typeface="Fraunces Extra Bold" pitchFamily="34" charset="0"/>
                <a:ea typeface="Fraunces Extra Bold" pitchFamily="34" charset="-122"/>
                <a:cs typeface="Fraunces Extra Bold" pitchFamily="34" charset="-120"/>
              </a:rPr>
              <a:t>COGS Breakdown — ₹27.6/Worker/Month</a:t>
            </a:r>
            <a:endParaRPr lang="en-US" sz="1650" dirty="0"/>
          </a:p>
        </p:txBody>
      </p:sp>
      <p:sp>
        <p:nvSpPr>
          <p:cNvPr id="7" name="Shape 5"/>
          <p:cNvSpPr/>
          <p:nvPr/>
        </p:nvSpPr>
        <p:spPr>
          <a:xfrm>
            <a:off x="793790" y="3156228"/>
            <a:ext cx="1723192" cy="210860"/>
          </a:xfrm>
          <a:prstGeom prst="roundRect">
            <a:avLst>
              <a:gd name="adj" fmla="val 72007"/>
            </a:avLst>
          </a:prstGeom>
          <a:solidFill>
            <a:srgbClr val="E8F3E8"/>
          </a:solidFill>
          <a:ln/>
        </p:spPr>
      </p:sp>
      <p:sp>
        <p:nvSpPr>
          <p:cNvPr id="8" name="Shape 6"/>
          <p:cNvSpPr/>
          <p:nvPr/>
        </p:nvSpPr>
        <p:spPr>
          <a:xfrm>
            <a:off x="793790" y="3156228"/>
            <a:ext cx="689253" cy="210860"/>
          </a:xfrm>
          <a:prstGeom prst="roundRect">
            <a:avLst>
              <a:gd name="adj" fmla="val 72007"/>
            </a:avLst>
          </a:prstGeom>
          <a:solidFill>
            <a:srgbClr val="438951"/>
          </a:solidFill>
          <a:ln/>
        </p:spPr>
      </p:sp>
      <p:sp>
        <p:nvSpPr>
          <p:cNvPr id="9" name="Text 7"/>
          <p:cNvSpPr/>
          <p:nvPr/>
        </p:nvSpPr>
        <p:spPr>
          <a:xfrm>
            <a:off x="2643426" y="3156228"/>
            <a:ext cx="472321" cy="210860"/>
          </a:xfrm>
          <a:prstGeom prst="rect">
            <a:avLst/>
          </a:prstGeom>
          <a:noFill/>
          <a:ln/>
        </p:spPr>
        <p:txBody>
          <a:bodyPr wrap="none" lIns="0" tIns="0" rIns="0" bIns="0" rtlCol="0" anchor="t"/>
          <a:lstStyle/>
          <a:p>
            <a:pPr marL="0" indent="0" algn="l">
              <a:lnSpc>
                <a:spcPts val="1650"/>
              </a:lnSpc>
              <a:buNone/>
            </a:pPr>
            <a:r>
              <a:rPr lang="en-US" sz="1650" b="1" dirty="0">
                <a:solidFill>
                  <a:srgbClr val="405449"/>
                </a:solidFill>
                <a:latin typeface="Fraunces Extra Bold" pitchFamily="34" charset="0"/>
                <a:ea typeface="Fraunces Extra Bold" pitchFamily="34" charset="-122"/>
                <a:cs typeface="Fraunces Extra Bold" pitchFamily="34" charset="-120"/>
              </a:rPr>
              <a:t>40%</a:t>
            </a:r>
            <a:endParaRPr lang="en-US" sz="1650" dirty="0"/>
          </a:p>
        </p:txBody>
      </p:sp>
      <p:sp>
        <p:nvSpPr>
          <p:cNvPr id="10" name="Text 8"/>
          <p:cNvSpPr/>
          <p:nvPr/>
        </p:nvSpPr>
        <p:spPr>
          <a:xfrm>
            <a:off x="793790" y="3558897"/>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Cloud Compute</a:t>
            </a:r>
            <a:endParaRPr lang="en-US" sz="1650" dirty="0"/>
          </a:p>
        </p:txBody>
      </p:sp>
      <p:sp>
        <p:nvSpPr>
          <p:cNvPr id="11" name="Text 9"/>
          <p:cNvSpPr/>
          <p:nvPr/>
        </p:nvSpPr>
        <p:spPr>
          <a:xfrm>
            <a:off x="793790" y="3965734"/>
            <a:ext cx="2731770" cy="499348"/>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₹11 — core processing infrastructure</a:t>
            </a:r>
            <a:endParaRPr lang="en-US" sz="1300" dirty="0"/>
          </a:p>
        </p:txBody>
      </p:sp>
      <p:sp>
        <p:nvSpPr>
          <p:cNvPr id="12" name="Shape 10"/>
          <p:cNvSpPr/>
          <p:nvPr/>
        </p:nvSpPr>
        <p:spPr>
          <a:xfrm>
            <a:off x="3704749" y="3156228"/>
            <a:ext cx="1740456" cy="210860"/>
          </a:xfrm>
          <a:prstGeom prst="roundRect">
            <a:avLst>
              <a:gd name="adj" fmla="val 72007"/>
            </a:avLst>
          </a:prstGeom>
          <a:solidFill>
            <a:srgbClr val="E8F3E8"/>
          </a:solidFill>
          <a:ln/>
        </p:spPr>
      </p:sp>
      <p:sp>
        <p:nvSpPr>
          <p:cNvPr id="13" name="Shape 11"/>
          <p:cNvSpPr/>
          <p:nvPr/>
        </p:nvSpPr>
        <p:spPr>
          <a:xfrm>
            <a:off x="3704749" y="3156228"/>
            <a:ext cx="504706" cy="210860"/>
          </a:xfrm>
          <a:prstGeom prst="roundRect">
            <a:avLst>
              <a:gd name="adj" fmla="val 72007"/>
            </a:avLst>
          </a:prstGeom>
          <a:solidFill>
            <a:srgbClr val="438951"/>
          </a:solidFill>
          <a:ln/>
        </p:spPr>
      </p:sp>
      <p:sp>
        <p:nvSpPr>
          <p:cNvPr id="14" name="Text 12"/>
          <p:cNvSpPr/>
          <p:nvPr/>
        </p:nvSpPr>
        <p:spPr>
          <a:xfrm>
            <a:off x="5571649" y="3156228"/>
            <a:ext cx="455176" cy="210860"/>
          </a:xfrm>
          <a:prstGeom prst="rect">
            <a:avLst/>
          </a:prstGeom>
          <a:noFill/>
          <a:ln/>
        </p:spPr>
        <p:txBody>
          <a:bodyPr wrap="none" lIns="0" tIns="0" rIns="0" bIns="0" rtlCol="0" anchor="t"/>
          <a:lstStyle/>
          <a:p>
            <a:pPr marL="0" indent="0" algn="l">
              <a:lnSpc>
                <a:spcPts val="1650"/>
              </a:lnSpc>
              <a:buNone/>
            </a:pPr>
            <a:r>
              <a:rPr lang="en-US" sz="1650" b="1" dirty="0">
                <a:solidFill>
                  <a:srgbClr val="405449"/>
                </a:solidFill>
                <a:latin typeface="Fraunces Extra Bold" pitchFamily="34" charset="0"/>
                <a:ea typeface="Fraunces Extra Bold" pitchFamily="34" charset="-122"/>
                <a:cs typeface="Fraunces Extra Bold" pitchFamily="34" charset="-120"/>
              </a:rPr>
              <a:t>29%</a:t>
            </a:r>
            <a:endParaRPr lang="en-US" sz="1650" dirty="0"/>
          </a:p>
        </p:txBody>
      </p:sp>
      <p:sp>
        <p:nvSpPr>
          <p:cNvPr id="15" name="Text 13"/>
          <p:cNvSpPr/>
          <p:nvPr/>
        </p:nvSpPr>
        <p:spPr>
          <a:xfrm>
            <a:off x="3704749" y="3558897"/>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Maps / GPS</a:t>
            </a:r>
            <a:endParaRPr lang="en-US" sz="1650" dirty="0"/>
          </a:p>
        </p:txBody>
      </p:sp>
      <p:sp>
        <p:nvSpPr>
          <p:cNvPr id="16" name="Text 14"/>
          <p:cNvSpPr/>
          <p:nvPr/>
        </p:nvSpPr>
        <p:spPr>
          <a:xfrm>
            <a:off x="3704749" y="3965734"/>
            <a:ext cx="2731889" cy="499348"/>
          </a:xfrm>
          <a:prstGeom prst="rect">
            <a:avLst/>
          </a:prstGeom>
          <a:noFill/>
          <a:ln/>
        </p:spPr>
        <p:txBody>
          <a:bodyPr wrap="squar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₹8 — trip telemetry + fraud detection</a:t>
            </a:r>
            <a:endParaRPr lang="en-US" sz="1300" dirty="0"/>
          </a:p>
        </p:txBody>
      </p:sp>
      <p:sp>
        <p:nvSpPr>
          <p:cNvPr id="17" name="Shape 15"/>
          <p:cNvSpPr/>
          <p:nvPr/>
        </p:nvSpPr>
        <p:spPr>
          <a:xfrm>
            <a:off x="793790" y="4836081"/>
            <a:ext cx="1768793" cy="210860"/>
          </a:xfrm>
          <a:prstGeom prst="roundRect">
            <a:avLst>
              <a:gd name="adj" fmla="val 72007"/>
            </a:avLst>
          </a:prstGeom>
          <a:solidFill>
            <a:srgbClr val="E8F3E8"/>
          </a:solidFill>
          <a:ln/>
        </p:spPr>
      </p:sp>
      <p:sp>
        <p:nvSpPr>
          <p:cNvPr id="18" name="Shape 16"/>
          <p:cNvSpPr/>
          <p:nvPr/>
        </p:nvSpPr>
        <p:spPr>
          <a:xfrm>
            <a:off x="793790" y="4836081"/>
            <a:ext cx="247531" cy="210860"/>
          </a:xfrm>
          <a:prstGeom prst="roundRect">
            <a:avLst>
              <a:gd name="adj" fmla="val 72007"/>
            </a:avLst>
          </a:prstGeom>
          <a:solidFill>
            <a:srgbClr val="438951"/>
          </a:solidFill>
          <a:ln/>
        </p:spPr>
      </p:sp>
      <p:sp>
        <p:nvSpPr>
          <p:cNvPr id="19" name="Text 17"/>
          <p:cNvSpPr/>
          <p:nvPr/>
        </p:nvSpPr>
        <p:spPr>
          <a:xfrm>
            <a:off x="2689027" y="4836081"/>
            <a:ext cx="426720" cy="210860"/>
          </a:xfrm>
          <a:prstGeom prst="rect">
            <a:avLst/>
          </a:prstGeom>
          <a:noFill/>
          <a:ln/>
        </p:spPr>
        <p:txBody>
          <a:bodyPr wrap="none" lIns="0" tIns="0" rIns="0" bIns="0" rtlCol="0" anchor="t"/>
          <a:lstStyle/>
          <a:p>
            <a:pPr marL="0" indent="0" algn="l">
              <a:lnSpc>
                <a:spcPts val="1650"/>
              </a:lnSpc>
              <a:buNone/>
            </a:pPr>
            <a:r>
              <a:rPr lang="en-US" sz="1650" b="1" dirty="0">
                <a:solidFill>
                  <a:srgbClr val="405449"/>
                </a:solidFill>
                <a:latin typeface="Fraunces Extra Bold" pitchFamily="34" charset="0"/>
                <a:ea typeface="Fraunces Extra Bold" pitchFamily="34" charset="-122"/>
                <a:cs typeface="Fraunces Extra Bold" pitchFamily="34" charset="-120"/>
              </a:rPr>
              <a:t>14%</a:t>
            </a:r>
            <a:endParaRPr lang="en-US" sz="1650" dirty="0"/>
          </a:p>
        </p:txBody>
      </p:sp>
      <p:sp>
        <p:nvSpPr>
          <p:cNvPr id="20" name="Text 18"/>
          <p:cNvSpPr/>
          <p:nvPr/>
        </p:nvSpPr>
        <p:spPr>
          <a:xfrm>
            <a:off x="793790" y="5238750"/>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Weather APIs</a:t>
            </a:r>
            <a:endParaRPr lang="en-US" sz="1650" dirty="0"/>
          </a:p>
        </p:txBody>
      </p:sp>
      <p:sp>
        <p:nvSpPr>
          <p:cNvPr id="21" name="Text 19"/>
          <p:cNvSpPr/>
          <p:nvPr/>
        </p:nvSpPr>
        <p:spPr>
          <a:xfrm>
            <a:off x="793790" y="5645587"/>
            <a:ext cx="2731770"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₹4 — parametric trigger validation</a:t>
            </a:r>
            <a:endParaRPr lang="en-US" sz="1300" dirty="0"/>
          </a:p>
        </p:txBody>
      </p:sp>
      <p:sp>
        <p:nvSpPr>
          <p:cNvPr id="22" name="Shape 20"/>
          <p:cNvSpPr/>
          <p:nvPr/>
        </p:nvSpPr>
        <p:spPr>
          <a:xfrm>
            <a:off x="3704749" y="4836081"/>
            <a:ext cx="1774388" cy="210860"/>
          </a:xfrm>
          <a:prstGeom prst="roundRect">
            <a:avLst>
              <a:gd name="adj" fmla="val 72007"/>
            </a:avLst>
          </a:prstGeom>
          <a:solidFill>
            <a:srgbClr val="E8F3E8"/>
          </a:solidFill>
          <a:ln/>
        </p:spPr>
      </p:sp>
      <p:sp>
        <p:nvSpPr>
          <p:cNvPr id="23" name="Shape 21"/>
          <p:cNvSpPr/>
          <p:nvPr/>
        </p:nvSpPr>
        <p:spPr>
          <a:xfrm>
            <a:off x="3704749" y="4836081"/>
            <a:ext cx="212884" cy="210860"/>
          </a:xfrm>
          <a:prstGeom prst="roundRect">
            <a:avLst>
              <a:gd name="adj" fmla="val 72007"/>
            </a:avLst>
          </a:prstGeom>
          <a:solidFill>
            <a:srgbClr val="438951"/>
          </a:solidFill>
          <a:ln/>
        </p:spPr>
      </p:sp>
      <p:sp>
        <p:nvSpPr>
          <p:cNvPr id="24" name="Text 22"/>
          <p:cNvSpPr/>
          <p:nvPr/>
        </p:nvSpPr>
        <p:spPr>
          <a:xfrm>
            <a:off x="5605582" y="4836081"/>
            <a:ext cx="421243" cy="210860"/>
          </a:xfrm>
          <a:prstGeom prst="rect">
            <a:avLst/>
          </a:prstGeom>
          <a:noFill/>
          <a:ln/>
        </p:spPr>
        <p:txBody>
          <a:bodyPr wrap="none" lIns="0" tIns="0" rIns="0" bIns="0" rtlCol="0" anchor="t"/>
          <a:lstStyle/>
          <a:p>
            <a:pPr marL="0" indent="0" algn="l">
              <a:lnSpc>
                <a:spcPts val="1650"/>
              </a:lnSpc>
              <a:buNone/>
            </a:pPr>
            <a:r>
              <a:rPr lang="en-US" sz="1650" b="1" dirty="0">
                <a:solidFill>
                  <a:srgbClr val="405449"/>
                </a:solidFill>
                <a:latin typeface="Fraunces Extra Bold" pitchFamily="34" charset="0"/>
                <a:ea typeface="Fraunces Extra Bold" pitchFamily="34" charset="-122"/>
                <a:cs typeface="Fraunces Extra Bold" pitchFamily="34" charset="-120"/>
              </a:rPr>
              <a:t>12%</a:t>
            </a:r>
            <a:endParaRPr lang="en-US" sz="1650" dirty="0"/>
          </a:p>
        </p:txBody>
      </p:sp>
      <p:sp>
        <p:nvSpPr>
          <p:cNvPr id="25" name="Text 23"/>
          <p:cNvSpPr/>
          <p:nvPr/>
        </p:nvSpPr>
        <p:spPr>
          <a:xfrm>
            <a:off x="3704749" y="5238750"/>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Payments</a:t>
            </a:r>
            <a:endParaRPr lang="en-US" sz="1650" dirty="0"/>
          </a:p>
        </p:txBody>
      </p:sp>
      <p:sp>
        <p:nvSpPr>
          <p:cNvPr id="26" name="Text 24"/>
          <p:cNvSpPr/>
          <p:nvPr/>
        </p:nvSpPr>
        <p:spPr>
          <a:xfrm>
            <a:off x="3704749" y="5645587"/>
            <a:ext cx="2731889"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₹3.36 — UPI payout rails</a:t>
            </a:r>
            <a:endParaRPr lang="en-US" sz="1300" dirty="0"/>
          </a:p>
        </p:txBody>
      </p:sp>
      <p:sp>
        <p:nvSpPr>
          <p:cNvPr id="27" name="Shape 25"/>
          <p:cNvSpPr/>
          <p:nvPr/>
        </p:nvSpPr>
        <p:spPr>
          <a:xfrm>
            <a:off x="793790" y="6266259"/>
            <a:ext cx="1886426" cy="210860"/>
          </a:xfrm>
          <a:prstGeom prst="roundRect">
            <a:avLst>
              <a:gd name="adj" fmla="val 72007"/>
            </a:avLst>
          </a:prstGeom>
          <a:solidFill>
            <a:srgbClr val="E8F3E8"/>
          </a:solidFill>
          <a:ln/>
        </p:spPr>
      </p:sp>
      <p:sp>
        <p:nvSpPr>
          <p:cNvPr id="28" name="Shape 26"/>
          <p:cNvSpPr/>
          <p:nvPr/>
        </p:nvSpPr>
        <p:spPr>
          <a:xfrm>
            <a:off x="793790" y="6266259"/>
            <a:ext cx="94298" cy="210860"/>
          </a:xfrm>
          <a:prstGeom prst="roundRect">
            <a:avLst>
              <a:gd name="adj" fmla="val 161014"/>
            </a:avLst>
          </a:prstGeom>
          <a:solidFill>
            <a:srgbClr val="438951"/>
          </a:solidFill>
          <a:ln/>
        </p:spPr>
      </p:sp>
      <p:sp>
        <p:nvSpPr>
          <p:cNvPr id="29" name="Text 27"/>
          <p:cNvSpPr/>
          <p:nvPr/>
        </p:nvSpPr>
        <p:spPr>
          <a:xfrm>
            <a:off x="2806660" y="6266259"/>
            <a:ext cx="309086" cy="210860"/>
          </a:xfrm>
          <a:prstGeom prst="rect">
            <a:avLst/>
          </a:prstGeom>
          <a:noFill/>
          <a:ln/>
        </p:spPr>
        <p:txBody>
          <a:bodyPr wrap="none" lIns="0" tIns="0" rIns="0" bIns="0" rtlCol="0" anchor="t"/>
          <a:lstStyle/>
          <a:p>
            <a:pPr marL="0" indent="0" algn="l">
              <a:lnSpc>
                <a:spcPts val="1650"/>
              </a:lnSpc>
              <a:buNone/>
            </a:pPr>
            <a:r>
              <a:rPr lang="en-US" sz="1650" b="1" dirty="0">
                <a:solidFill>
                  <a:srgbClr val="405449"/>
                </a:solidFill>
                <a:latin typeface="Fraunces Extra Bold" pitchFamily="34" charset="0"/>
                <a:ea typeface="Fraunces Extra Bold" pitchFamily="34" charset="-122"/>
                <a:cs typeface="Fraunces Extra Bold" pitchFamily="34" charset="-120"/>
              </a:rPr>
              <a:t>5%</a:t>
            </a:r>
            <a:endParaRPr lang="en-US" sz="1650" dirty="0"/>
          </a:p>
        </p:txBody>
      </p:sp>
      <p:sp>
        <p:nvSpPr>
          <p:cNvPr id="30" name="Text 28"/>
          <p:cNvSpPr/>
          <p:nvPr/>
        </p:nvSpPr>
        <p:spPr>
          <a:xfrm>
            <a:off x="793790" y="6668929"/>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Biometric Auth</a:t>
            </a:r>
            <a:endParaRPr lang="en-US" sz="1650" dirty="0"/>
          </a:p>
        </p:txBody>
      </p:sp>
      <p:sp>
        <p:nvSpPr>
          <p:cNvPr id="31" name="Text 29"/>
          <p:cNvSpPr/>
          <p:nvPr/>
        </p:nvSpPr>
        <p:spPr>
          <a:xfrm>
            <a:off x="793790" y="7075765"/>
            <a:ext cx="2731770" cy="249674"/>
          </a:xfrm>
          <a:prstGeom prst="rect">
            <a:avLst/>
          </a:prstGeom>
          <a:noFill/>
          <a:ln/>
        </p:spPr>
        <p:txBody>
          <a:bodyPr wrap="none" lIns="0" tIns="0" rIns="0" bIns="0" rtlCol="0" anchor="t"/>
          <a:lstStyle/>
          <a:p>
            <a:pPr marL="0" indent="0" algn="l">
              <a:lnSpc>
                <a:spcPts val="1950"/>
              </a:lnSpc>
              <a:buNone/>
            </a:pPr>
            <a:r>
              <a:rPr lang="en-US" sz="1300" dirty="0">
                <a:solidFill>
                  <a:srgbClr val="405449"/>
                </a:solidFill>
                <a:latin typeface="Nobile" pitchFamily="34" charset="0"/>
                <a:ea typeface="Nobile" pitchFamily="34" charset="-122"/>
                <a:cs typeface="Nobile" pitchFamily="34" charset="-120"/>
              </a:rPr>
              <a:t>₹1.25 — liveness verification</a:t>
            </a:r>
            <a:endParaRPr lang="en-US" sz="1300" dirty="0"/>
          </a:p>
        </p:txBody>
      </p:sp>
      <p:sp>
        <p:nvSpPr>
          <p:cNvPr id="32" name="Shape 30"/>
          <p:cNvSpPr/>
          <p:nvPr/>
        </p:nvSpPr>
        <p:spPr>
          <a:xfrm>
            <a:off x="6734294" y="2503884"/>
            <a:ext cx="7231261" cy="4982766"/>
          </a:xfrm>
          <a:prstGeom prst="roundRect">
            <a:avLst>
              <a:gd name="adj" fmla="val 4875"/>
            </a:avLst>
          </a:prstGeom>
          <a:solidFill>
            <a:srgbClr val="4A644E"/>
          </a:solidFill>
          <a:ln/>
        </p:spPr>
      </p:sp>
      <p:sp>
        <p:nvSpPr>
          <p:cNvPr id="33" name="Text 31"/>
          <p:cNvSpPr/>
          <p:nvPr/>
        </p:nvSpPr>
        <p:spPr>
          <a:xfrm>
            <a:off x="6902887" y="2647236"/>
            <a:ext cx="3882271" cy="263485"/>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Fraunces Extra Bold" pitchFamily="34" charset="0"/>
                <a:ea typeface="Fraunces Extra Bold" pitchFamily="34" charset="-122"/>
                <a:cs typeface="Fraunces Extra Bold" pitchFamily="34" charset="-120"/>
              </a:rPr>
              <a:t>The Zero-CAC Distribution Flywheel</a:t>
            </a:r>
            <a:endParaRPr lang="en-US" sz="1650" dirty="0"/>
          </a:p>
        </p:txBody>
      </p:sp>
      <p:pic>
        <p:nvPicPr>
          <p:cNvPr id="3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02887" y="3071932"/>
            <a:ext cx="337304" cy="337304"/>
          </a:xfrm>
          <a:prstGeom prst="rect">
            <a:avLst/>
          </a:prstGeom>
        </p:spPr>
      </p:pic>
      <p:sp>
        <p:nvSpPr>
          <p:cNvPr id="35" name="Text 32"/>
          <p:cNvSpPr/>
          <p:nvPr/>
        </p:nvSpPr>
        <p:spPr>
          <a:xfrm>
            <a:off x="7419380" y="3129915"/>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Fraunces Extra Bold" pitchFamily="34" charset="0"/>
                <a:ea typeface="Fraunces Extra Bold" pitchFamily="34" charset="-122"/>
                <a:cs typeface="Fraunces Extra Bold" pitchFamily="34" charset="-120"/>
              </a:rPr>
              <a:t>B2B2C Onboarding</a:t>
            </a:r>
            <a:endParaRPr lang="en-US" sz="1650" dirty="0"/>
          </a:p>
        </p:txBody>
      </p:sp>
      <p:sp>
        <p:nvSpPr>
          <p:cNvPr id="36" name="Text 33"/>
          <p:cNvSpPr/>
          <p:nvPr/>
        </p:nvSpPr>
        <p:spPr>
          <a:xfrm>
            <a:off x="7419380" y="3536752"/>
            <a:ext cx="6377583" cy="499348"/>
          </a:xfrm>
          <a:prstGeom prst="rect">
            <a:avLst/>
          </a:prstGeom>
          <a:noFill/>
          <a:ln/>
        </p:spPr>
        <p:txBody>
          <a:bodyPr wrap="square" lIns="0" tIns="0" rIns="0" bIns="0" rtlCol="0" anchor="t"/>
          <a:lstStyle/>
          <a:p>
            <a:pPr marL="0" indent="0" algn="l">
              <a:lnSpc>
                <a:spcPts val="1950"/>
              </a:lnSpc>
              <a:buNone/>
            </a:pPr>
            <a:r>
              <a:rPr lang="en-US" sz="1300" dirty="0">
                <a:solidFill>
                  <a:srgbClr val="FFFFFF"/>
                </a:solidFill>
                <a:latin typeface="Nobile" pitchFamily="34" charset="0"/>
                <a:ea typeface="Nobile" pitchFamily="34" charset="-122"/>
                <a:cs typeface="Nobile" pitchFamily="34" charset="-120"/>
              </a:rPr>
              <a:t>Enterprise agreements with Zepto, Blinkit, and Swiggy Instamart deliver instant worker enrollment. </a:t>
            </a:r>
            <a:r>
              <a:rPr lang="en-US" sz="1300" b="1" dirty="0">
                <a:solidFill>
                  <a:srgbClr val="FFFFFF"/>
                </a:solidFill>
                <a:latin typeface="Nobile" pitchFamily="34" charset="0"/>
                <a:ea typeface="Nobile" pitchFamily="34" charset="-122"/>
                <a:cs typeface="Nobile" pitchFamily="34" charset="-120"/>
              </a:rPr>
              <a:t>CAC = ₹0.</a:t>
            </a:r>
            <a:endParaRPr lang="en-US" sz="1300" dirty="0"/>
          </a:p>
        </p:txBody>
      </p:sp>
      <p:pic>
        <p:nvPicPr>
          <p:cNvPr id="3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02887" y="4322802"/>
            <a:ext cx="337304" cy="337304"/>
          </a:xfrm>
          <a:prstGeom prst="rect">
            <a:avLst/>
          </a:prstGeom>
        </p:spPr>
      </p:pic>
      <p:sp>
        <p:nvSpPr>
          <p:cNvPr id="38" name="Text 34"/>
          <p:cNvSpPr/>
          <p:nvPr/>
        </p:nvSpPr>
        <p:spPr>
          <a:xfrm>
            <a:off x="7419380" y="4380786"/>
            <a:ext cx="2200275" cy="263485"/>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Fraunces Extra Bold" pitchFamily="34" charset="0"/>
                <a:ea typeface="Fraunces Extra Bold" pitchFamily="34" charset="-122"/>
                <a:cs typeface="Fraunces Extra Bold" pitchFamily="34" charset="-120"/>
              </a:rPr>
              <a:t>Infra = Fraud Engine</a:t>
            </a:r>
            <a:endParaRPr lang="en-US" sz="1650" dirty="0"/>
          </a:p>
        </p:txBody>
      </p:sp>
      <p:sp>
        <p:nvSpPr>
          <p:cNvPr id="39" name="Text 35"/>
          <p:cNvSpPr/>
          <p:nvPr/>
        </p:nvSpPr>
        <p:spPr>
          <a:xfrm>
            <a:off x="7419380" y="4787622"/>
            <a:ext cx="6377583" cy="499348"/>
          </a:xfrm>
          <a:prstGeom prst="rect">
            <a:avLst/>
          </a:prstGeom>
          <a:noFill/>
          <a:ln/>
        </p:spPr>
        <p:txBody>
          <a:bodyPr wrap="square" lIns="0" tIns="0" rIns="0" bIns="0" rtlCol="0" anchor="t"/>
          <a:lstStyle/>
          <a:p>
            <a:pPr marL="0" indent="0" algn="l">
              <a:lnSpc>
                <a:spcPts val="1950"/>
              </a:lnSpc>
              <a:buNone/>
            </a:pPr>
            <a:r>
              <a:rPr lang="en-US" sz="1300" dirty="0">
                <a:solidFill>
                  <a:srgbClr val="FFFFFF"/>
                </a:solidFill>
                <a:latin typeface="Nobile" pitchFamily="34" charset="0"/>
                <a:ea typeface="Nobile" pitchFamily="34" charset="-122"/>
                <a:cs typeface="Nobile" pitchFamily="34" charset="-120"/>
              </a:rPr>
              <a:t>Tech spend at 18% of premium offsets ~20% fraud leakage. Net contribution to insurer economics is strongly positive.</a:t>
            </a:r>
            <a:endParaRPr lang="en-US" sz="1300" dirty="0"/>
          </a:p>
        </p:txBody>
      </p:sp>
      <p:pic>
        <p:nvPicPr>
          <p:cNvPr id="4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02887" y="5573673"/>
            <a:ext cx="337304" cy="337304"/>
          </a:xfrm>
          <a:prstGeom prst="rect">
            <a:avLst/>
          </a:prstGeom>
        </p:spPr>
      </p:pic>
      <p:sp>
        <p:nvSpPr>
          <p:cNvPr id="41" name="Text 36"/>
          <p:cNvSpPr/>
          <p:nvPr/>
        </p:nvSpPr>
        <p:spPr>
          <a:xfrm>
            <a:off x="7419380" y="5631656"/>
            <a:ext cx="2801541" cy="263485"/>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Fraunces Extra Bold" pitchFamily="34" charset="0"/>
                <a:ea typeface="Fraunces Extra Bold" pitchFamily="34" charset="-122"/>
                <a:cs typeface="Fraunces Extra Bold" pitchFamily="34" charset="-120"/>
              </a:rPr>
              <a:t>Volume Margin Expansion</a:t>
            </a:r>
            <a:endParaRPr lang="en-US" sz="1650" dirty="0"/>
          </a:p>
        </p:txBody>
      </p:sp>
      <p:sp>
        <p:nvSpPr>
          <p:cNvPr id="42" name="Text 37"/>
          <p:cNvSpPr/>
          <p:nvPr/>
        </p:nvSpPr>
        <p:spPr>
          <a:xfrm>
            <a:off x="7419380" y="6038493"/>
            <a:ext cx="6377583" cy="499348"/>
          </a:xfrm>
          <a:prstGeom prst="rect">
            <a:avLst/>
          </a:prstGeom>
          <a:noFill/>
          <a:ln/>
        </p:spPr>
        <p:txBody>
          <a:bodyPr wrap="square" lIns="0" tIns="0" rIns="0" bIns="0" rtlCol="0" anchor="t"/>
          <a:lstStyle/>
          <a:p>
            <a:pPr marL="0" indent="0" algn="l">
              <a:lnSpc>
                <a:spcPts val="1950"/>
              </a:lnSpc>
              <a:buNone/>
            </a:pPr>
            <a:r>
              <a:rPr lang="en-US" sz="1300" dirty="0">
                <a:solidFill>
                  <a:srgbClr val="FFFFFF"/>
                </a:solidFill>
                <a:latin typeface="Nobile" pitchFamily="34" charset="0"/>
                <a:ea typeface="Nobile" pitchFamily="34" charset="-122"/>
                <a:cs typeface="Nobile" pitchFamily="34" charset="-120"/>
              </a:rPr>
              <a:t>Fixed infra costs amortize rapidly. Margin scales from 31% today to </a:t>
            </a:r>
            <a:r>
              <a:rPr lang="en-US" sz="1300" b="1" dirty="0">
                <a:solidFill>
                  <a:srgbClr val="FFFFFF"/>
                </a:solidFill>
                <a:latin typeface="Nobile" pitchFamily="34" charset="0"/>
                <a:ea typeface="Nobile" pitchFamily="34" charset="-122"/>
                <a:cs typeface="Nobile" pitchFamily="34" charset="-120"/>
              </a:rPr>
              <a:t>60–65%+</a:t>
            </a:r>
            <a:r>
              <a:rPr lang="en-US" sz="1300" dirty="0">
                <a:solidFill>
                  <a:srgbClr val="FFFFFF"/>
                </a:solidFill>
                <a:latin typeface="Nobile" pitchFamily="34" charset="0"/>
                <a:ea typeface="Nobile" pitchFamily="34" charset="-122"/>
                <a:cs typeface="Nobile" pitchFamily="34" charset="-120"/>
              </a:rPr>
              <a:t> at 100K enrolled workers.</a:t>
            </a:r>
            <a:endParaRPr lang="en-US" sz="1300" dirty="0"/>
          </a:p>
        </p:txBody>
      </p:sp>
      <p:sp>
        <p:nvSpPr>
          <p:cNvPr id="43" name="Rectangle 42">
            <a:extLst>
              <a:ext uri="{FF2B5EF4-FFF2-40B4-BE49-F238E27FC236}">
                <a16:creationId xmlns:a16="http://schemas.microsoft.com/office/drawing/2014/main" id="{7AC0290A-AC55-287A-6D6B-8FC32DE61532}"/>
              </a:ext>
            </a:extLst>
          </p:cNvPr>
          <p:cNvSpPr/>
          <p:nvPr/>
        </p:nvSpPr>
        <p:spPr>
          <a:xfrm>
            <a:off x="12756995" y="7785572"/>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793790" y="851773"/>
            <a:ext cx="1892260" cy="255984"/>
          </a:xfrm>
          <a:prstGeom prst="roundRect">
            <a:avLst>
              <a:gd name="adj" fmla="val 41868"/>
            </a:avLst>
          </a:prstGeom>
          <a:solidFill>
            <a:srgbClr val="DDEEE0"/>
          </a:solidFill>
          <a:ln/>
        </p:spPr>
      </p:sp>
      <p:sp>
        <p:nvSpPr>
          <p:cNvPr id="3" name="Text 1"/>
          <p:cNvSpPr/>
          <p:nvPr/>
        </p:nvSpPr>
        <p:spPr>
          <a:xfrm>
            <a:off x="883087" y="896422"/>
            <a:ext cx="1713667" cy="166688"/>
          </a:xfrm>
          <a:prstGeom prst="rect">
            <a:avLst/>
          </a:prstGeom>
          <a:noFill/>
          <a:ln/>
        </p:spPr>
        <p:txBody>
          <a:bodyPr wrap="none" lIns="0" tIns="0" rIns="0" bIns="0" rtlCol="0" anchor="t"/>
          <a:lstStyle/>
          <a:p>
            <a:pPr marL="0" indent="0" algn="l">
              <a:lnSpc>
                <a:spcPts val="1300"/>
              </a:lnSpc>
              <a:buNone/>
            </a:pPr>
            <a:r>
              <a:rPr lang="en-US" sz="900" dirty="0">
                <a:solidFill>
                  <a:srgbClr val="405449"/>
                </a:solidFill>
                <a:latin typeface="Nobile" pitchFamily="34" charset="0"/>
                <a:ea typeface="Nobile" pitchFamily="34" charset="-122"/>
                <a:cs typeface="Nobile" pitchFamily="34" charset="-120"/>
              </a:rPr>
              <a:t>STRUCTURAL PROFITABILITY</a:t>
            </a:r>
            <a:endParaRPr lang="en-US" sz="900" dirty="0"/>
          </a:p>
        </p:txBody>
      </p:sp>
      <p:sp>
        <p:nvSpPr>
          <p:cNvPr id="4" name="Text 2"/>
          <p:cNvSpPr/>
          <p:nvPr/>
        </p:nvSpPr>
        <p:spPr>
          <a:xfrm>
            <a:off x="793790" y="1152406"/>
            <a:ext cx="8344614" cy="465177"/>
          </a:xfrm>
          <a:prstGeom prst="rect">
            <a:avLst/>
          </a:prstGeom>
          <a:noFill/>
          <a:ln/>
        </p:spPr>
        <p:txBody>
          <a:bodyPr wrap="none" lIns="0" tIns="0" rIns="0" bIns="0" rtlCol="0" anchor="t"/>
          <a:lstStyle/>
          <a:p>
            <a:pPr marL="0" indent="0" algn="l">
              <a:lnSpc>
                <a:spcPts val="3650"/>
              </a:lnSpc>
              <a:buNone/>
            </a:pPr>
            <a:r>
              <a:rPr lang="en-US" sz="2900" b="1" dirty="0">
                <a:solidFill>
                  <a:srgbClr val="3B4540"/>
                </a:solidFill>
                <a:latin typeface="Fraunces Extra Bold" pitchFamily="34" charset="0"/>
                <a:ea typeface="Fraunces Extra Bold" pitchFamily="34" charset="-122"/>
                <a:cs typeface="Fraunces Extra Bold" pitchFamily="34" charset="-120"/>
              </a:rPr>
              <a:t>Engineering Structural Profitability at Scale</a:t>
            </a:r>
            <a:endParaRPr lang="en-US" sz="2900" dirty="0"/>
          </a:p>
        </p:txBody>
      </p:sp>
      <p:sp>
        <p:nvSpPr>
          <p:cNvPr id="5" name="Text 3"/>
          <p:cNvSpPr/>
          <p:nvPr/>
        </p:nvSpPr>
        <p:spPr>
          <a:xfrm>
            <a:off x="793790" y="1784985"/>
            <a:ext cx="13042821" cy="625078"/>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A </a:t>
            </a:r>
            <a:r>
              <a:rPr lang="en-US" sz="1150" b="1" dirty="0">
                <a:solidFill>
                  <a:srgbClr val="405449"/>
                </a:solidFill>
                <a:latin typeface="Nobile" pitchFamily="34" charset="0"/>
                <a:ea typeface="Nobile" pitchFamily="34" charset="-122"/>
                <a:cs typeface="Nobile" pitchFamily="34" charset="-120"/>
              </a:rPr>
              <a:t>37% Loss Ratio</a:t>
            </a:r>
            <a:r>
              <a:rPr lang="en-US" sz="1150" dirty="0">
                <a:solidFill>
                  <a:srgbClr val="405449"/>
                </a:solidFill>
                <a:latin typeface="Nobile" pitchFamily="34" charset="0"/>
                <a:ea typeface="Nobile" pitchFamily="34" charset="-122"/>
                <a:cs typeface="Nobile" pitchFamily="34" charset="-120"/>
              </a:rPr>
              <a:t> achieved through engineering — not underwriting luck. Traditional micro-insurance bleeds capital through operational overhead and syndicate abuse. Hustlr eliminates this entirely via parametric triggers, Isolation Forest ML fraud detection (recapturing </a:t>
            </a:r>
            <a:r>
              <a:rPr lang="en-US" sz="1150" b="1" dirty="0">
                <a:solidFill>
                  <a:srgbClr val="405449"/>
                </a:solidFill>
                <a:latin typeface="Nobile" pitchFamily="34" charset="0"/>
                <a:ea typeface="Nobile" pitchFamily="34" charset="-122"/>
                <a:cs typeface="Nobile" pitchFamily="34" charset="-120"/>
              </a:rPr>
              <a:t>8.8% of gross premium</a:t>
            </a:r>
            <a:r>
              <a:rPr lang="en-US" sz="1150" dirty="0">
                <a:solidFill>
                  <a:srgbClr val="405449"/>
                </a:solidFill>
                <a:latin typeface="Nobile" pitchFamily="34" charset="0"/>
                <a:ea typeface="Nobile" pitchFamily="34" charset="-122"/>
                <a:cs typeface="Nobile" pitchFamily="34" charset="-120"/>
              </a:rPr>
              <a:t> from GPS spoofing), and 100% Straight-Through Processing via Guidewire ClaimCenter.</a:t>
            </a:r>
            <a:endParaRPr lang="en-US" sz="1150" dirty="0"/>
          </a:p>
        </p:txBody>
      </p:sp>
      <p:sp>
        <p:nvSpPr>
          <p:cNvPr id="6" name="Text 4"/>
          <p:cNvSpPr/>
          <p:nvPr/>
        </p:nvSpPr>
        <p:spPr>
          <a:xfrm>
            <a:off x="793790" y="2647117"/>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Risk Architecture</a:t>
            </a:r>
            <a:endParaRPr lang="en-US" sz="1450" dirty="0"/>
          </a:p>
        </p:txBody>
      </p:sp>
      <p:sp>
        <p:nvSpPr>
          <p:cNvPr id="7" name="Shape 5"/>
          <p:cNvSpPr/>
          <p:nvPr/>
        </p:nvSpPr>
        <p:spPr>
          <a:xfrm>
            <a:off x="793790" y="3005138"/>
            <a:ext cx="3114080" cy="1498163"/>
          </a:xfrm>
          <a:prstGeom prst="roundRect">
            <a:avLst>
              <a:gd name="adj" fmla="val 8942"/>
            </a:avLst>
          </a:prstGeom>
          <a:solidFill>
            <a:srgbClr val="FAFFFA"/>
          </a:solidFill>
          <a:ln w="15240">
            <a:solidFill>
              <a:srgbClr val="CED9CE"/>
            </a:solidFill>
            <a:prstDash val="solid"/>
          </a:ln>
        </p:spPr>
      </p:sp>
      <p:sp>
        <p:nvSpPr>
          <p:cNvPr id="8" name="Shape 6"/>
          <p:cNvSpPr/>
          <p:nvPr/>
        </p:nvSpPr>
        <p:spPr>
          <a:xfrm>
            <a:off x="809030" y="3020378"/>
            <a:ext cx="3083600" cy="446484"/>
          </a:xfrm>
          <a:prstGeom prst="roundRect">
            <a:avLst>
              <a:gd name="adj" fmla="val 25910"/>
            </a:avLst>
          </a:prstGeom>
          <a:solidFill>
            <a:srgbClr val="E8F3E8"/>
          </a:solidFill>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39208" y="3131939"/>
            <a:ext cx="223242" cy="223242"/>
          </a:xfrm>
          <a:prstGeom prst="rect">
            <a:avLst/>
          </a:prstGeom>
        </p:spPr>
      </p:pic>
      <p:sp>
        <p:nvSpPr>
          <p:cNvPr id="10" name="Text 7"/>
          <p:cNvSpPr/>
          <p:nvPr/>
        </p:nvSpPr>
        <p:spPr>
          <a:xfrm>
            <a:off x="957858" y="3578423"/>
            <a:ext cx="1906072"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Catastrophic Events</a:t>
            </a:r>
            <a:endParaRPr lang="en-US" sz="1450" dirty="0"/>
          </a:p>
        </p:txBody>
      </p:sp>
      <p:sp>
        <p:nvSpPr>
          <p:cNvPr id="11" name="Text 8"/>
          <p:cNvSpPr/>
          <p:nvPr/>
        </p:nvSpPr>
        <p:spPr>
          <a:xfrm>
            <a:off x="957858" y="3922514"/>
            <a:ext cx="2785943"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Reinsurance treaty + dedicated reserves absorb tail risk</a:t>
            </a:r>
            <a:endParaRPr lang="en-US" sz="1150" dirty="0"/>
          </a:p>
        </p:txBody>
      </p:sp>
      <p:sp>
        <p:nvSpPr>
          <p:cNvPr id="12" name="Shape 9"/>
          <p:cNvSpPr/>
          <p:nvPr/>
        </p:nvSpPr>
        <p:spPr>
          <a:xfrm>
            <a:off x="4019431" y="3005138"/>
            <a:ext cx="3114199" cy="1498163"/>
          </a:xfrm>
          <a:prstGeom prst="roundRect">
            <a:avLst>
              <a:gd name="adj" fmla="val 8942"/>
            </a:avLst>
          </a:prstGeom>
          <a:solidFill>
            <a:srgbClr val="FAFFFA"/>
          </a:solidFill>
          <a:ln w="15240">
            <a:solidFill>
              <a:srgbClr val="CED9CE"/>
            </a:solidFill>
            <a:prstDash val="solid"/>
          </a:ln>
        </p:spPr>
      </p:sp>
      <p:sp>
        <p:nvSpPr>
          <p:cNvPr id="13" name="Shape 10"/>
          <p:cNvSpPr/>
          <p:nvPr/>
        </p:nvSpPr>
        <p:spPr>
          <a:xfrm>
            <a:off x="4034671" y="3020378"/>
            <a:ext cx="3083719" cy="446484"/>
          </a:xfrm>
          <a:prstGeom prst="roundRect">
            <a:avLst>
              <a:gd name="adj" fmla="val 25910"/>
            </a:avLst>
          </a:prstGeom>
          <a:solidFill>
            <a:srgbClr val="E8F3E8"/>
          </a:solidFill>
          <a:ln/>
        </p:spPr>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64850" y="3131939"/>
            <a:ext cx="223242" cy="223242"/>
          </a:xfrm>
          <a:prstGeom prst="rect">
            <a:avLst/>
          </a:prstGeom>
        </p:spPr>
      </p:pic>
      <p:sp>
        <p:nvSpPr>
          <p:cNvPr id="15" name="Text 11"/>
          <p:cNvSpPr/>
          <p:nvPr/>
        </p:nvSpPr>
        <p:spPr>
          <a:xfrm>
            <a:off x="4183499" y="3578423"/>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API Failure</a:t>
            </a:r>
            <a:endParaRPr lang="en-US" sz="1450" dirty="0"/>
          </a:p>
        </p:txBody>
      </p:sp>
      <p:sp>
        <p:nvSpPr>
          <p:cNvPr id="16" name="Text 12"/>
          <p:cNvSpPr/>
          <p:nvPr/>
        </p:nvSpPr>
        <p:spPr>
          <a:xfrm>
            <a:off x="4183499" y="3922514"/>
            <a:ext cx="2786063"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Fallback telemetry layer ensures zero claims processing downtime</a:t>
            </a:r>
            <a:endParaRPr lang="en-US" sz="1150" dirty="0"/>
          </a:p>
        </p:txBody>
      </p:sp>
      <p:sp>
        <p:nvSpPr>
          <p:cNvPr id="17" name="Shape 13"/>
          <p:cNvSpPr/>
          <p:nvPr/>
        </p:nvSpPr>
        <p:spPr>
          <a:xfrm>
            <a:off x="793790" y="4614863"/>
            <a:ext cx="3114080" cy="1498163"/>
          </a:xfrm>
          <a:prstGeom prst="roundRect">
            <a:avLst>
              <a:gd name="adj" fmla="val 8942"/>
            </a:avLst>
          </a:prstGeom>
          <a:solidFill>
            <a:srgbClr val="FAFFFA"/>
          </a:solidFill>
          <a:ln w="15240">
            <a:solidFill>
              <a:srgbClr val="CED9CE"/>
            </a:solidFill>
            <a:prstDash val="solid"/>
          </a:ln>
        </p:spPr>
      </p:sp>
      <p:sp>
        <p:nvSpPr>
          <p:cNvPr id="18" name="Shape 14"/>
          <p:cNvSpPr/>
          <p:nvPr/>
        </p:nvSpPr>
        <p:spPr>
          <a:xfrm>
            <a:off x="809030" y="4630103"/>
            <a:ext cx="3083600" cy="446484"/>
          </a:xfrm>
          <a:prstGeom prst="roundRect">
            <a:avLst>
              <a:gd name="adj" fmla="val 25910"/>
            </a:avLst>
          </a:prstGeom>
          <a:solidFill>
            <a:srgbClr val="E8F3E8"/>
          </a:solidFill>
          <a:ln/>
        </p:spPr>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9208" y="4741664"/>
            <a:ext cx="223242" cy="223242"/>
          </a:xfrm>
          <a:prstGeom prst="rect">
            <a:avLst/>
          </a:prstGeom>
        </p:spPr>
      </p:pic>
      <p:sp>
        <p:nvSpPr>
          <p:cNvPr id="20" name="Text 15"/>
          <p:cNvSpPr/>
          <p:nvPr/>
        </p:nvSpPr>
        <p:spPr>
          <a:xfrm>
            <a:off x="957858" y="518814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Fraud</a:t>
            </a:r>
            <a:endParaRPr lang="en-US" sz="1450" dirty="0"/>
          </a:p>
        </p:txBody>
      </p:sp>
      <p:sp>
        <p:nvSpPr>
          <p:cNvPr id="21" name="Text 16"/>
          <p:cNvSpPr/>
          <p:nvPr/>
        </p:nvSpPr>
        <p:spPr>
          <a:xfrm>
            <a:off x="957858" y="5532239"/>
            <a:ext cx="2785943"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ML + behavioral analytics + biometric liveness — three independent layers</a:t>
            </a:r>
            <a:endParaRPr lang="en-US" sz="1150" dirty="0"/>
          </a:p>
        </p:txBody>
      </p:sp>
      <p:sp>
        <p:nvSpPr>
          <p:cNvPr id="22" name="Shape 17"/>
          <p:cNvSpPr/>
          <p:nvPr/>
        </p:nvSpPr>
        <p:spPr>
          <a:xfrm>
            <a:off x="4019431" y="4614863"/>
            <a:ext cx="3114199" cy="1498163"/>
          </a:xfrm>
          <a:prstGeom prst="roundRect">
            <a:avLst>
              <a:gd name="adj" fmla="val 8942"/>
            </a:avLst>
          </a:prstGeom>
          <a:solidFill>
            <a:srgbClr val="FAFFFA"/>
          </a:solidFill>
          <a:ln w="15240">
            <a:solidFill>
              <a:srgbClr val="CED9CE"/>
            </a:solidFill>
            <a:prstDash val="solid"/>
          </a:ln>
        </p:spPr>
      </p:sp>
      <p:sp>
        <p:nvSpPr>
          <p:cNvPr id="23" name="Shape 18"/>
          <p:cNvSpPr/>
          <p:nvPr/>
        </p:nvSpPr>
        <p:spPr>
          <a:xfrm>
            <a:off x="4034671" y="4630103"/>
            <a:ext cx="3083719" cy="446484"/>
          </a:xfrm>
          <a:prstGeom prst="roundRect">
            <a:avLst>
              <a:gd name="adj" fmla="val 25910"/>
            </a:avLst>
          </a:prstGeom>
          <a:solidFill>
            <a:srgbClr val="E8F3E8"/>
          </a:solidFill>
          <a:ln/>
        </p:spPr>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64850" y="4741664"/>
            <a:ext cx="223242" cy="223242"/>
          </a:xfrm>
          <a:prstGeom prst="rect">
            <a:avLst/>
          </a:prstGeom>
        </p:spPr>
      </p:pic>
      <p:sp>
        <p:nvSpPr>
          <p:cNvPr id="25" name="Text 19"/>
          <p:cNvSpPr/>
          <p:nvPr/>
        </p:nvSpPr>
        <p:spPr>
          <a:xfrm>
            <a:off x="4183499" y="518814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Adverse Selection</a:t>
            </a:r>
            <a:endParaRPr lang="en-US" sz="1450" dirty="0"/>
          </a:p>
        </p:txBody>
      </p:sp>
      <p:sp>
        <p:nvSpPr>
          <p:cNvPr id="26" name="Text 20"/>
          <p:cNvSpPr/>
          <p:nvPr/>
        </p:nvSpPr>
        <p:spPr>
          <a:xfrm>
            <a:off x="4183499" y="5532239"/>
            <a:ext cx="2786063"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Zone-based risk pools isolate exposure by delivery corridor density</a:t>
            </a:r>
            <a:endParaRPr lang="en-US" sz="1150" dirty="0"/>
          </a:p>
        </p:txBody>
      </p:sp>
      <p:sp>
        <p:nvSpPr>
          <p:cNvPr id="27" name="Text 21"/>
          <p:cNvSpPr/>
          <p:nvPr/>
        </p:nvSpPr>
        <p:spPr>
          <a:xfrm>
            <a:off x="7504390" y="2647117"/>
            <a:ext cx="2677954" cy="232529"/>
          </a:xfrm>
          <a:prstGeom prst="rect">
            <a:avLst/>
          </a:prstGeom>
          <a:noFill/>
          <a:ln/>
        </p:spPr>
        <p:txBody>
          <a:bodyPr wrap="none" lIns="0" tIns="0" rIns="0" bIns="0" rtlCol="0" anchor="t"/>
          <a:lstStyle/>
          <a:p>
            <a:pPr marL="0" indent="0" algn="l">
              <a:lnSpc>
                <a:spcPts val="1800"/>
              </a:lnSpc>
              <a:buNone/>
            </a:pPr>
            <a:r>
              <a:rPr lang="en-US" sz="1450" b="1" dirty="0">
                <a:solidFill>
                  <a:srgbClr val="3B4540"/>
                </a:solidFill>
                <a:latin typeface="Fraunces Extra Bold" pitchFamily="34" charset="0"/>
                <a:ea typeface="Fraunces Extra Bold" pitchFamily="34" charset="-122"/>
                <a:cs typeface="Fraunces Extra Bold" pitchFamily="34" charset="-120"/>
              </a:rPr>
              <a:t>Guidewire Integration Stack</a:t>
            </a:r>
            <a:endParaRPr lang="en-US" sz="1450" dirty="0"/>
          </a:p>
        </p:txBody>
      </p:sp>
      <p:pic>
        <p:nvPicPr>
          <p:cNvPr id="28" name="Image 4" descr="preencoded.png"/>
          <p:cNvPicPr>
            <a:picLocks noChangeAspect="1"/>
          </p:cNvPicPr>
          <p:nvPr/>
        </p:nvPicPr>
        <p:blipFill>
          <a:blip r:embed="rId7"/>
          <a:stretch>
            <a:fillRect/>
          </a:stretch>
        </p:blipFill>
        <p:spPr>
          <a:xfrm>
            <a:off x="7504390" y="3005138"/>
            <a:ext cx="744260" cy="893088"/>
          </a:xfrm>
          <a:prstGeom prst="rect">
            <a:avLst/>
          </a:prstGeom>
        </p:spPr>
      </p:pic>
      <p:sp>
        <p:nvSpPr>
          <p:cNvPr id="29" name="Text 22"/>
          <p:cNvSpPr/>
          <p:nvPr/>
        </p:nvSpPr>
        <p:spPr>
          <a:xfrm>
            <a:off x="8360212" y="3153966"/>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PolicyCenter</a:t>
            </a:r>
            <a:endParaRPr lang="en-US" sz="1450" dirty="0"/>
          </a:p>
        </p:txBody>
      </p:sp>
      <p:sp>
        <p:nvSpPr>
          <p:cNvPr id="30" name="Text 23"/>
          <p:cNvSpPr/>
          <p:nvPr/>
        </p:nvSpPr>
        <p:spPr>
          <a:xfrm>
            <a:off x="8360212" y="3498056"/>
            <a:ext cx="5484019"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Full policy lifecycle — enrollment, renewals, modifications via API</a:t>
            </a:r>
            <a:endParaRPr lang="en-US" sz="1150" dirty="0"/>
          </a:p>
        </p:txBody>
      </p:sp>
      <p:pic>
        <p:nvPicPr>
          <p:cNvPr id="31" name="Image 5" descr="preencoded.png"/>
          <p:cNvPicPr>
            <a:picLocks noChangeAspect="1"/>
          </p:cNvPicPr>
          <p:nvPr/>
        </p:nvPicPr>
        <p:blipFill>
          <a:blip r:embed="rId8"/>
          <a:stretch>
            <a:fillRect/>
          </a:stretch>
        </p:blipFill>
        <p:spPr>
          <a:xfrm>
            <a:off x="7504390" y="3898225"/>
            <a:ext cx="744260" cy="893088"/>
          </a:xfrm>
          <a:prstGeom prst="rect">
            <a:avLst/>
          </a:prstGeom>
        </p:spPr>
      </p:pic>
      <p:sp>
        <p:nvSpPr>
          <p:cNvPr id="32" name="Text 24"/>
          <p:cNvSpPr/>
          <p:nvPr/>
        </p:nvSpPr>
        <p:spPr>
          <a:xfrm>
            <a:off x="8360212" y="4047053"/>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ClaimCenter</a:t>
            </a:r>
            <a:endParaRPr lang="en-US" sz="1450" dirty="0"/>
          </a:p>
        </p:txBody>
      </p:sp>
      <p:sp>
        <p:nvSpPr>
          <p:cNvPr id="33" name="Text 25"/>
          <p:cNvSpPr/>
          <p:nvPr/>
        </p:nvSpPr>
        <p:spPr>
          <a:xfrm>
            <a:off x="8360212" y="4391144"/>
            <a:ext cx="5484019"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100% STP automated adjudication — </a:t>
            </a:r>
            <a:r>
              <a:rPr lang="en-US" sz="1150" b="1" dirty="0">
                <a:solidFill>
                  <a:srgbClr val="405449"/>
                </a:solidFill>
                <a:latin typeface="Nobile" pitchFamily="34" charset="0"/>
                <a:ea typeface="Nobile" pitchFamily="34" charset="-122"/>
                <a:cs typeface="Nobile" pitchFamily="34" charset="-120"/>
              </a:rPr>
              <a:t>₹0 claims cost</a:t>
            </a:r>
            <a:r>
              <a:rPr lang="en-US" sz="1150" dirty="0">
                <a:solidFill>
                  <a:srgbClr val="405449"/>
                </a:solidFill>
                <a:latin typeface="Nobile" pitchFamily="34" charset="0"/>
                <a:ea typeface="Nobile" pitchFamily="34" charset="-122"/>
                <a:cs typeface="Nobile" pitchFamily="34" charset="-120"/>
              </a:rPr>
              <a:t> per approved claim</a:t>
            </a:r>
            <a:endParaRPr lang="en-US" sz="1150" dirty="0"/>
          </a:p>
        </p:txBody>
      </p:sp>
      <p:pic>
        <p:nvPicPr>
          <p:cNvPr id="34" name="Image 6" descr="preencoded.png"/>
          <p:cNvPicPr>
            <a:picLocks noChangeAspect="1"/>
          </p:cNvPicPr>
          <p:nvPr/>
        </p:nvPicPr>
        <p:blipFill>
          <a:blip r:embed="rId9"/>
          <a:stretch>
            <a:fillRect/>
          </a:stretch>
        </p:blipFill>
        <p:spPr>
          <a:xfrm>
            <a:off x="7504390" y="4791313"/>
            <a:ext cx="744260" cy="893088"/>
          </a:xfrm>
          <a:prstGeom prst="rect">
            <a:avLst/>
          </a:prstGeom>
        </p:spPr>
      </p:pic>
      <p:sp>
        <p:nvSpPr>
          <p:cNvPr id="35" name="Text 26"/>
          <p:cNvSpPr/>
          <p:nvPr/>
        </p:nvSpPr>
        <p:spPr>
          <a:xfrm>
            <a:off x="8360212" y="4940141"/>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BillingCenter</a:t>
            </a:r>
            <a:endParaRPr lang="en-US" sz="1450" dirty="0"/>
          </a:p>
        </p:txBody>
      </p:sp>
      <p:sp>
        <p:nvSpPr>
          <p:cNvPr id="36" name="Text 27"/>
          <p:cNvSpPr/>
          <p:nvPr/>
        </p:nvSpPr>
        <p:spPr>
          <a:xfrm>
            <a:off x="8360212" y="5284232"/>
            <a:ext cx="5484019"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Instant UPI payouts — sub-24hr settlement to worker wallets</a:t>
            </a:r>
            <a:endParaRPr lang="en-US" sz="1150" dirty="0"/>
          </a:p>
        </p:txBody>
      </p:sp>
      <p:sp>
        <p:nvSpPr>
          <p:cNvPr id="37" name="Shape 28"/>
          <p:cNvSpPr/>
          <p:nvPr/>
        </p:nvSpPr>
        <p:spPr>
          <a:xfrm>
            <a:off x="793790" y="6364010"/>
            <a:ext cx="13042821" cy="1013817"/>
          </a:xfrm>
          <a:prstGeom prst="roundRect">
            <a:avLst>
              <a:gd name="adj" fmla="val 13214"/>
            </a:avLst>
          </a:prstGeom>
          <a:solidFill>
            <a:srgbClr val="E8F3E8"/>
          </a:solidFill>
          <a:ln/>
        </p:spPr>
      </p:sp>
      <p:sp>
        <p:nvSpPr>
          <p:cNvPr id="38" name="Shape 29"/>
          <p:cNvSpPr/>
          <p:nvPr/>
        </p:nvSpPr>
        <p:spPr>
          <a:xfrm>
            <a:off x="793790" y="6364010"/>
            <a:ext cx="4347567" cy="1013817"/>
          </a:xfrm>
          <a:prstGeom prst="roundRect">
            <a:avLst>
              <a:gd name="adj" fmla="val 13214"/>
            </a:avLst>
          </a:prstGeom>
          <a:solidFill>
            <a:srgbClr val="E8F3E8"/>
          </a:solidFill>
          <a:ln/>
        </p:spPr>
      </p:sp>
      <p:sp>
        <p:nvSpPr>
          <p:cNvPr id="39" name="Text 30"/>
          <p:cNvSpPr/>
          <p:nvPr/>
        </p:nvSpPr>
        <p:spPr>
          <a:xfrm>
            <a:off x="942618" y="651283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Near-Term</a:t>
            </a:r>
            <a:endParaRPr lang="en-US" sz="1450" dirty="0"/>
          </a:p>
        </p:txBody>
      </p:sp>
      <p:sp>
        <p:nvSpPr>
          <p:cNvPr id="40" name="Text 31"/>
          <p:cNvSpPr/>
          <p:nvPr/>
        </p:nvSpPr>
        <p:spPr>
          <a:xfrm>
            <a:off x="942618" y="6812280"/>
            <a:ext cx="4049911" cy="208359"/>
          </a:xfrm>
          <a:prstGeom prst="rect">
            <a:avLst/>
          </a:prstGeom>
          <a:noFill/>
          <a:ln/>
        </p:spPr>
        <p:txBody>
          <a:bodyPr wrap="non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Liveness API cost: ₹1.25 → </a:t>
            </a:r>
            <a:r>
              <a:rPr lang="en-US" sz="1150" b="1" dirty="0">
                <a:solidFill>
                  <a:srgbClr val="405449"/>
                </a:solidFill>
                <a:latin typeface="Nobile" pitchFamily="34" charset="0"/>
                <a:ea typeface="Nobile" pitchFamily="34" charset="-122"/>
                <a:cs typeface="Nobile" pitchFamily="34" charset="-120"/>
              </a:rPr>
              <a:t>₹0.40</a:t>
            </a:r>
            <a:r>
              <a:rPr lang="en-US" sz="1150" dirty="0">
                <a:solidFill>
                  <a:srgbClr val="405449"/>
                </a:solidFill>
                <a:latin typeface="Nobile" pitchFamily="34" charset="0"/>
                <a:ea typeface="Nobile" pitchFamily="34" charset="-122"/>
                <a:cs typeface="Nobile" pitchFamily="34" charset="-120"/>
              </a:rPr>
              <a:t> at volume contracts</a:t>
            </a:r>
            <a:endParaRPr lang="en-US" sz="1150" dirty="0"/>
          </a:p>
        </p:txBody>
      </p:sp>
      <p:sp>
        <p:nvSpPr>
          <p:cNvPr id="41" name="Shape 32"/>
          <p:cNvSpPr/>
          <p:nvPr/>
        </p:nvSpPr>
        <p:spPr>
          <a:xfrm>
            <a:off x="5141357" y="6364010"/>
            <a:ext cx="4347567" cy="1013817"/>
          </a:xfrm>
          <a:prstGeom prst="rect">
            <a:avLst/>
          </a:prstGeom>
          <a:solidFill>
            <a:srgbClr val="E8F3E8"/>
          </a:solidFill>
          <a:ln/>
        </p:spPr>
      </p:sp>
      <p:sp>
        <p:nvSpPr>
          <p:cNvPr id="42" name="Shape 33"/>
          <p:cNvSpPr/>
          <p:nvPr/>
        </p:nvSpPr>
        <p:spPr>
          <a:xfrm>
            <a:off x="5141357" y="6364010"/>
            <a:ext cx="15240" cy="1013817"/>
          </a:xfrm>
          <a:prstGeom prst="roundRect">
            <a:avLst>
              <a:gd name="adj" fmla="val 879072"/>
            </a:avLst>
          </a:prstGeom>
          <a:solidFill>
            <a:srgbClr val="CED9CE"/>
          </a:solidFill>
          <a:ln/>
        </p:spPr>
      </p:sp>
      <p:sp>
        <p:nvSpPr>
          <p:cNvPr id="43" name="Text 34"/>
          <p:cNvSpPr/>
          <p:nvPr/>
        </p:nvSpPr>
        <p:spPr>
          <a:xfrm>
            <a:off x="5290185" y="651283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Revenue Upside</a:t>
            </a:r>
            <a:endParaRPr lang="en-US" sz="1450" dirty="0"/>
          </a:p>
        </p:txBody>
      </p:sp>
      <p:sp>
        <p:nvSpPr>
          <p:cNvPr id="44" name="Text 35"/>
          <p:cNvSpPr/>
          <p:nvPr/>
        </p:nvSpPr>
        <p:spPr>
          <a:xfrm>
            <a:off x="5290185" y="6812280"/>
            <a:ext cx="4049911" cy="416719"/>
          </a:xfrm>
          <a:prstGeom prst="rect">
            <a:avLst/>
          </a:prstGeom>
          <a:noFill/>
          <a:ln/>
        </p:spPr>
        <p:txBody>
          <a:bodyPr wrap="square" lIns="0" tIns="0" rIns="0" bIns="0" rtlCol="0" anchor="t"/>
          <a:lstStyle/>
          <a:p>
            <a:pPr marL="0" indent="0" algn="l">
              <a:lnSpc>
                <a:spcPts val="1600"/>
              </a:lnSpc>
              <a:buNone/>
            </a:pPr>
            <a:r>
              <a:rPr lang="en-US" sz="1150" dirty="0">
                <a:solidFill>
                  <a:srgbClr val="405449"/>
                </a:solidFill>
                <a:latin typeface="Nobile" pitchFamily="34" charset="0"/>
                <a:ea typeface="Nobile" pitchFamily="34" charset="-122"/>
                <a:cs typeface="Nobile" pitchFamily="34" charset="-120"/>
              </a:rPr>
              <a:t>Fraud API licensing: </a:t>
            </a:r>
            <a:r>
              <a:rPr lang="en-US" sz="1150" b="1" dirty="0">
                <a:solidFill>
                  <a:srgbClr val="405449"/>
                </a:solidFill>
                <a:latin typeface="Nobile" pitchFamily="34" charset="0"/>
                <a:ea typeface="Nobile" pitchFamily="34" charset="-122"/>
                <a:cs typeface="Nobile" pitchFamily="34" charset="-120"/>
              </a:rPr>
              <a:t>₹10–15 L/month</a:t>
            </a:r>
            <a:r>
              <a:rPr lang="en-US" sz="1150" dirty="0">
                <a:solidFill>
                  <a:srgbClr val="405449"/>
                </a:solidFill>
                <a:latin typeface="Nobile" pitchFamily="34" charset="0"/>
                <a:ea typeface="Nobile" pitchFamily="34" charset="-122"/>
                <a:cs typeface="Nobile" pitchFamily="34" charset="-120"/>
              </a:rPr>
              <a:t> per platform partner</a:t>
            </a:r>
            <a:endParaRPr lang="en-US" sz="1150" dirty="0"/>
          </a:p>
        </p:txBody>
      </p:sp>
      <p:sp>
        <p:nvSpPr>
          <p:cNvPr id="45" name="Shape 36"/>
          <p:cNvSpPr/>
          <p:nvPr/>
        </p:nvSpPr>
        <p:spPr>
          <a:xfrm>
            <a:off x="9488924" y="6364010"/>
            <a:ext cx="4347567" cy="1013817"/>
          </a:xfrm>
          <a:prstGeom prst="rect">
            <a:avLst/>
          </a:prstGeom>
          <a:solidFill>
            <a:srgbClr val="E8F3E8"/>
          </a:solidFill>
          <a:ln/>
        </p:spPr>
      </p:sp>
      <p:sp>
        <p:nvSpPr>
          <p:cNvPr id="46" name="Shape 37"/>
          <p:cNvSpPr/>
          <p:nvPr/>
        </p:nvSpPr>
        <p:spPr>
          <a:xfrm>
            <a:off x="9488924" y="6364010"/>
            <a:ext cx="15240" cy="1013817"/>
          </a:xfrm>
          <a:prstGeom prst="roundRect">
            <a:avLst>
              <a:gd name="adj" fmla="val 879072"/>
            </a:avLst>
          </a:prstGeom>
          <a:solidFill>
            <a:srgbClr val="CED9CE"/>
          </a:solidFill>
          <a:ln/>
        </p:spPr>
      </p:sp>
      <p:sp>
        <p:nvSpPr>
          <p:cNvPr id="47" name="Text 38"/>
          <p:cNvSpPr/>
          <p:nvPr/>
        </p:nvSpPr>
        <p:spPr>
          <a:xfrm>
            <a:off x="9637752" y="6512838"/>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ARR Target</a:t>
            </a:r>
            <a:endParaRPr lang="en-US" sz="1450" dirty="0"/>
          </a:p>
        </p:txBody>
      </p:sp>
      <p:sp>
        <p:nvSpPr>
          <p:cNvPr id="48" name="Text 39"/>
          <p:cNvSpPr/>
          <p:nvPr/>
        </p:nvSpPr>
        <p:spPr>
          <a:xfrm>
            <a:off x="9637752" y="6812280"/>
            <a:ext cx="4049911" cy="416719"/>
          </a:xfrm>
          <a:prstGeom prst="rect">
            <a:avLst/>
          </a:prstGeom>
          <a:noFill/>
          <a:ln/>
        </p:spPr>
        <p:txBody>
          <a:bodyPr wrap="square" lIns="0" tIns="0" rIns="0" bIns="0" rtlCol="0" anchor="t"/>
          <a:lstStyle/>
          <a:p>
            <a:pPr marL="0" indent="0" algn="l">
              <a:lnSpc>
                <a:spcPts val="1600"/>
              </a:lnSpc>
              <a:buNone/>
            </a:pPr>
            <a:r>
              <a:rPr lang="en-US" sz="1150" b="1" dirty="0">
                <a:solidFill>
                  <a:srgbClr val="405449"/>
                </a:solidFill>
                <a:latin typeface="Nobile" pitchFamily="34" charset="0"/>
                <a:ea typeface="Nobile" pitchFamily="34" charset="-122"/>
                <a:cs typeface="Nobile" pitchFamily="34" charset="-120"/>
              </a:rPr>
              <a:t>₹6–9 Cr ARR</a:t>
            </a:r>
            <a:r>
              <a:rPr lang="en-US" sz="1150" dirty="0">
                <a:solidFill>
                  <a:srgbClr val="405449"/>
                </a:solidFill>
                <a:latin typeface="Nobile" pitchFamily="34" charset="0"/>
                <a:ea typeface="Nobile" pitchFamily="34" charset="-122"/>
                <a:cs typeface="Nobile" pitchFamily="34" charset="-120"/>
              </a:rPr>
              <a:t> — MGA transitioning to national insurance infrastructure layer</a:t>
            </a:r>
            <a:endParaRPr lang="en-US" sz="1150" dirty="0"/>
          </a:p>
        </p:txBody>
      </p:sp>
      <p:sp>
        <p:nvSpPr>
          <p:cNvPr id="49" name="Rectangle 48">
            <a:extLst>
              <a:ext uri="{FF2B5EF4-FFF2-40B4-BE49-F238E27FC236}">
                <a16:creationId xmlns:a16="http://schemas.microsoft.com/office/drawing/2014/main" id="{A70260C0-D41E-925D-4AE0-06ABB8F5F013}"/>
              </a:ext>
            </a:extLst>
          </p:cNvPr>
          <p:cNvSpPr/>
          <p:nvPr/>
        </p:nvSpPr>
        <p:spPr>
          <a:xfrm>
            <a:off x="12795565" y="7755912"/>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39127"/>
            <a:ext cx="8546425"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Financial Model: Path to Profitability</a:t>
            </a:r>
            <a:endParaRPr lang="en-US" sz="3550" dirty="0"/>
          </a:p>
        </p:txBody>
      </p:sp>
      <p:sp>
        <p:nvSpPr>
          <p:cNvPr id="3" name="Shape 1"/>
          <p:cNvSpPr/>
          <p:nvPr/>
        </p:nvSpPr>
        <p:spPr>
          <a:xfrm>
            <a:off x="793790" y="1496378"/>
            <a:ext cx="4250769" cy="5408414"/>
          </a:xfrm>
          <a:prstGeom prst="roundRect">
            <a:avLst>
              <a:gd name="adj" fmla="val 2581"/>
            </a:avLst>
          </a:prstGeom>
          <a:solidFill>
            <a:srgbClr val="FAFFFA"/>
          </a:solidFill>
          <a:ln w="22860">
            <a:solidFill>
              <a:srgbClr val="CED9CE"/>
            </a:solidFill>
            <a:prstDash val="solid"/>
          </a:ln>
        </p:spPr>
      </p:sp>
      <p:sp>
        <p:nvSpPr>
          <p:cNvPr id="4" name="Shape 2"/>
          <p:cNvSpPr/>
          <p:nvPr/>
        </p:nvSpPr>
        <p:spPr>
          <a:xfrm>
            <a:off x="770930" y="1496378"/>
            <a:ext cx="91440" cy="5408414"/>
          </a:xfrm>
          <a:prstGeom prst="roundRect">
            <a:avLst>
              <a:gd name="adj" fmla="val 178605"/>
            </a:avLst>
          </a:prstGeom>
          <a:solidFill>
            <a:srgbClr val="438951"/>
          </a:solidFill>
          <a:ln/>
        </p:spPr>
      </p:sp>
      <p:sp>
        <p:nvSpPr>
          <p:cNvPr id="5" name="Text 3"/>
          <p:cNvSpPr/>
          <p:nvPr/>
        </p:nvSpPr>
        <p:spPr>
          <a:xfrm>
            <a:off x="1066681" y="1700689"/>
            <a:ext cx="2408515"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B2C Revenue Stream</a:t>
            </a:r>
            <a:endParaRPr lang="en-US" sz="1750" dirty="0"/>
          </a:p>
        </p:txBody>
      </p:sp>
      <p:sp>
        <p:nvSpPr>
          <p:cNvPr id="6" name="Text 4"/>
          <p:cNvSpPr/>
          <p:nvPr/>
        </p:nvSpPr>
        <p:spPr>
          <a:xfrm>
            <a:off x="1066681" y="2071211"/>
            <a:ext cx="3773567" cy="1828562"/>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Direct worker subscriptions create a recurring consumer revenue base, with </a:t>
            </a:r>
            <a:r>
              <a:rPr lang="en-US" sz="1400" dirty="0">
                <a:solidFill>
                  <a:srgbClr val="16FFBB"/>
                </a:solidFill>
                <a:latin typeface="Nobile" pitchFamily="34" charset="0"/>
                <a:ea typeface="Nobile" pitchFamily="34" charset="-122"/>
                <a:cs typeface="Nobile" pitchFamily="34" charset="-120"/>
              </a:rPr>
              <a:t>75% gross margin</a:t>
            </a:r>
            <a:r>
              <a:rPr lang="en-US" sz="1400" dirty="0">
                <a:solidFill>
                  <a:srgbClr val="405449"/>
                </a:solidFill>
                <a:latin typeface="Nobile" pitchFamily="34" charset="0"/>
                <a:ea typeface="Nobile" pitchFamily="34" charset="-122"/>
                <a:cs typeface="Nobile" pitchFamily="34" charset="-120"/>
              </a:rPr>
              <a:t> after claims, servicing, and fraud-related costs. This model is designed to be affordable for individual gig workers while still producing attractive economics at scale.</a:t>
            </a:r>
            <a:endParaRPr lang="en-US" sz="1400" dirty="0"/>
          </a:p>
        </p:txBody>
      </p:sp>
      <p:sp>
        <p:nvSpPr>
          <p:cNvPr id="7" name="Text 5"/>
          <p:cNvSpPr/>
          <p:nvPr/>
        </p:nvSpPr>
        <p:spPr>
          <a:xfrm>
            <a:off x="1066681" y="3986808"/>
            <a:ext cx="3773567" cy="2452449"/>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Weekly recurring revenue model that supports predictable cash flow and improves forecasting accuracy</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Auto-renewal with seamless UPI payments to reduce churn and make coverage easy to maintain</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Example: a delivery partner can stay continuously covered without needing to re-enroll after every payout cycle</a:t>
            </a:r>
            <a:endParaRPr lang="en-US" sz="1400" dirty="0"/>
          </a:p>
        </p:txBody>
      </p:sp>
      <p:sp>
        <p:nvSpPr>
          <p:cNvPr id="8" name="Shape 6"/>
          <p:cNvSpPr/>
          <p:nvPr/>
        </p:nvSpPr>
        <p:spPr>
          <a:xfrm>
            <a:off x="5189696" y="1496378"/>
            <a:ext cx="4250888" cy="5408414"/>
          </a:xfrm>
          <a:prstGeom prst="roundRect">
            <a:avLst>
              <a:gd name="adj" fmla="val 2581"/>
            </a:avLst>
          </a:prstGeom>
          <a:solidFill>
            <a:srgbClr val="FAFFFA"/>
          </a:solidFill>
          <a:ln w="22860">
            <a:solidFill>
              <a:srgbClr val="CED9CE"/>
            </a:solidFill>
            <a:prstDash val="solid"/>
          </a:ln>
        </p:spPr>
      </p:sp>
      <p:sp>
        <p:nvSpPr>
          <p:cNvPr id="9" name="Shape 7"/>
          <p:cNvSpPr/>
          <p:nvPr/>
        </p:nvSpPr>
        <p:spPr>
          <a:xfrm>
            <a:off x="5166836" y="1496378"/>
            <a:ext cx="91440" cy="5408414"/>
          </a:xfrm>
          <a:prstGeom prst="roundRect">
            <a:avLst>
              <a:gd name="adj" fmla="val 178605"/>
            </a:avLst>
          </a:prstGeom>
          <a:solidFill>
            <a:srgbClr val="438951"/>
          </a:solidFill>
          <a:ln/>
        </p:spPr>
      </p:sp>
      <p:sp>
        <p:nvSpPr>
          <p:cNvPr id="10" name="Text 8"/>
          <p:cNvSpPr/>
          <p:nvPr/>
        </p:nvSpPr>
        <p:spPr>
          <a:xfrm>
            <a:off x="5462588" y="1700689"/>
            <a:ext cx="2417683"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B2B Revenue Stream</a:t>
            </a:r>
            <a:endParaRPr lang="en-US" sz="1750" dirty="0"/>
          </a:p>
        </p:txBody>
      </p:sp>
      <p:sp>
        <p:nvSpPr>
          <p:cNvPr id="11" name="Text 9"/>
          <p:cNvSpPr/>
          <p:nvPr/>
        </p:nvSpPr>
        <p:spPr>
          <a:xfrm>
            <a:off x="5462588" y="2071211"/>
            <a:ext cx="3773686" cy="1828562"/>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Platform licensing fees from gig economy partners generate a high-margin enterprise revenue stream with </a:t>
            </a:r>
            <a:r>
              <a:rPr lang="en-US" sz="1400" dirty="0">
                <a:solidFill>
                  <a:srgbClr val="16FFBB"/>
                </a:solidFill>
                <a:latin typeface="Nobile" pitchFamily="34" charset="0"/>
                <a:ea typeface="Nobile" pitchFamily="34" charset="-122"/>
                <a:cs typeface="Nobile" pitchFamily="34" charset="-120"/>
              </a:rPr>
              <a:t>90%+ gross margin</a:t>
            </a:r>
            <a:r>
              <a:rPr lang="en-US" sz="1400" dirty="0">
                <a:solidFill>
                  <a:srgbClr val="405449"/>
                </a:solidFill>
                <a:latin typeface="Nobile" pitchFamily="34" charset="0"/>
                <a:ea typeface="Nobile" pitchFamily="34" charset="-122"/>
                <a:cs typeface="Nobile" pitchFamily="34" charset="-120"/>
              </a:rPr>
              <a:t>. This channel expands distribution efficiently by embedding insurance into partner platforms, marketplaces, and workforce applications.</a:t>
            </a:r>
            <a:endParaRPr lang="en-US" sz="1400" dirty="0"/>
          </a:p>
        </p:txBody>
      </p:sp>
      <p:sp>
        <p:nvSpPr>
          <p:cNvPr id="12" name="Text 10"/>
          <p:cNvSpPr/>
          <p:nvPr/>
        </p:nvSpPr>
        <p:spPr>
          <a:xfrm>
            <a:off x="5462588" y="3986808"/>
            <a:ext cx="3773686" cy="2713673"/>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Per-transaction infrastructure fees that scale with usage and align revenue to customer activity</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White-label platform licensing for partners that want to offer insurance under their own brand</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Example: a ride-hailing platform can bundle protection into driver onboarding or trip completion workflows</a:t>
            </a:r>
            <a:endParaRPr lang="en-US" sz="1400" dirty="0"/>
          </a:p>
        </p:txBody>
      </p:sp>
      <p:sp>
        <p:nvSpPr>
          <p:cNvPr id="13" name="Shape 11"/>
          <p:cNvSpPr/>
          <p:nvPr/>
        </p:nvSpPr>
        <p:spPr>
          <a:xfrm>
            <a:off x="9585722" y="1496378"/>
            <a:ext cx="4250888" cy="5408414"/>
          </a:xfrm>
          <a:prstGeom prst="roundRect">
            <a:avLst>
              <a:gd name="adj" fmla="val 2581"/>
            </a:avLst>
          </a:prstGeom>
          <a:solidFill>
            <a:srgbClr val="FAFFFA"/>
          </a:solidFill>
          <a:ln w="22860">
            <a:solidFill>
              <a:srgbClr val="CED9CE"/>
            </a:solidFill>
            <a:prstDash val="solid"/>
          </a:ln>
        </p:spPr>
      </p:sp>
      <p:sp>
        <p:nvSpPr>
          <p:cNvPr id="14" name="Shape 12"/>
          <p:cNvSpPr/>
          <p:nvPr/>
        </p:nvSpPr>
        <p:spPr>
          <a:xfrm>
            <a:off x="9562862" y="1496378"/>
            <a:ext cx="91440" cy="5408414"/>
          </a:xfrm>
          <a:prstGeom prst="roundRect">
            <a:avLst>
              <a:gd name="adj" fmla="val 178605"/>
            </a:avLst>
          </a:prstGeom>
          <a:solidFill>
            <a:srgbClr val="438951"/>
          </a:solidFill>
          <a:ln/>
        </p:spPr>
      </p:sp>
      <p:sp>
        <p:nvSpPr>
          <p:cNvPr id="15" name="Text 13"/>
          <p:cNvSpPr/>
          <p:nvPr/>
        </p:nvSpPr>
        <p:spPr>
          <a:xfrm>
            <a:off x="9858613" y="1700689"/>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Cost Efficiency</a:t>
            </a:r>
            <a:endParaRPr lang="en-US" sz="1750" dirty="0"/>
          </a:p>
        </p:txBody>
      </p:sp>
      <p:sp>
        <p:nvSpPr>
          <p:cNvPr id="16" name="Text 14"/>
          <p:cNvSpPr/>
          <p:nvPr/>
        </p:nvSpPr>
        <p:spPr>
          <a:xfrm>
            <a:off x="9858613" y="2071211"/>
            <a:ext cx="3773686" cy="1828562"/>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Cloud-native architecture keeps fixed overhead minimal, with </a:t>
            </a:r>
            <a:r>
              <a:rPr lang="en-US" sz="1400" dirty="0">
                <a:solidFill>
                  <a:srgbClr val="16FFBB"/>
                </a:solidFill>
                <a:latin typeface="Nobile" pitchFamily="34" charset="0"/>
                <a:ea typeface="Nobile" pitchFamily="34" charset="-122"/>
                <a:cs typeface="Nobile" pitchFamily="34" charset="-120"/>
              </a:rPr>
              <a:t>₹0 infrastructure overhead</a:t>
            </a:r>
            <a:r>
              <a:rPr lang="en-US" sz="1400" dirty="0">
                <a:solidFill>
                  <a:srgbClr val="405449"/>
                </a:solidFill>
                <a:latin typeface="Nobile" pitchFamily="34" charset="0"/>
                <a:ea typeface="Nobile" pitchFamily="34" charset="-122"/>
                <a:cs typeface="Nobile" pitchFamily="34" charset="-120"/>
              </a:rPr>
              <a:t> and automated operations that reduce manual intervention. This makes it possible to scale coverage without building a heavy operating structure, improving unit economics as volume grows.</a:t>
            </a:r>
            <a:endParaRPr lang="en-US" sz="1400" dirty="0"/>
          </a:p>
        </p:txBody>
      </p:sp>
      <p:sp>
        <p:nvSpPr>
          <p:cNvPr id="17" name="Text 15"/>
          <p:cNvSpPr/>
          <p:nvPr/>
        </p:nvSpPr>
        <p:spPr>
          <a:xfrm>
            <a:off x="9858613" y="3986808"/>
            <a:ext cx="3773686" cy="2452449"/>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AI-powered claims processing to speed up approvals, reduce administrative load, and improve customer experience</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Dynamic pricing via ML models to better match risk levels, segment customers, and protect margins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Example: fraud rules can automatically flag suspicious claims while legitimate claims move through quickly</a:t>
            </a:r>
            <a:endParaRPr lang="en-US" sz="1400" dirty="0"/>
          </a:p>
        </p:txBody>
      </p:sp>
      <p:sp>
        <p:nvSpPr>
          <p:cNvPr id="18" name="Text 16"/>
          <p:cNvSpPr/>
          <p:nvPr/>
        </p:nvSpPr>
        <p:spPr>
          <a:xfrm>
            <a:off x="793790" y="7068026"/>
            <a:ext cx="13042821" cy="522446"/>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Sustainable unit economics are driven by disciplined pricing, intelligent coverage caps, and fraud control systems that protect margins as the business scales. Together, these levers help the model grow profitably while maintaining affordability for workers and value for platform partners.</a:t>
            </a:r>
            <a:endParaRPr lang="en-US" sz="1400" dirty="0"/>
          </a:p>
        </p:txBody>
      </p:sp>
      <p:sp>
        <p:nvSpPr>
          <p:cNvPr id="19" name="Rectangle 18">
            <a:extLst>
              <a:ext uri="{FF2B5EF4-FFF2-40B4-BE49-F238E27FC236}">
                <a16:creationId xmlns:a16="http://schemas.microsoft.com/office/drawing/2014/main" id="{F40BFC1C-530C-DAB2-0673-AD8FA5089224}"/>
              </a:ext>
            </a:extLst>
          </p:cNvPr>
          <p:cNvSpPr/>
          <p:nvPr/>
        </p:nvSpPr>
        <p:spPr>
          <a:xfrm>
            <a:off x="12756995" y="7716644"/>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19507"/>
            <a:ext cx="6170057"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Innovation Differentiators</a:t>
            </a:r>
            <a:endParaRPr lang="en-US" sz="35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1676757"/>
            <a:ext cx="544354" cy="544354"/>
          </a:xfrm>
          <a:prstGeom prst="rect">
            <a:avLst/>
          </a:prstGeom>
        </p:spPr>
      </p:pic>
      <p:sp>
        <p:nvSpPr>
          <p:cNvPr id="4" name="Text 1"/>
          <p:cNvSpPr/>
          <p:nvPr/>
        </p:nvSpPr>
        <p:spPr>
          <a:xfrm>
            <a:off x="1519595" y="1676757"/>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Shadow Policy</a:t>
            </a:r>
            <a:endParaRPr lang="en-US" sz="1750" dirty="0"/>
          </a:p>
        </p:txBody>
      </p:sp>
      <p:sp>
        <p:nvSpPr>
          <p:cNvPr id="5" name="Text 2"/>
          <p:cNvSpPr/>
          <p:nvPr/>
        </p:nvSpPr>
        <p:spPr>
          <a:xfrm>
            <a:off x="1519595" y="2047280"/>
            <a:ext cx="5704880" cy="2089785"/>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Creates an invisible backup layer of coverage that automatically activates if the primary insurance path fails, helping workers stay protected without needing to take any extra action. This reduces gaps in coverage during onboarding delays, policy lapses, or processing errors, and it builds greater trust by making protection feel always on. For example, if a worker’s main policy is temporarily unavailable, the shadow policy can maintain continuity until the issue is resolved.</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05926" y="1676757"/>
            <a:ext cx="544354" cy="544354"/>
          </a:xfrm>
          <a:prstGeom prst="rect">
            <a:avLst/>
          </a:prstGeom>
        </p:spPr>
      </p:pic>
      <p:sp>
        <p:nvSpPr>
          <p:cNvPr id="7" name="Text 3"/>
          <p:cNvSpPr/>
          <p:nvPr/>
        </p:nvSpPr>
        <p:spPr>
          <a:xfrm>
            <a:off x="8131731" y="1676757"/>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Predictive Nudges</a:t>
            </a:r>
            <a:endParaRPr lang="en-US" sz="1750" dirty="0"/>
          </a:p>
        </p:txBody>
      </p:sp>
      <p:sp>
        <p:nvSpPr>
          <p:cNvPr id="8" name="Text 4"/>
          <p:cNvSpPr/>
          <p:nvPr/>
        </p:nvSpPr>
        <p:spPr>
          <a:xfrm>
            <a:off x="8131731" y="2047280"/>
            <a:ext cx="5704880" cy="2089785"/>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Uses real-time risk signals to alert workers before a shift begins, such as warnings about high-risk zones, severe weather, or unusually crowded conditions. These proactive reminders help workers make better decisions, avoid preventable incidents, and reduce the likelihood of claims. By intervening early, the system can lower risk exposure, improve safety awareness, and support more responsible work behavior. For example, a delivery worker might be notified to avoid a flooded route before heading out.</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427339"/>
            <a:ext cx="544354" cy="544354"/>
          </a:xfrm>
          <a:prstGeom prst="rect">
            <a:avLst/>
          </a:prstGeom>
        </p:spPr>
      </p:pic>
      <p:sp>
        <p:nvSpPr>
          <p:cNvPr id="10" name="Text 5"/>
          <p:cNvSpPr/>
          <p:nvPr/>
        </p:nvSpPr>
        <p:spPr>
          <a:xfrm>
            <a:off x="1519595" y="4427339"/>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Cap Acceleration</a:t>
            </a:r>
            <a:endParaRPr lang="en-US" sz="1750" dirty="0"/>
          </a:p>
        </p:txBody>
      </p:sp>
      <p:sp>
        <p:nvSpPr>
          <p:cNvPr id="11" name="Text 6"/>
          <p:cNvSpPr/>
          <p:nvPr/>
        </p:nvSpPr>
        <p:spPr>
          <a:xfrm>
            <a:off x="1519595" y="4797862"/>
            <a:ext cx="5704880" cy="2612231"/>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Adjusts daily payout caps upward during verified high-risk periods such as monsoons, festivals, or sudden demand surges, allowing coverage to match the realities of the moment. This creates a more flexible protection model that responds to changing field conditions instead of relying on fixed limits that may be too low when workers need support most. It improves perceived fairness, strengthens adoption, and helps the platform stay relevant across seasonal and regional risk patterns. For example, payouts can expand temporarily when weather or event-related exposure spikes.</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05926" y="4427339"/>
            <a:ext cx="544354" cy="544354"/>
          </a:xfrm>
          <a:prstGeom prst="rect">
            <a:avLst/>
          </a:prstGeom>
        </p:spPr>
      </p:pic>
      <p:sp>
        <p:nvSpPr>
          <p:cNvPr id="13" name="Text 7"/>
          <p:cNvSpPr/>
          <p:nvPr/>
        </p:nvSpPr>
        <p:spPr>
          <a:xfrm>
            <a:off x="8131731" y="4427339"/>
            <a:ext cx="2681288" cy="283488"/>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Circuit Breaker System</a:t>
            </a:r>
            <a:endParaRPr lang="en-US" sz="1750" dirty="0"/>
          </a:p>
        </p:txBody>
      </p:sp>
      <p:sp>
        <p:nvSpPr>
          <p:cNvPr id="14" name="Text 8"/>
          <p:cNvSpPr/>
          <p:nvPr/>
        </p:nvSpPr>
        <p:spPr>
          <a:xfrm>
            <a:off x="8131731" y="4797862"/>
            <a:ext cx="5704880" cy="2612231"/>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Automatically slows or pauses claims processing when the system detects a possible fraud wave, then routes suspicious activity into manual review before losses can escalate. This adds a strong protective layer around the claims engine, helping preserve capital, protect honest users, and maintain operational stability during unusual claim spikes. The result is better control over risk, fewer large-scale payout errors, and a more resilient claims workflow. For instance, a sudden cluster of similar claims from one location can be flagged for inspection before automatic approval.</a:t>
            </a:r>
            <a:endParaRPr lang="en-US" sz="1400" dirty="0"/>
          </a:p>
        </p:txBody>
      </p:sp>
      <p:sp>
        <p:nvSpPr>
          <p:cNvPr id="15" name="Rectangle 14">
            <a:extLst>
              <a:ext uri="{FF2B5EF4-FFF2-40B4-BE49-F238E27FC236}">
                <a16:creationId xmlns:a16="http://schemas.microsoft.com/office/drawing/2014/main" id="{2E9E75E9-E880-D2B9-0593-2871F523A4F8}"/>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93790" y="926902"/>
            <a:ext cx="4355306" cy="460772"/>
          </a:xfrm>
          <a:prstGeom prst="rect">
            <a:avLst/>
          </a:prstGeom>
          <a:noFill/>
          <a:ln/>
        </p:spPr>
        <p:txBody>
          <a:bodyPr wrap="none" lIns="0" tIns="0" rIns="0" bIns="0" rtlCol="0" anchor="t"/>
          <a:lstStyle/>
          <a:p>
            <a:pPr marL="0" indent="0" algn="l">
              <a:lnSpc>
                <a:spcPts val="3600"/>
              </a:lnSpc>
              <a:buNone/>
            </a:pPr>
            <a:r>
              <a:rPr lang="en-US" sz="2900" b="1" dirty="0">
                <a:solidFill>
                  <a:srgbClr val="3B4540"/>
                </a:solidFill>
                <a:latin typeface="Fraunces Extra Bold" pitchFamily="34" charset="0"/>
                <a:ea typeface="Fraunces Extra Bold" pitchFamily="34" charset="-122"/>
                <a:cs typeface="Fraunces Extra Bold" pitchFamily="34" charset="-120"/>
              </a:rPr>
              <a:t>Competitive Advantage</a:t>
            </a:r>
            <a:endParaRPr lang="en-US" sz="2900" dirty="0"/>
          </a:p>
        </p:txBody>
      </p:sp>
      <p:sp>
        <p:nvSpPr>
          <p:cNvPr id="4" name="Shape 1"/>
          <p:cNvSpPr/>
          <p:nvPr/>
        </p:nvSpPr>
        <p:spPr>
          <a:xfrm>
            <a:off x="793790" y="1531382"/>
            <a:ext cx="2454950" cy="4120277"/>
          </a:xfrm>
          <a:prstGeom prst="roundRect">
            <a:avLst>
              <a:gd name="adj" fmla="val 5405"/>
            </a:avLst>
          </a:prstGeom>
          <a:solidFill>
            <a:srgbClr val="E8F3E8"/>
          </a:solidFill>
          <a:ln/>
        </p:spPr>
      </p:sp>
      <p:sp>
        <p:nvSpPr>
          <p:cNvPr id="5" name="Text 2"/>
          <p:cNvSpPr/>
          <p:nvPr/>
        </p:nvSpPr>
        <p:spPr>
          <a:xfrm>
            <a:off x="941189" y="1678781"/>
            <a:ext cx="2160151" cy="460772"/>
          </a:xfrm>
          <a:prstGeom prst="rect">
            <a:avLst/>
          </a:prstGeom>
          <a:noFill/>
          <a:ln/>
        </p:spPr>
        <p:txBody>
          <a:bodyPr wrap="squar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First Income-Based Engine</a:t>
            </a:r>
            <a:endParaRPr lang="en-US" sz="1450" dirty="0"/>
          </a:p>
        </p:txBody>
      </p:sp>
      <p:sp>
        <p:nvSpPr>
          <p:cNvPr id="6" name="Text 3"/>
          <p:cNvSpPr/>
          <p:nvPr/>
        </p:nvSpPr>
        <p:spPr>
          <a:xfrm>
            <a:off x="941189" y="2196941"/>
            <a:ext cx="2160151" cy="3307318"/>
          </a:xfrm>
          <a:prstGeom prst="rect">
            <a:avLst/>
          </a:prstGeom>
          <a:noFill/>
          <a:ln/>
        </p:spPr>
        <p:txBody>
          <a:bodyPr wrap="square" lIns="0" tIns="0" rIns="0" bIns="0" rtlCol="0" anchor="t"/>
          <a:lstStyle/>
          <a:p>
            <a:pPr marL="0" indent="0" algn="l">
              <a:lnSpc>
                <a:spcPts val="1500"/>
              </a:lnSpc>
              <a:buNone/>
            </a:pPr>
            <a:r>
              <a:rPr lang="en-US" sz="1150" dirty="0">
                <a:solidFill>
                  <a:srgbClr val="405449"/>
                </a:solidFill>
                <a:latin typeface="Nobile" pitchFamily="34" charset="0"/>
                <a:ea typeface="Nobile" pitchFamily="34" charset="-122"/>
                <a:cs typeface="Nobile" pitchFamily="34" charset="-120"/>
              </a:rPr>
              <a:t>The world’s first insurance product purpose-built for gig economy income patterns, rather than traditional salaried employment models. This means coverage can better reflect how workers actually earn, with benefits designed around irregular shifts, variable earnings, and short-term work cycles. The result is a more relevant product that improves affordability, adoption, and long-term usefulness for drivers, delivery partners, and other independent workers.</a:t>
            </a:r>
            <a:endParaRPr lang="en-US" sz="1150" dirty="0"/>
          </a:p>
        </p:txBody>
      </p:sp>
      <p:sp>
        <p:nvSpPr>
          <p:cNvPr id="7" name="Shape 4"/>
          <p:cNvSpPr/>
          <p:nvPr/>
        </p:nvSpPr>
        <p:spPr>
          <a:xfrm>
            <a:off x="3344466" y="1531382"/>
            <a:ext cx="2454950" cy="4120277"/>
          </a:xfrm>
          <a:prstGeom prst="roundRect">
            <a:avLst>
              <a:gd name="adj" fmla="val 5405"/>
            </a:avLst>
          </a:prstGeom>
          <a:solidFill>
            <a:srgbClr val="E8F3E8"/>
          </a:solidFill>
          <a:ln/>
        </p:spPr>
      </p:sp>
      <p:sp>
        <p:nvSpPr>
          <p:cNvPr id="8" name="Text 5"/>
          <p:cNvSpPr/>
          <p:nvPr/>
        </p:nvSpPr>
        <p:spPr>
          <a:xfrm>
            <a:off x="3491865" y="1678781"/>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Real-Time Payouts</a:t>
            </a:r>
            <a:endParaRPr lang="en-US" sz="1450" dirty="0"/>
          </a:p>
        </p:txBody>
      </p:sp>
      <p:sp>
        <p:nvSpPr>
          <p:cNvPr id="9" name="Text 6"/>
          <p:cNvSpPr/>
          <p:nvPr/>
        </p:nvSpPr>
        <p:spPr>
          <a:xfrm>
            <a:off x="3491865" y="1966555"/>
            <a:ext cx="2160151" cy="3112770"/>
          </a:xfrm>
          <a:prstGeom prst="rect">
            <a:avLst/>
          </a:prstGeom>
          <a:noFill/>
          <a:ln/>
        </p:spPr>
        <p:txBody>
          <a:bodyPr wrap="square" lIns="0" tIns="0" rIns="0" bIns="0" rtlCol="0" anchor="t"/>
          <a:lstStyle/>
          <a:p>
            <a:pPr marL="0" indent="0" algn="l">
              <a:lnSpc>
                <a:spcPts val="1500"/>
              </a:lnSpc>
              <a:buNone/>
            </a:pPr>
            <a:r>
              <a:rPr lang="en-US" sz="1150" dirty="0">
                <a:solidFill>
                  <a:srgbClr val="405449"/>
                </a:solidFill>
                <a:latin typeface="Nobile" pitchFamily="34" charset="0"/>
                <a:ea typeface="Nobile" pitchFamily="34" charset="-122"/>
                <a:cs typeface="Nobile" pitchFamily="34" charset="-120"/>
              </a:rPr>
              <a:t>Claims are processed and paid within </a:t>
            </a:r>
            <a:r>
              <a:rPr lang="en-US" sz="1150" dirty="0">
                <a:solidFill>
                  <a:srgbClr val="16FFBB"/>
                </a:solidFill>
                <a:latin typeface="Nobile" pitchFamily="34" charset="0"/>
                <a:ea typeface="Nobile" pitchFamily="34" charset="-122"/>
                <a:cs typeface="Nobile" pitchFamily="34" charset="-120"/>
              </a:rPr>
              <a:t>90 seconds</a:t>
            </a:r>
            <a:r>
              <a:rPr lang="en-US" sz="1150" dirty="0">
                <a:solidFill>
                  <a:srgbClr val="405449"/>
                </a:solidFill>
                <a:latin typeface="Nobile" pitchFamily="34" charset="0"/>
                <a:ea typeface="Nobile" pitchFamily="34" charset="-122"/>
                <a:cs typeface="Nobile" pitchFamily="34" charset="-120"/>
              </a:rPr>
              <a:t>, compared with 3–7 days for traditional insurers. This speed reduces stress during urgent situations, helps workers recover faster after an interruption, and creates a far better customer experience at the exact moment they need support. For example, a driver facing a sudden income loss can receive funds almost immediately instead of waiting through a lengthy manual review process.</a:t>
            </a:r>
            <a:endParaRPr lang="en-US" sz="1150" dirty="0"/>
          </a:p>
        </p:txBody>
      </p:sp>
      <p:sp>
        <p:nvSpPr>
          <p:cNvPr id="10" name="Shape 7"/>
          <p:cNvSpPr/>
          <p:nvPr/>
        </p:nvSpPr>
        <p:spPr>
          <a:xfrm>
            <a:off x="5895142" y="1531382"/>
            <a:ext cx="2455069" cy="4120277"/>
          </a:xfrm>
          <a:prstGeom prst="roundRect">
            <a:avLst>
              <a:gd name="adj" fmla="val 5405"/>
            </a:avLst>
          </a:prstGeom>
          <a:solidFill>
            <a:srgbClr val="E8F3E8"/>
          </a:solidFill>
          <a:ln/>
        </p:spPr>
      </p:sp>
      <p:sp>
        <p:nvSpPr>
          <p:cNvPr id="11" name="Text 8"/>
          <p:cNvSpPr/>
          <p:nvPr/>
        </p:nvSpPr>
        <p:spPr>
          <a:xfrm>
            <a:off x="6042541" y="1678781"/>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Zero Paperwork</a:t>
            </a:r>
            <a:endParaRPr lang="en-US" sz="1450" dirty="0"/>
          </a:p>
        </p:txBody>
      </p:sp>
      <p:sp>
        <p:nvSpPr>
          <p:cNvPr id="12" name="Text 9"/>
          <p:cNvSpPr/>
          <p:nvPr/>
        </p:nvSpPr>
        <p:spPr>
          <a:xfrm>
            <a:off x="6042541" y="1966555"/>
            <a:ext cx="2160270" cy="2918222"/>
          </a:xfrm>
          <a:prstGeom prst="rect">
            <a:avLst/>
          </a:prstGeom>
          <a:noFill/>
          <a:ln/>
        </p:spPr>
        <p:txBody>
          <a:bodyPr wrap="square" lIns="0" tIns="0" rIns="0" bIns="0" rtlCol="0" anchor="t"/>
          <a:lstStyle/>
          <a:p>
            <a:pPr marL="0" indent="0" algn="l">
              <a:lnSpc>
                <a:spcPts val="1500"/>
              </a:lnSpc>
              <a:buNone/>
            </a:pPr>
            <a:r>
              <a:rPr lang="en-US" sz="1150" dirty="0">
                <a:solidFill>
                  <a:srgbClr val="405449"/>
                </a:solidFill>
                <a:latin typeface="Nobile" pitchFamily="34" charset="0"/>
                <a:ea typeface="Nobile" pitchFamily="34" charset="-122"/>
                <a:cs typeface="Nobile" pitchFamily="34" charset="-120"/>
              </a:rPr>
              <a:t>The entire experience is fully digital, from onboarding to claim submission and approval, eliminating forms, physical documents, and unnecessary friction. With </a:t>
            </a:r>
            <a:r>
              <a:rPr lang="en-US" sz="1150" dirty="0">
                <a:solidFill>
                  <a:srgbClr val="16FFBB"/>
                </a:solidFill>
                <a:latin typeface="Nobile" pitchFamily="34" charset="0"/>
                <a:ea typeface="Nobile" pitchFamily="34" charset="-122"/>
                <a:cs typeface="Nobile" pitchFamily="34" charset="-120"/>
              </a:rPr>
              <a:t>100% automated approval</a:t>
            </a:r>
            <a:r>
              <a:rPr lang="en-US" sz="1150" dirty="0">
                <a:solidFill>
                  <a:srgbClr val="405449"/>
                </a:solidFill>
                <a:latin typeface="Nobile" pitchFamily="34" charset="0"/>
                <a:ea typeface="Nobile" pitchFamily="34" charset="-122"/>
                <a:cs typeface="Nobile" pitchFamily="34" charset="-120"/>
              </a:rPr>
              <a:t> for valid claims, the process is faster, more consistent, and easier to scale. This is especially valuable for users who may have limited time, limited documentation, or inconsistent access to administrative support.</a:t>
            </a:r>
            <a:endParaRPr lang="en-US" sz="1150" dirty="0"/>
          </a:p>
        </p:txBody>
      </p:sp>
      <p:sp>
        <p:nvSpPr>
          <p:cNvPr id="13" name="Shape 10"/>
          <p:cNvSpPr/>
          <p:nvPr/>
        </p:nvSpPr>
        <p:spPr>
          <a:xfrm>
            <a:off x="793790" y="5747385"/>
            <a:ext cx="7556421" cy="1555313"/>
          </a:xfrm>
          <a:prstGeom prst="roundRect">
            <a:avLst>
              <a:gd name="adj" fmla="val 8532"/>
            </a:avLst>
          </a:prstGeom>
          <a:solidFill>
            <a:srgbClr val="E8F3E8"/>
          </a:solidFill>
          <a:ln/>
        </p:spPr>
      </p:sp>
      <p:sp>
        <p:nvSpPr>
          <p:cNvPr id="14" name="Text 11"/>
          <p:cNvSpPr/>
          <p:nvPr/>
        </p:nvSpPr>
        <p:spPr>
          <a:xfrm>
            <a:off x="941189" y="5894784"/>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405449"/>
                </a:solidFill>
                <a:latin typeface="Fraunces Extra Bold" pitchFamily="34" charset="0"/>
                <a:ea typeface="Fraunces Extra Bold" pitchFamily="34" charset="-122"/>
                <a:cs typeface="Fraunces Extra Bold" pitchFamily="34" charset="-120"/>
              </a:rPr>
              <a:t>Built for India</a:t>
            </a:r>
            <a:endParaRPr lang="en-US" sz="1450" dirty="0"/>
          </a:p>
        </p:txBody>
      </p:sp>
      <p:sp>
        <p:nvSpPr>
          <p:cNvPr id="15" name="Text 12"/>
          <p:cNvSpPr/>
          <p:nvPr/>
        </p:nvSpPr>
        <p:spPr>
          <a:xfrm>
            <a:off x="941189" y="6182558"/>
            <a:ext cx="7261622" cy="972741"/>
          </a:xfrm>
          <a:prstGeom prst="rect">
            <a:avLst/>
          </a:prstGeom>
          <a:noFill/>
          <a:ln/>
        </p:spPr>
        <p:txBody>
          <a:bodyPr wrap="square" lIns="0" tIns="0" rIns="0" bIns="0" rtlCol="0" anchor="t"/>
          <a:lstStyle/>
          <a:p>
            <a:pPr marL="0" indent="0" algn="l">
              <a:lnSpc>
                <a:spcPts val="1500"/>
              </a:lnSpc>
              <a:buNone/>
            </a:pPr>
            <a:r>
              <a:rPr lang="en-US" sz="1150" dirty="0">
                <a:solidFill>
                  <a:srgbClr val="405449"/>
                </a:solidFill>
                <a:latin typeface="Nobile" pitchFamily="34" charset="0"/>
                <a:ea typeface="Nobile" pitchFamily="34" charset="-122"/>
                <a:cs typeface="Nobile" pitchFamily="34" charset="-120"/>
              </a:rPr>
              <a:t>The product is designed specifically for the Indian gig ecosystem, with UPI integration for seamless payments, regional language support for broader accessibility, and low-data mobile optimization for users on budget devices and variable network connections. These local-first features improve trust and usability while ensuring the platform works well in everyday conditions across diverse markets, cities, and worker segments.</a:t>
            </a:r>
            <a:endParaRPr lang="en-US" sz="1150" dirty="0"/>
          </a:p>
        </p:txBody>
      </p:sp>
      <p:pic>
        <p:nvPicPr>
          <p:cNvPr id="19" name="Picture 18">
            <a:extLst>
              <a:ext uri="{FF2B5EF4-FFF2-40B4-BE49-F238E27FC236}">
                <a16:creationId xmlns:a16="http://schemas.microsoft.com/office/drawing/2014/main" id="{7124BF0B-2458-CD56-D800-F98202BE7C03}"/>
              </a:ext>
            </a:extLst>
          </p:cNvPr>
          <p:cNvPicPr>
            <a:picLocks noChangeAspect="1"/>
          </p:cNvPicPr>
          <p:nvPr/>
        </p:nvPicPr>
        <p:blipFill>
          <a:blip r:embed="rId3"/>
          <a:stretch>
            <a:fillRect/>
          </a:stretch>
        </p:blipFill>
        <p:spPr>
          <a:xfrm>
            <a:off x="8445936" y="-5478"/>
            <a:ext cx="6290341" cy="81658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28318"/>
            <a:ext cx="8279249" cy="496133"/>
          </a:xfrm>
          <a:prstGeom prst="rect">
            <a:avLst/>
          </a:prstGeom>
          <a:noFill/>
          <a:ln/>
        </p:spPr>
        <p:txBody>
          <a:bodyPr wrap="none" lIns="0" tIns="0" rIns="0" bIns="0" rtlCol="0" anchor="t"/>
          <a:lstStyle/>
          <a:p>
            <a:pPr marL="0" indent="0" algn="l">
              <a:lnSpc>
                <a:spcPts val="3900"/>
              </a:lnSpc>
              <a:buNone/>
            </a:pPr>
            <a:r>
              <a:rPr lang="en-US" sz="3100" b="1" dirty="0">
                <a:solidFill>
                  <a:srgbClr val="3B4540"/>
                </a:solidFill>
                <a:latin typeface="Fraunces Extra Bold" pitchFamily="34" charset="0"/>
                <a:ea typeface="Fraunces Extra Bold" pitchFamily="34" charset="-122"/>
                <a:cs typeface="Fraunces Extra Bold" pitchFamily="34" charset="-120"/>
              </a:rPr>
              <a:t>Impact: Transforming Financial Stability</a:t>
            </a:r>
            <a:endParaRPr lang="en-US" sz="3100" dirty="0"/>
          </a:p>
        </p:txBody>
      </p:sp>
      <p:sp>
        <p:nvSpPr>
          <p:cNvPr id="3" name="Text 1"/>
          <p:cNvSpPr/>
          <p:nvPr/>
        </p:nvSpPr>
        <p:spPr>
          <a:xfrm>
            <a:off x="1432084" y="1626037"/>
            <a:ext cx="2978468" cy="523875"/>
          </a:xfrm>
          <a:prstGeom prst="rect">
            <a:avLst/>
          </a:prstGeom>
          <a:noFill/>
          <a:ln/>
        </p:spPr>
        <p:txBody>
          <a:bodyPr wrap="none" lIns="0" tIns="0" rIns="0" bIns="0" rtlCol="0" anchor="t"/>
          <a:lstStyle/>
          <a:p>
            <a:pPr marL="0" indent="0" algn="ctr">
              <a:lnSpc>
                <a:spcPts val="4100"/>
              </a:lnSpc>
              <a:buNone/>
            </a:pPr>
            <a:r>
              <a:rPr lang="en-US" sz="4100" b="1" dirty="0">
                <a:solidFill>
                  <a:srgbClr val="405449"/>
                </a:solidFill>
                <a:latin typeface="Fraunces Extra Bold" pitchFamily="34" charset="0"/>
                <a:ea typeface="Fraunces Extra Bold" pitchFamily="34" charset="-122"/>
                <a:cs typeface="Fraunces Extra Bold" pitchFamily="34" charset="-120"/>
              </a:rPr>
              <a:t>12.5M</a:t>
            </a:r>
            <a:endParaRPr lang="en-US" sz="4100" dirty="0"/>
          </a:p>
        </p:txBody>
      </p:sp>
      <p:sp>
        <p:nvSpPr>
          <p:cNvPr id="4" name="Text 2"/>
          <p:cNvSpPr/>
          <p:nvPr/>
        </p:nvSpPr>
        <p:spPr>
          <a:xfrm>
            <a:off x="1928932" y="2312551"/>
            <a:ext cx="1984653" cy="248007"/>
          </a:xfrm>
          <a:prstGeom prst="rect">
            <a:avLst/>
          </a:prstGeom>
          <a:noFill/>
          <a:ln/>
        </p:spPr>
        <p:txBody>
          <a:bodyPr wrap="none" lIns="0" tIns="0" rIns="0" bIns="0" rtlCol="0" anchor="t"/>
          <a:lstStyle/>
          <a:p>
            <a:pPr marL="0" indent="0" algn="ctr">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Workers Protected</a:t>
            </a:r>
            <a:endParaRPr lang="en-US" sz="1550" dirty="0"/>
          </a:p>
        </p:txBody>
      </p:sp>
      <p:sp>
        <p:nvSpPr>
          <p:cNvPr id="5" name="Text 3"/>
          <p:cNvSpPr/>
          <p:nvPr/>
        </p:nvSpPr>
        <p:spPr>
          <a:xfrm>
            <a:off x="793790" y="2627233"/>
            <a:ext cx="4255056" cy="863918"/>
          </a:xfrm>
          <a:prstGeom prst="rect">
            <a:avLst/>
          </a:prstGeom>
          <a:noFill/>
          <a:ln/>
        </p:spPr>
        <p:txBody>
          <a:bodyPr wrap="square" lIns="0" tIns="0" rIns="0" bIns="0" rtlCol="0" anchor="t"/>
          <a:lstStyle/>
          <a:p>
            <a:pPr marL="0" indent="0" algn="ctr">
              <a:lnSpc>
                <a:spcPts val="1700"/>
              </a:lnSpc>
              <a:buNone/>
            </a:pPr>
            <a:r>
              <a:rPr lang="en-US" sz="1250" dirty="0">
                <a:solidFill>
                  <a:srgbClr val="405449"/>
                </a:solidFill>
                <a:latin typeface="Nobile" pitchFamily="34" charset="0"/>
                <a:ea typeface="Nobile" pitchFamily="34" charset="-122"/>
                <a:cs typeface="Nobile" pitchFamily="34" charset="-120"/>
              </a:rPr>
              <a:t>Scalable nationwide coverage across India's gig economy, designed to support delivery partners, drivers, and other independent workers who face irregular earnings and limited traditional safety nets.</a:t>
            </a:r>
            <a:endParaRPr lang="en-US" sz="1250" dirty="0"/>
          </a:p>
        </p:txBody>
      </p:sp>
      <p:sp>
        <p:nvSpPr>
          <p:cNvPr id="6" name="Text 4"/>
          <p:cNvSpPr/>
          <p:nvPr/>
        </p:nvSpPr>
        <p:spPr>
          <a:xfrm>
            <a:off x="5825966" y="1626037"/>
            <a:ext cx="2978468" cy="523875"/>
          </a:xfrm>
          <a:prstGeom prst="rect">
            <a:avLst/>
          </a:prstGeom>
          <a:noFill/>
          <a:ln/>
        </p:spPr>
        <p:txBody>
          <a:bodyPr wrap="none" lIns="0" tIns="0" rIns="0" bIns="0" rtlCol="0" anchor="t"/>
          <a:lstStyle/>
          <a:p>
            <a:pPr marL="0" indent="0" algn="ctr">
              <a:lnSpc>
                <a:spcPts val="4100"/>
              </a:lnSpc>
              <a:buNone/>
            </a:pPr>
            <a:r>
              <a:rPr lang="en-US" sz="4100" b="1" dirty="0">
                <a:solidFill>
                  <a:srgbClr val="405449"/>
                </a:solidFill>
                <a:latin typeface="Fraunces Extra Bold" pitchFamily="34" charset="0"/>
                <a:ea typeface="Fraunces Extra Bold" pitchFamily="34" charset="-122"/>
                <a:cs typeface="Fraunces Extra Bold" pitchFamily="34" charset="-120"/>
              </a:rPr>
              <a:t>90s</a:t>
            </a:r>
            <a:endParaRPr lang="en-US" sz="4100" dirty="0"/>
          </a:p>
        </p:txBody>
      </p:sp>
      <p:sp>
        <p:nvSpPr>
          <p:cNvPr id="7" name="Text 5"/>
          <p:cNvSpPr/>
          <p:nvPr/>
        </p:nvSpPr>
        <p:spPr>
          <a:xfrm>
            <a:off x="6322814" y="2312551"/>
            <a:ext cx="1984653" cy="248007"/>
          </a:xfrm>
          <a:prstGeom prst="rect">
            <a:avLst/>
          </a:prstGeom>
          <a:noFill/>
          <a:ln/>
        </p:spPr>
        <p:txBody>
          <a:bodyPr wrap="none" lIns="0" tIns="0" rIns="0" bIns="0" rtlCol="0" anchor="t"/>
          <a:lstStyle/>
          <a:p>
            <a:pPr marL="0" indent="0" algn="ctr">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Avg. Payout Time</a:t>
            </a:r>
            <a:endParaRPr lang="en-US" sz="1550" dirty="0"/>
          </a:p>
        </p:txBody>
      </p:sp>
      <p:sp>
        <p:nvSpPr>
          <p:cNvPr id="8" name="Text 6"/>
          <p:cNvSpPr/>
          <p:nvPr/>
        </p:nvSpPr>
        <p:spPr>
          <a:xfrm>
            <a:off x="5187672" y="2627233"/>
            <a:ext cx="4255056" cy="863918"/>
          </a:xfrm>
          <a:prstGeom prst="rect">
            <a:avLst/>
          </a:prstGeom>
          <a:noFill/>
          <a:ln/>
        </p:spPr>
        <p:txBody>
          <a:bodyPr wrap="square" lIns="0" tIns="0" rIns="0" bIns="0" rtlCol="0" anchor="t"/>
          <a:lstStyle/>
          <a:p>
            <a:pPr marL="0" indent="0" algn="ctr">
              <a:lnSpc>
                <a:spcPts val="1700"/>
              </a:lnSpc>
              <a:buNone/>
            </a:pPr>
            <a:r>
              <a:rPr lang="en-US" sz="1250" dirty="0">
                <a:solidFill>
                  <a:srgbClr val="405449"/>
                </a:solidFill>
                <a:latin typeface="Nobile" pitchFamily="34" charset="0"/>
                <a:ea typeface="Nobile" pitchFamily="34" charset="-122"/>
                <a:cs typeface="Nobile" pitchFamily="34" charset="-120"/>
              </a:rPr>
              <a:t>From claim to payment in under 90 seconds, helping workers handle urgent expenses such as fuel, repairs, medical needs, or daily household commitments without waiting days for reimbursement.</a:t>
            </a:r>
            <a:endParaRPr lang="en-US" sz="1250" dirty="0"/>
          </a:p>
        </p:txBody>
      </p:sp>
      <p:sp>
        <p:nvSpPr>
          <p:cNvPr id="9" name="Text 7"/>
          <p:cNvSpPr/>
          <p:nvPr/>
        </p:nvSpPr>
        <p:spPr>
          <a:xfrm>
            <a:off x="10219849" y="1626037"/>
            <a:ext cx="2978468" cy="523875"/>
          </a:xfrm>
          <a:prstGeom prst="rect">
            <a:avLst/>
          </a:prstGeom>
          <a:noFill/>
          <a:ln/>
        </p:spPr>
        <p:txBody>
          <a:bodyPr wrap="none" lIns="0" tIns="0" rIns="0" bIns="0" rtlCol="0" anchor="t"/>
          <a:lstStyle/>
          <a:p>
            <a:pPr marL="0" indent="0" algn="ctr">
              <a:lnSpc>
                <a:spcPts val="4100"/>
              </a:lnSpc>
              <a:buNone/>
            </a:pPr>
            <a:r>
              <a:rPr lang="en-US" sz="4100" b="1" dirty="0">
                <a:solidFill>
                  <a:srgbClr val="405449"/>
                </a:solidFill>
                <a:latin typeface="Fraunces Extra Bold" pitchFamily="34" charset="0"/>
                <a:ea typeface="Fraunces Extra Bold" pitchFamily="34" charset="-122"/>
                <a:cs typeface="Fraunces Extra Bold" pitchFamily="34" charset="-120"/>
              </a:rPr>
              <a:t>₹0</a:t>
            </a:r>
            <a:endParaRPr lang="en-US" sz="4100" dirty="0"/>
          </a:p>
        </p:txBody>
      </p:sp>
      <p:sp>
        <p:nvSpPr>
          <p:cNvPr id="10" name="Text 8"/>
          <p:cNvSpPr/>
          <p:nvPr/>
        </p:nvSpPr>
        <p:spPr>
          <a:xfrm>
            <a:off x="10716697" y="2312551"/>
            <a:ext cx="1984653" cy="248007"/>
          </a:xfrm>
          <a:prstGeom prst="rect">
            <a:avLst/>
          </a:prstGeom>
          <a:noFill/>
          <a:ln/>
        </p:spPr>
        <p:txBody>
          <a:bodyPr wrap="none" lIns="0" tIns="0" rIns="0" bIns="0" rtlCol="0" anchor="t"/>
          <a:lstStyle/>
          <a:p>
            <a:pPr marL="0" indent="0" algn="ctr">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Claim Friction</a:t>
            </a:r>
            <a:endParaRPr lang="en-US" sz="1550" dirty="0"/>
          </a:p>
        </p:txBody>
      </p:sp>
      <p:sp>
        <p:nvSpPr>
          <p:cNvPr id="11" name="Text 9"/>
          <p:cNvSpPr/>
          <p:nvPr/>
        </p:nvSpPr>
        <p:spPr>
          <a:xfrm>
            <a:off x="9581555" y="2627233"/>
            <a:ext cx="4255056" cy="863918"/>
          </a:xfrm>
          <a:prstGeom prst="rect">
            <a:avLst/>
          </a:prstGeom>
          <a:noFill/>
          <a:ln/>
        </p:spPr>
        <p:txBody>
          <a:bodyPr wrap="square" lIns="0" tIns="0" rIns="0" bIns="0" rtlCol="0" anchor="t"/>
          <a:lstStyle/>
          <a:p>
            <a:pPr marL="0" indent="0" algn="ctr">
              <a:lnSpc>
                <a:spcPts val="1700"/>
              </a:lnSpc>
              <a:buNone/>
            </a:pPr>
            <a:r>
              <a:rPr lang="en-US" sz="1250" dirty="0">
                <a:solidFill>
                  <a:srgbClr val="405449"/>
                </a:solidFill>
                <a:latin typeface="Nobile" pitchFamily="34" charset="0"/>
                <a:ea typeface="Nobile" pitchFamily="34" charset="-122"/>
                <a:cs typeface="Nobile" pitchFamily="34" charset="-120"/>
              </a:rPr>
              <a:t>Zero paperwork or manual intervention required, which reduces delays, removes administrative complexity, and makes the experience simple enough to use in fast-moving, real-world situations.</a:t>
            </a:r>
            <a:endParaRPr lang="en-US" sz="1250" dirty="0"/>
          </a:p>
        </p:txBody>
      </p:sp>
      <p:sp>
        <p:nvSpPr>
          <p:cNvPr id="12" name="Text 10"/>
          <p:cNvSpPr/>
          <p:nvPr/>
        </p:nvSpPr>
        <p:spPr>
          <a:xfrm>
            <a:off x="793790" y="3727252"/>
            <a:ext cx="2650450"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Reduced Income Volatility</a:t>
            </a:r>
            <a:endParaRPr lang="en-US" sz="1550" dirty="0"/>
          </a:p>
        </p:txBody>
      </p:sp>
      <p:sp>
        <p:nvSpPr>
          <p:cNvPr id="13" name="Text 11"/>
          <p:cNvSpPr/>
          <p:nvPr/>
        </p:nvSpPr>
        <p:spPr>
          <a:xfrm>
            <a:off x="793790" y="4086344"/>
            <a:ext cx="6327815"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Consistent protection against weather disruptions, vehicle breakdowns, platform cancellations, and other unpredictable events helps workers maintain more stable weekly earnings. For example, a rider who loses a day of income due to rain or an unexpected bike issue can still rely on coverage to soften the financial hit and avoid falling behind on essential expenses.</a:t>
            </a:r>
            <a:endParaRPr lang="en-US" sz="1250" dirty="0"/>
          </a:p>
        </p:txBody>
      </p:sp>
      <p:sp>
        <p:nvSpPr>
          <p:cNvPr id="14" name="Text 12"/>
          <p:cNvSpPr/>
          <p:nvPr/>
        </p:nvSpPr>
        <p:spPr>
          <a:xfrm>
            <a:off x="7516416" y="3727252"/>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3B4540"/>
                </a:solidFill>
                <a:latin typeface="Fraunces Extra Bold" pitchFamily="34" charset="0"/>
                <a:ea typeface="Fraunces Extra Bold" pitchFamily="34" charset="-122"/>
                <a:cs typeface="Fraunces Extra Bold" pitchFamily="34" charset="-120"/>
              </a:rPr>
              <a:t>Financial Security</a:t>
            </a:r>
            <a:endParaRPr lang="en-US" sz="1550" dirty="0"/>
          </a:p>
        </p:txBody>
      </p:sp>
      <p:sp>
        <p:nvSpPr>
          <p:cNvPr id="15" name="Text 13"/>
          <p:cNvSpPr/>
          <p:nvPr/>
        </p:nvSpPr>
        <p:spPr>
          <a:xfrm>
            <a:off x="7516416" y="4086344"/>
            <a:ext cx="6327815" cy="1079897"/>
          </a:xfrm>
          <a:prstGeom prst="rect">
            <a:avLst/>
          </a:prstGeom>
          <a:noFill/>
          <a:ln/>
        </p:spPr>
        <p:txBody>
          <a:bodyPr wrap="square" lIns="0" tIns="0" rIns="0" bIns="0" rtlCol="0" anchor="t"/>
          <a:lstStyle/>
          <a:p>
            <a:pPr marL="0" indent="0" algn="l">
              <a:lnSpc>
                <a:spcPts val="1700"/>
              </a:lnSpc>
              <a:buNone/>
            </a:pPr>
            <a:r>
              <a:rPr lang="en-US" sz="1250" dirty="0">
                <a:solidFill>
                  <a:srgbClr val="405449"/>
                </a:solidFill>
                <a:latin typeface="Nobile" pitchFamily="34" charset="0"/>
                <a:ea typeface="Nobile" pitchFamily="34" charset="-122"/>
                <a:cs typeface="Nobile" pitchFamily="34" charset="-120"/>
              </a:rPr>
              <a:t>Workers gain confidence to accept high-risk shifts knowing income is protected, which can improve earning potential by 15-20% and encourage more flexible work decisions. This added security can also reduce stress, support better planning, and make it easier to manage savings, family obligations, and short-term cash flow needs.</a:t>
            </a:r>
            <a:endParaRPr lang="en-US" sz="1250" dirty="0"/>
          </a:p>
        </p:txBody>
      </p:sp>
      <p:sp>
        <p:nvSpPr>
          <p:cNvPr id="16" name="Shape 14"/>
          <p:cNvSpPr/>
          <p:nvPr/>
        </p:nvSpPr>
        <p:spPr>
          <a:xfrm>
            <a:off x="793790" y="5430917"/>
            <a:ext cx="13042821" cy="11906"/>
          </a:xfrm>
          <a:prstGeom prst="rect">
            <a:avLst/>
          </a:prstGeom>
          <a:solidFill>
            <a:srgbClr val="405449">
              <a:alpha val="50000"/>
            </a:srgbClr>
          </a:solidFill>
          <a:ln/>
        </p:spPr>
      </p:sp>
      <p:sp>
        <p:nvSpPr>
          <p:cNvPr id="17" name="Text 15"/>
          <p:cNvSpPr/>
          <p:nvPr/>
        </p:nvSpPr>
        <p:spPr>
          <a:xfrm>
            <a:off x="793790" y="5649158"/>
            <a:ext cx="13042821" cy="1369457"/>
          </a:xfrm>
          <a:prstGeom prst="rect">
            <a:avLst/>
          </a:prstGeom>
          <a:noFill/>
          <a:ln/>
        </p:spPr>
        <p:txBody>
          <a:bodyPr wrap="square" lIns="0" tIns="0" rIns="0" bIns="0" rtlCol="0" anchor="t"/>
          <a:lstStyle/>
          <a:p>
            <a:pPr marL="0" indent="0" algn="l">
              <a:lnSpc>
                <a:spcPts val="5350"/>
              </a:lnSpc>
              <a:buNone/>
            </a:pPr>
            <a:r>
              <a:rPr lang="en-US" sz="4300" b="1" dirty="0">
                <a:solidFill>
                  <a:srgbClr val="3B4540"/>
                </a:solidFill>
                <a:latin typeface="Fraunces Extra Bold" pitchFamily="34" charset="0"/>
                <a:ea typeface="Fraunces Extra Bold" pitchFamily="34" charset="-122"/>
                <a:cs typeface="Fraunces Extra Bold" pitchFamily="34" charset="-120"/>
              </a:rPr>
              <a:t>Hustlr is not just insurance. It's income security.</a:t>
            </a:r>
            <a:endParaRPr lang="en-US" sz="4300" dirty="0"/>
          </a:p>
        </p:txBody>
      </p:sp>
      <p:sp>
        <p:nvSpPr>
          <p:cNvPr id="18" name="Text 16"/>
          <p:cNvSpPr/>
          <p:nvPr/>
        </p:nvSpPr>
        <p:spPr>
          <a:xfrm>
            <a:off x="793790" y="7185303"/>
            <a:ext cx="13042821" cy="215979"/>
          </a:xfrm>
          <a:prstGeom prst="rect">
            <a:avLst/>
          </a:prstGeom>
          <a:noFill/>
          <a:ln/>
        </p:spPr>
        <p:txBody>
          <a:bodyPr wrap="none" lIns="0" tIns="0" rIns="0" bIns="0" rtlCol="0" anchor="t"/>
          <a:lstStyle/>
          <a:p>
            <a:pPr marL="0" indent="0" algn="l">
              <a:lnSpc>
                <a:spcPts val="1700"/>
              </a:lnSpc>
              <a:buNone/>
            </a:pPr>
            <a:r>
              <a:rPr lang="en-US" sz="1250" b="1" dirty="0">
                <a:solidFill>
                  <a:srgbClr val="405449"/>
                </a:solidFill>
                <a:latin typeface="Nobile" pitchFamily="34" charset="0"/>
                <a:ea typeface="Nobile" pitchFamily="34" charset="-122"/>
                <a:cs typeface="Nobile" pitchFamily="34" charset="-120"/>
              </a:rPr>
              <a:t>Team Code Crafters</a:t>
            </a:r>
            <a:r>
              <a:rPr lang="en-US" sz="1250" dirty="0">
                <a:solidFill>
                  <a:srgbClr val="405449"/>
                </a:solidFill>
                <a:latin typeface="Nobile" pitchFamily="34" charset="0"/>
                <a:ea typeface="Nobile" pitchFamily="34" charset="-122"/>
                <a:cs typeface="Nobile" pitchFamily="34" charset="-120"/>
              </a:rPr>
              <a:t> | Thank You</a:t>
            </a:r>
            <a:endParaRPr lang="en-US" sz="1250" dirty="0"/>
          </a:p>
        </p:txBody>
      </p:sp>
      <p:sp>
        <p:nvSpPr>
          <p:cNvPr id="19" name="Rectangle 18">
            <a:extLst>
              <a:ext uri="{FF2B5EF4-FFF2-40B4-BE49-F238E27FC236}">
                <a16:creationId xmlns:a16="http://schemas.microsoft.com/office/drawing/2014/main" id="{822C4E44-F2AD-9E49-7483-5F02D1FE8404}"/>
              </a:ext>
            </a:extLst>
          </p:cNvPr>
          <p:cNvSpPr/>
          <p:nvPr/>
        </p:nvSpPr>
        <p:spPr>
          <a:xfrm>
            <a:off x="12756995" y="7705493"/>
            <a:ext cx="1784195" cy="4049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TotalTime>
  <Words>4685</Words>
  <Application>Microsoft Office PowerPoint</Application>
  <PresentationFormat>Custom</PresentationFormat>
  <Paragraphs>351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-apple-system, BlinkMacSystemFont, Segoe UI, Roboto, Helvetica Neue, Arial, sans-serif Medium</vt:lpstr>
      <vt:lpstr>Arial</vt:lpstr>
      <vt:lpstr>Nobile</vt:lpstr>
      <vt:lpstr>Fraunces Extra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Prisha</dc:creator>
  <cp:lastModifiedBy>Krish aga</cp:lastModifiedBy>
  <cp:revision>31</cp:revision>
  <dcterms:created xsi:type="dcterms:W3CDTF">2026-04-17T12:49:08Z</dcterms:created>
  <dcterms:modified xsi:type="dcterms:W3CDTF">2026-04-17T19:15:12Z</dcterms:modified>
</cp:coreProperties>
</file>